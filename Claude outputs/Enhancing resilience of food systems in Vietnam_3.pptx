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82" r:id="rId3"/>
    <p:sldId id="283" r:id="rId4"/>
    <p:sldId id="292" r:id="rId5"/>
    <p:sldId id="281" r:id="rId6"/>
    <p:sldId id="2147478061" r:id="rId19"/>
    <p:sldId id="2147478062" r:id="rId20"/>
    <p:sldId id="2147478059" r:id="rId10"/>
    <p:sldId id="288" r:id="rId11"/>
    <p:sldId id="2147478060" r:id="rId12"/>
    <p:sldId id="29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572" y="4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84D276-C94A-44F8-BE02-78E6DE7175CB}"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114F9D-2F10-4DE6-BB03-015E6867A97A}" type="slidenum">
              <a:rPr lang="en-US" smtClean="0"/>
              <a:t>‹#›</a:t>
            </a:fld>
            <a:endParaRPr lang="en-US"/>
          </a:p>
        </p:txBody>
      </p:sp>
    </p:spTree>
    <p:extLst>
      <p:ext uri="{BB962C8B-B14F-4D97-AF65-F5344CB8AC3E}">
        <p14:creationId xmlns:p14="http://schemas.microsoft.com/office/powerpoint/2010/main" val="2962106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Food system resilience (Tendall et al., 2015, Global Food Security 6, p. 19): "capacity over time of a food system and its units at multiple levels, to provide sufficient, appropriate and accessible food to all, in the face of various and even unforeseen disturbances".</a:t>
            </a:r>
          </a:p>
          <a:p>
            <a:r>
              <a:t>FAO (2021, State of Food and Agriculture, p. 6) uses almost the same wording for agrifood systems and adds the livelihoods of the actors in them.</a:t>
            </a:r>
          </a:p>
          <a:p>
            <a:r>
              <a:t>Actor view: the ability of individual and institutional actors to "maintain, protect, or successfully recover the key functions" of the food system despite shocks (Béné et al., 2023, p. 1438).</a:t>
            </a:r>
          </a:p>
          <a:p>
            <a:r>
              <a:t>A resilient food system can: resist and absorb shocks (robustness, buffers, redundancy); adapt and recover (adjust practices, markets and policies; bounce back); and transform when the old system is untenable, to "bounce forward" in equitable ways (HLPE, 2025).</a:t>
            </a:r>
          </a:p>
          <a:p>
            <a:r>
              <a:t>Resilience is not the same as sustainability: sustainability is about keeping the system going in the long run; resilience is about coping with disturbances along the way. The newer HLPE framing asks resilience to reduce inequality, not just restore the pre-shock state.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Resilience of what? Rice-based national food security and exports; smallholder and household livelihoods; diets and nutrition; territorial food systems (Mekong Delta, northern uplands).</a:t>
            </a:r>
          </a:p>
          <a:p>
            <a:r>
              <a:t>Resilience to what? Climate: typhoons (Yagi, 2024), floods, drought, salinity intrusion in the Mekong Delta. Markets: rice and input price shocks (2007-08). Pandemics: COVID-19 (2020-21). Long-term stresses: land degradation, urbanisation, the nutrition transition.</a:t>
            </a:r>
          </a:p>
          <a:p>
            <a:r>
              <a:t>For whom? Smallholders, ethnic minority and mountain communities, low-income urban households, women, workers along the value chain.</a:t>
            </a:r>
          </a:p>
          <a:p>
            <a:r>
              <a:t>Evidence from Viet Nam:</a:t>
            </a:r>
          </a:p>
          <a:p>
            <a:r>
              <a:t>- Price and income shocks push poor households towards rice at the expense of diverse diets (Hoang, 2018).</a:t>
            </a:r>
          </a:p>
          <a:p>
            <a:r>
              <a:t>- Mekong Delta farming systems facing salinity: recovery depends on credit, off-farm income and fresh water; rice-oriented policy makes it harder to switch systems (Nguyen et al., 2019).</a:t>
            </a:r>
          </a:p>
          <a:p>
            <a:r>
              <a:t>- Moc Chau (Son La) under COVID-19: diverse food sources, decentralised flows and low reliance on external inputs kept the local food system working (Bruckert &amp; Nguyen, 2024).</a:t>
            </a:r>
          </a:p>
          <a:p>
            <a:r>
              <a:t>- 2007-08 rice crisis: export restrictions, Viet Nam's among them, helped turn an adequately supplied market into a price spike (Dawe &amp; Slayton, 2011).</a:t>
            </a:r>
          </a:p>
          <a:p>
            <a:r>
              <a:t>Key message: diversity, finance and sound policy decide who copes. Most evidence is household- or farming-system-level; there is no national resilience assessment for Viet Nam yet.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Seven generic principles for enhancing resilience (Biggs et al., 2012, Annual Review of Environment and Resources 37): (P1) maintain diversity and redundancy, (P2) manage connectivity, (P3) manage slow variables and feedbacks, (P4) foster an understanding of social-ecological systems as complex adaptive systems, (P5) encourage learning and experimentation, (P6) broaden participation, (P7) promote polycentric governance. On the slide, P4 and P5 are combined. The principles often co-occur and depend on each other.</a:t>
            </a:r>
          </a:p>
          <a:p>
            <a:r>
              <a:t>Viet Nam examples (critical reading):</a:t>
            </a:r>
          </a:p>
          <a:p>
            <a:r>
              <a:t>1. Diversity and redundancy (+): in Moc Chau (Son La), diverse food sources, decentralised flows and low reliance on external inputs kept the local food system working during COVID-19 (Bruckert &amp; Nguyen, 2024). Hertel et al. (2021) call diversification the most fundamental lever.</a:t>
            </a:r>
          </a:p>
          <a:p>
            <a:r>
              <a:t>2. Connectivity (-): connectivity can spread or dampen shocks. In 2007-08, export restrictions by major exporters, Viet Nam among them, helped turn an adequately supplied rice market into a price spike (Dawe &amp; Slayton, 2011).</a:t>
            </a:r>
          </a:p>
          <a:p>
            <a:r>
              <a:t>3. Slow variables (-): in the coastal Mekong Delta, rising salinity is a slow stress; farmers' recovery depends on credit, off-farm income and fresh water, and rice-oriented policy makes it harder to change systems (Nguyen et al., 2019). Land degradation in Moc Chau is another slow variable.</a:t>
            </a:r>
          </a:p>
          <a:p>
            <a:r>
              <a:t>4. Learning and experimentation (+, with a caveat): Farmer Field Schools, introduced in Viet Nam in 1992, built farmers' agroecological knowledge, critical skills and collective action; farmers learned to make informed decisions and manage their farms independently. Despite convincing impact at farmer level, the model was not widely mainstreamed into the extension system (van de Fliert et al., 2007).</a:t>
            </a:r>
          </a:p>
          <a:p>
            <a:r>
              <a:t>5. Participation (-): in Ca Mau, shrimp-mangrove and fisheries policies aimed at social-ecological resilience did not necessarily raise households' social and economic resilience; control and enforcement alone are not enough (Tran, 2012).</a:t>
            </a:r>
          </a:p>
          <a:p>
            <a:r>
              <a:t>6. Polycentric governance (+): Participatory Guarantee Systems (PGS) share the guarantee of organic produce among farmer groups, consumers, traders and local authorities. In PGS cabbage-growing households in the Red River Delta, social safety nets (notably local farmer groups and organisations), assets and access to basic services were the three most important pillars of resilience, and more resilient households were more profitable (Thi et al., 2026).</a:t>
            </a:r>
          </a:p>
          <a:p>
            <a:r>
              <a:t>Key message: the principles help, but they can pull against each other (e.g. trade connectivity vs self-sufficiency), so trade-offs have to be negotiated (Zurek et al., 2022).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1" name="Google Shape;461;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Có thể bỏ slide này vì nó thuộc cấp quốc gia</a:t>
            </a:r>
          </a:p>
          <a:p>
            <a:endParaRPr/>
          </a:p>
          <a:p>
            <a:r>
              <a:t>Speaker points: the shift is from sector-by-sector plans (output and economic value) to one coordinated, cross-ministry plan with measurable targets. Key steps: UNFSS national dialogues (2021) led by MARD, NIN and VAAS produced the National Pathway; Strategy for Sustainable Agriculture and Rural Development 2021-2030 (Decision 150/QD-TTg, 2022); Resolution 19-NQ/TW (2022); NAP-FST (Decision 300/QD-TTg, 28 March 2023). Later: Ministry of Health implementation plan 546/KH-BYT; COP28 Emirates Declaration on Resilient Food Systems; FST-Partnership endorsed (Letter 6483/VPCP-QHQT); MARD and MONRE merged into MAE (2025); NAP-FST mid-term report due 2026.</a:t>
            </a:r>
          </a:p>
        </p:txBody>
      </p:sp>
      <p:sp>
        <p:nvSpPr>
          <p:cNvPr id="462" name="Google Shape;462;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120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a:t>
            </a:fld>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866308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Sub-national pilots (translated from the Vietnamese slide): pilots in Son La and Dong Thap. The Food Systems Transformation Decision Support process (FSDS) in Son La:</a:t>
            </a:r>
          </a:p>
          <a:p>
            <a:r>
              <a:t>2024: kick-off meeting and set-up of the provincial technical working group (June 2024); training on food systems (Sept 2024); food system profile (Oct-Nov 2024); identifying priority food system issues (Nov 2024); sharing lessons among partners.</a:t>
            </a:r>
          </a:p>
          <a:p>
            <a:r>
              <a:t>2025-2026: support for the provincial implementation plan (Jan-Jul 2025); support for a multi-sector investment plan (Sept 2025 - Jul 2026); documenting the process (Jan-Dec 2026).</a:t>
            </a:r>
          </a:p>
          <a:p>
            <a:r>
              <a:t>Result: Son La's provincial plan for food systems transformation was issued as Plan 161/KH-UBND on 29 July 2025, implementing Decision 300/QD-TTg.</a:t>
            </a:r>
          </a:p>
          <a:p>
            <a:r>
              <a:t>Leverage points for resilience:</a:t>
            </a:r>
          </a:p>
          <a:p>
            <a:r>
              <a:t>- Agroecology: diverse farms with fewer purchased inputs and healthier soils are less exposed to input-price and climate shocks. In Moc Chau (Son La), diverse food sources, decentralised flows and low reliance on external inputs kept the local food system working during COVID-19 (Bruckert &amp; Nguyen, 2024). Son La links agroecology with tourism.</a:t>
            </a:r>
          </a:p>
          <a:p>
            <a:r>
              <a:t>- Healthy diets: after price and income shocks, poor households shift to rice at the expense of other foods (Hoang, 2018). Demand for diverse local foods supports diverse production, and nutrition-sensitive programmes (an NAP-FST task for mountainous and ethnic minority areas) protect the most vulnerable. NAP-FST 2030 targets: stunting below 15%, overweight and obesity below 20% in adults.</a:t>
            </a:r>
          </a:p>
          <a:p>
            <a:r>
              <a:t>Speaker point: provinces are where resilience is built, because shocks are local; agroecology and healthy diets give provinces concrete entry points that serve both transformation and resilience.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FST-Partnership: a government-endorsed platform (Letter 6483/VPCP-QHQT) chaired by MAE, signed by 3 ministries and 30 partners; it now engages 51 partners (MAE overview of NAP-FST implementation; earlier counts: UNDP 47 in June 2025, Alliance report 49+). Members include government, UN agencies (FAO, UNDP and others), development partners, research organisations (CGIAR and others), NGOs and businesses. Focus: strategic partnerships, finance for agriculture, knowledge and capacity building, and 5 technical working groups.</a:t>
            </a:r>
          </a:p>
          <a:p>
            <a:r>
              <a:t>ALiSEA (Agroecology Learning Alliance in South East Asia): a regional agroecology network in Cambodia, Laos, Myanmar, Thailand and Viet Nam with about 200 members (NGOs, farmer organisations, research, private sector and government). It works on knowledge sharing, awareness, policy dialogue, capacity building and small grants, and links agroecology practice with policy, including the consultation on ASEAN guidelines on agroecology policy (Nov 2025) [check the guideline's name].</a:t>
            </a:r>
          </a:p>
          <a:p>
            <a:r>
              <a:t>Why platforms matter for resilience: they connect sectors that otherwise work separately (agriculture, health, trade, environment), share early information, pool resources and coordinate responses when shocks hit. Platforms are part of the social infrastructure of resilience: connectivity, trust and coordination.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Priority directions for the coming period, and why each builds resilience:</a:t>
            </a:r>
          </a:p>
          <a:p>
            <a:r>
              <a:t>1. Production: sustainable, resilient and low-emission. Emission reduction projects in crop production; the sustainable development project of one million hectares of high-quality, low-emission rice in the Mekong Delta; promoting agroecology and circular agriculture, nature-based solutions and green agriculture. Resilience: diversity and healthier soils reduce exposure to climate and input-price shocks.</a:t>
            </a:r>
          </a:p>
          <a:p>
            <a:r>
              <a:t>2. Food safety and hygiene (reviewing regulations on product standards, quality, traceability, information dissemination); sustainable and responsible consumption; reducing food loss and waste. Resilience: trust and information keep markets working in a crisis; less loss and waste means a larger buffer.</a:t>
            </a:r>
          </a:p>
          <a:p>
            <a:r>
              <a:t>3. Disaster risk prevention and mitigation: monitoring, forecasting, response measures, risk-sharing mechanisms and insurance. Resilience: absorb shocks and recover faster.</a:t>
            </a:r>
          </a:p>
          <a:p>
            <a:r>
              <a:t>4. Science, technology and digital transformation: priority to breeding and hybridisation, high technology in livestock farming, processing and product preservation; digital transformation across the whole agricultural value chain; databases. Resilience: adapted varieties, early warning and traceability.</a:t>
            </a:r>
          </a:p>
          <a:p>
            <a:r>
              <a:t>Cross-cutting, to make resilience explicit: add resilience indicators to NAP-FST M&amp;E and the 2026 mid-term review; assess resilience nationally and by province (shocks, vulnerable groups, critical points such as wholesale markets and storage); protect the most vulnerable (shock-responsive social protection, food reserves, nutrition programmes in mountain and ethnic minority areas); fund local implementation (provincial budgets, climate and private finance); use the FST-Partnership and ALiSEA to coordinate during shocks. Aim to bounce forward: recovery should lead to fairer, greener food systems, not a return to the old ones.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Acknowledgements: add partners, funders and logos here.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Transparency: traceability, production area codes, labelling, food balance sheets and data. Better information supports early warning and quicker, fairer responses to shocks.</a:t>
            </a:r>
          </a:p>
          <a:p>
            <a:r>
              <a:t>Responsibility: every actor has a role: input suppliers, farmers, processors, distributors, consumers and the state. Shared responsibility spreads risk and protects the most vulnerable.</a:t>
            </a:r>
          </a:p>
          <a:p>
            <a:r>
              <a:t>Sustainability: agroecology, low emissions, efficient use of land and water, less food loss and waste. A healthier resource base lowers long-term stress and widens adaptation options.</a:t>
            </a:r>
          </a:p>
          <a:p>
            <a:r>
              <a:t>Explicit link in the plan: one NAP-FST viewpoint ties food system transformation to "resilience to shocks", alongside agroecology, competitiveness and the reputation of Vietnamese products (Decision 300/QD-TTg, 28 March 2023).</a:t>
            </a:r>
          </a:p>
          <a:p>
            <a:r>
              <a:t>Overall objective: food and nutrition security, better incomes and quality of life, disaster and epidemic prevention, climate adaptation, and the SDGs by 2030.</a:t>
            </a:r>
          </a:p>
          <a:p>
            <a:r>
              <a:t>Speaker point: the three principles map onto the resilience capacities on slide 1: information and buffers help a system resist; shared responsibility helps it recover; sustainability helps it adapt and transform.</a:t>
            </a:r>
          </a:p>
          <a:p/>
          <a:p>
            <a:r>
              <a:t>NAP-FST task areas and the resilience capacity they build:</a:t>
            </a:r>
          </a:p>
          <a:p>
            <a:r>
              <a:t>- Policies and standards: agroecology and low-emission policy; planning by ecological zone; PPPs for logistics and cold chains; M&amp;E indicators (adaptive, transformative).</a:t>
            </a:r>
          </a:p>
          <a:p>
            <a:r>
              <a:t>- Input supply: climate-tolerant varieties; organic fertiliser and bio-pesticides; wholesale markets as logistics hubs (absorptive, adaptive).</a:t>
            </a:r>
          </a:p>
          <a:p>
            <a:r>
              <a:t>- Production: digital weather, pest and market warnings down to commune level; agroecological protocols; nutrition-sensitive agriculture in mountain and ethnic minority areas; One Health; risk management and agricultural insurance (absorptive, adaptive).</a:t>
            </a:r>
          </a:p>
          <a:p>
            <a:r>
              <a:t>- Processing and distribution: storage to buffer supply disruptions, prioritising the poor; stable supply chains; food loss and waste reduction; e-commerce (absorptive: redundancy and buffers).</a:t>
            </a:r>
          </a:p>
          <a:p>
            <a:r>
              <a:t>- Consumption: national and provincial food balance sheets; a pilot food bank; healthy and responsible consumption (absorptive; protects outcomes).</a:t>
            </a:r>
          </a:p>
          <a:p>
            <a:r>
              <a:t>2030 targets that matter for resilience: severe or moderate household food insecurity below 5%; stunting below 15%; post-harvest losses down 0.5-1% a year; GAP or equivalent above 30% of output; food system GHG emissions down 10% from 2020.</a:t>
            </a:r>
          </a:p>
          <a:p>
            <a:r>
              <a:t>Speaker point: many NAP-FST tasks are in effect resilience measures even though they are not labelled that way. Making the resilience lens explicit would help set priorities and design monitoring.</a:t>
            </a:r>
          </a:p>
          <a:p>
            <a:r>
              <a:t>Source: Decision 300/QD-TTg (2023), Section III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National implementation of NAP-FST (translated and combined from the Vietnamese slides on institutions and policies, and on M&amp;E and resource mobilisation).</a:t>
            </a:r>
          </a:p>
          <a:p>
            <a:r>
              <a:t>Institutions and policies: Decision 300/QD-TTg (28 March 2023) approved the National Action Plan. Ministry of Agriculture and Environment (MAE): Decision 4812/QD-BNN-HTQT (13 Nov 2023) assigning NAP-FST tasks; the Partnership Agreement on transparent, responsible and sustainable food systems transformation (FST-Partnership) with ministries, local authorities and 51 partners. Ministry of Health: Plan 546/KH-BYT (25 April 2023) implementing Decision 300 within the health sector; Official Letter 6720/BYT (19 Oct 2023) assigning tasks. Provinces: develop plans to implement Decision 300 and integrate its content and tasks into provincial plans and programmes.</a:t>
            </a:r>
          </a:p>
          <a:p>
            <a:r>
              <a:t>M&amp;E and resources: M&amp;E indicator set for the Plan completed (2023-2024); 5 inter-sectoral technical working groups set up (2025): (i) policy and institutions, (ii) agroecology, (iii) food loss and waste, (iv) nutrition and local food diversification, (v) responsible distribution and consumption; draft detailed implementation plan (FST-PIP, 2025: 37 tasks); multi-stakeholder resource mobilisation and technical support.</a:t>
            </a:r>
          </a:p>
          <a:p>
            <a:r>
              <a:t>Sharing and dialogue: active participation in global forums (FAST partnership; the coalition of pioneer countries for food systems transformation; COP28, COP29); national dialogues to spread successful models of agroecology, nutrition improvement and climate adaptation.</a:t>
            </a:r>
          </a:p>
          <a:p>
            <a:r>
              <a:t>2026 priorities (from the earlier timeline slide): strengthen capacity at central and local levels (training, M&amp;E); support two pilot provinces (Son La with ADB, Dong Thap with VN Adapt); mobilise resources; stocktaking by FS partners; develop an implementation programme; mid-term report.</a:t>
            </a:r>
          </a:p>
          <a:p>
            <a:r>
              <a:t>How this builds resilience: clear mandates and cross-ministry coordination mean faster, joined-up responses when shocks hit; M&amp;E gives early signals and lessons; partnerships pool finance, data and expertise; working groups on agroecology, nutrition and food loss target the buffers that protect food security.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B7C40-0BDA-D5AA-4A37-02EACF1A9E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A4E1B8-C092-7A2C-82E8-0419E568A8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310C67-94B9-CD91-7148-609CE369B27D}"/>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51FFC0D7-68A5-52B7-B033-2D246210C6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9EF500-5BDB-2D11-A60B-C5B08774D444}"/>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984632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684C9-5F78-1B79-8DC2-298696A485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D14A06-3E72-C22C-CFA5-90307B4374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02849C-4C2E-F57A-C9A0-019FB6A0309A}"/>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D6B5CB86-CE34-7FF0-3C02-98EC0E88F2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20AB2-5A50-82BD-6E82-2B0D972466A8}"/>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654595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A84BF-643A-7613-96C7-021A59D94A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54BD32-7381-7129-5035-D831EF6A4B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903F0F-960F-B77F-8AA8-69EDC6D3AA96}"/>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6FD4D64C-5441-42F7-9256-23CF28EB3A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607B9F-F88F-F76C-00AC-C1999EA7FB24}"/>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932485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80CB7-18DB-4277-F3D1-FFCA28CB1C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2CED36-221B-4B34-9848-0FB45FDFEC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3F2FCC-074F-3049-C12D-7E59D379E6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9F1FF9-D86B-2CEE-344E-F96F386B26C3}"/>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9DC49BFE-5737-12D0-696C-8FFE555527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0790AB-1934-275C-EBA9-5DBFDB9FE529}"/>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696738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184A1-7389-724D-1B98-057BE4FF0C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84722D-9FE1-20DE-B30A-4950BBCC21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A8A573-4098-A051-757D-72944BF53E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875AE9-8D92-DAD8-B020-9AC2F6A9E6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5BD6AC-79C9-B994-BAC0-726C04DD47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3EC534-1190-B8C3-D3F0-90A06588EC72}"/>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8" name="Footer Placeholder 7">
            <a:extLst>
              <a:ext uri="{FF2B5EF4-FFF2-40B4-BE49-F238E27FC236}">
                <a16:creationId xmlns:a16="http://schemas.microsoft.com/office/drawing/2014/main" id="{167FE51A-3249-20C0-1200-3390D9FF75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51E403-974E-4061-4134-F6C0D63B0A3A}"/>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711510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48CF9-E3E5-DD60-6EB7-87E01B2A85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5D3683-79EE-0031-A210-2340CC3A8EE8}"/>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4" name="Footer Placeholder 3">
            <a:extLst>
              <a:ext uri="{FF2B5EF4-FFF2-40B4-BE49-F238E27FC236}">
                <a16:creationId xmlns:a16="http://schemas.microsoft.com/office/drawing/2014/main" id="{036FAAF9-DA40-B04D-9806-1957C08054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F2A758-EABD-0357-90D7-5F41B6237210}"/>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412624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8C560B-172C-5B9E-046E-E9D63201C18E}"/>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3" name="Footer Placeholder 2">
            <a:extLst>
              <a:ext uri="{FF2B5EF4-FFF2-40B4-BE49-F238E27FC236}">
                <a16:creationId xmlns:a16="http://schemas.microsoft.com/office/drawing/2014/main" id="{84AAB0EF-749E-711C-70E0-159CE3BC37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D0E609-724C-CE07-FA98-E51FF880D360}"/>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486860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23C9C-CA57-CA85-9DE5-A715ADDA21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32E8E5-CB5F-DDC8-FB8D-1CE3E8C35A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53C302-E5AB-0B02-920B-8028CEBB2F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5F292C-870A-9DD2-DA87-B72AA51A8654}"/>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1BC35805-A939-E8DA-EB49-5B5CA37856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782684-6251-EFDC-DC0E-63ABFD4654AF}"/>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233798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A6BFC-23E6-1B78-39FF-8F8518C34F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27E20E-A3D6-DB88-6848-C51C8467BDC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9A9A51-CB16-3314-6620-4EBF6A7ABA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6712F1-8F94-EA14-8D55-A5E78077B895}"/>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9F7CED17-935D-9979-10A9-8484E7F104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BFEC7E-917D-FF79-D3A1-5D3A8BDBB076}"/>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836759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28312-7568-C929-0929-A56AE6DC3B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7C7D2E-23C0-A7E7-A796-13CFAFB58C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FBB5C5-3194-2678-FD28-9B1B86666494}"/>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51B27CEC-790A-1577-A1B8-60A9BB826F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795F10-9B0E-395A-291C-409CE55DC90D}"/>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298457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C48C01-9C69-4F0A-6627-9CE9B4060D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C629E9-5C87-428D-9FEB-E5CA02E20E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E158C1-90BC-A955-E48D-DC6B8344D3DB}"/>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85BF66E7-8143-065C-239A-9D4A6C3FAB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962C1E-826D-6967-A23D-0BF676E9B1E5}"/>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13725028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682A0B-F113-4F62-35B9-1573D29FB8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B8C253-E168-BB55-02FF-A5D91417E9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733770-2DDE-65C7-9E6A-C07BC802CD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0848788F-D34E-0B9D-860A-532855D8DE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BDB8320-C542-35BA-CCD8-AF2CFF4962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9CFAE9-7595-495E-A841-5DE47D2FD18E}" type="slidenum">
              <a:rPr lang="en-US" smtClean="0"/>
              <a:t>‹#›</a:t>
            </a:fld>
            <a:endParaRPr lang="en-US"/>
          </a:p>
        </p:txBody>
      </p:sp>
    </p:spTree>
    <p:extLst>
      <p:ext uri="{BB962C8B-B14F-4D97-AF65-F5344CB8AC3E}">
        <p14:creationId xmlns:p14="http://schemas.microsoft.com/office/powerpoint/2010/main" val="1293835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10.jpeg"/><Relationship Id="rId5"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b="1" i="1">
              <a:solidFill>
                <a:srgbClr val="D6E8EE"/>
              </a:solidFill>
              <a:latin typeface="Calibri"/>
            </a:endParaRPr>
          </a:p>
        </p:txBody>
      </p:sp>
      <p:sp>
        <p:nvSpPr>
          <p:cNvPr id="3" name="Title"/>
          <p:cNvSpPr txBox="1"/>
          <p:nvPr/>
        </p:nvSpPr>
        <p:spPr>
          <a:xfrm>
            <a:off x="792904" y="1552235"/>
            <a:ext cx="6766560" cy="1354217"/>
          </a:xfrm>
          <a:prstGeom prst="rect">
            <a:avLst/>
          </a:prstGeom>
          <a:noFill/>
        </p:spPr>
        <p:txBody>
          <a:bodyPr wrap="square" lIns="0" tIns="0" rIns="0" bIns="0" anchor="t">
            <a:spAutoFit/>
          </a:bodyPr>
          <a:lstStyle/>
          <a:p>
            <a:pPr algn="l"/>
            <a:r>
              <a:rPr sz="4400" b="1" i="0">
                <a:latin typeface="Calibri"/>
              </a:rPr>
              <a:t>Enhancing resilience of food systems in Viet Nam</a:t>
            </a:r>
          </a:p>
        </p:txBody>
      </p:sp>
      <p:sp>
        <p:nvSpPr>
          <p:cNvPr id="4" name="Subtitle"/>
          <p:cNvSpPr txBox="1"/>
          <p:nvPr/>
        </p:nvSpPr>
        <p:spPr>
          <a:xfrm>
            <a:off x="792904" y="3212192"/>
            <a:ext cx="6766560" cy="2708434"/>
          </a:xfrm>
          <a:prstGeom prst="rect">
            <a:avLst/>
          </a:prstGeom>
          <a:noFill/>
        </p:spPr>
        <p:txBody>
          <a:bodyPr wrap="square" lIns="0" tIns="0" rIns="0" bIns="0" anchor="t">
            <a:spAutoFit/>
          </a:bodyPr>
          <a:lstStyle/>
          <a:p>
            <a:pPr algn="l"/>
            <a:r>
              <a:rPr lang="en-US" sz="2000" b="0" i="1">
                <a:latin typeface="Calibri"/>
              </a:rPr>
              <a:t>How implementing </a:t>
            </a:r>
            <a:r>
              <a:rPr sz="2000" b="0" i="1">
                <a:latin typeface="Calibri"/>
              </a:rPr>
              <a:t>the National Action Plan on Food Systems Transformation (NAP-FST)</a:t>
            </a:r>
            <a:r>
              <a:rPr lang="en-US" sz="2000" b="0" i="1">
                <a:latin typeface="Calibri"/>
              </a:rPr>
              <a:t> can contribute</a:t>
            </a:r>
          </a:p>
          <a:p>
            <a:pPr algn="l"/>
            <a:endParaRPr lang="en-US" sz="2000" i="1">
              <a:latin typeface="Calibri"/>
            </a:endParaRPr>
          </a:p>
          <a:p>
            <a:pPr algn="l"/>
            <a:endParaRPr lang="en-US" sz="2000" b="0" i="1">
              <a:latin typeface="Calibri"/>
            </a:endParaRPr>
          </a:p>
          <a:p>
            <a:pPr algn="l"/>
            <a:r>
              <a:rPr lang="en-US" sz="2000" b="1">
                <a:latin typeface="Calibri"/>
              </a:rPr>
              <a:t>Dao The Anh</a:t>
            </a:r>
          </a:p>
          <a:p>
            <a:pPr algn="l"/>
            <a:r>
              <a:rPr lang="en-US" sz="2000" b="1">
                <a:latin typeface="Calibri"/>
              </a:rPr>
              <a:t>Huynh Thi Thanh Tuyen</a:t>
            </a:r>
          </a:p>
          <a:p>
            <a:pPr algn="l"/>
            <a:r>
              <a:rPr lang="en-US" sz="2000" b="1">
                <a:latin typeface="Calibri"/>
              </a:rPr>
              <a:t>Nguyen Minh Quoc</a:t>
            </a:r>
          </a:p>
          <a:p>
            <a:pPr algn="l"/>
            <a:endParaRPr lang="en-US">
              <a:latin typeface="Calibri"/>
            </a:endParaRPr>
          </a:p>
          <a:p>
            <a:pPr algn="l"/>
            <a:endParaRPr lang="en-US" sz="1800" b="0">
              <a:latin typeface="Calibri"/>
            </a:endParaRPr>
          </a:p>
        </p:txBody>
      </p:sp>
      <p:sp>
        <p:nvSpPr>
          <p:cNvPr id="7" name="TextBox 6">
            <a:extLst>
              <a:ext uri="{FF2B5EF4-FFF2-40B4-BE49-F238E27FC236}">
                <a16:creationId xmlns:a16="http://schemas.microsoft.com/office/drawing/2014/main" id="{C9F304F2-D246-4C10-B782-3B2E33AE0094}"/>
              </a:ext>
            </a:extLst>
          </p:cNvPr>
          <p:cNvSpPr txBox="1"/>
          <p:nvPr/>
        </p:nvSpPr>
        <p:spPr>
          <a:xfrm>
            <a:off x="659553" y="222120"/>
            <a:ext cx="11122872" cy="369332"/>
          </a:xfrm>
          <a:prstGeom prst="rect">
            <a:avLst/>
          </a:prstGeom>
          <a:noFill/>
        </p:spPr>
        <p:txBody>
          <a:bodyPr wrap="square">
            <a:spAutoFit/>
          </a:bodyPr>
          <a:lstStyle/>
          <a:p>
            <a:pPr algn="l"/>
            <a:r>
              <a:rPr lang="en-US" sz="1800" b="1" i="1">
                <a:latin typeface="Calibri"/>
              </a:rPr>
              <a:t>Food Resilience Seminar: Scaling Innovative Solutions to Ensure Food Resilience and Autonomy in the Asia-Pacific</a:t>
            </a:r>
          </a:p>
        </p:txBody>
      </p:sp>
      <p:pic>
        <p:nvPicPr>
          <p:cNvPr id="15" name="Picture 14">
            <a:extLst>
              <a:ext uri="{FF2B5EF4-FFF2-40B4-BE49-F238E27FC236}">
                <a16:creationId xmlns:a16="http://schemas.microsoft.com/office/drawing/2014/main" id="{9547A18E-F694-205A-86DF-2E9D9D21D0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3903" y="932963"/>
            <a:ext cx="3743325" cy="2496037"/>
          </a:xfrm>
          <a:prstGeom prst="rect">
            <a:avLst/>
          </a:prstGeom>
        </p:spPr>
      </p:pic>
      <p:pic>
        <p:nvPicPr>
          <p:cNvPr id="17" name="Picture 16">
            <a:extLst>
              <a:ext uri="{FF2B5EF4-FFF2-40B4-BE49-F238E27FC236}">
                <a16:creationId xmlns:a16="http://schemas.microsoft.com/office/drawing/2014/main" id="{EC57F703-CC95-B845-8B6E-72F4789924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3903" y="3590758"/>
            <a:ext cx="3743325" cy="2807494"/>
          </a:xfrm>
          <a:prstGeom prst="rect">
            <a:avLst/>
          </a:prstGeom>
        </p:spPr>
      </p:pic>
    </p:spTree>
    <p:extLst>
      <p:ext uri="{BB962C8B-B14F-4D97-AF65-F5344CB8AC3E}">
        <p14:creationId xmlns:p14="http://schemas.microsoft.com/office/powerpoint/2010/main" val="3359861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15607A"/>
                </a:solidFill>
                <a:latin typeface="Calibri"/>
              </a:rPr>
              <a:t>What is food system resilience?</a:t>
            </a:r>
          </a:p>
        </p:txBody>
      </p:sp>
      <p:sp>
        <p:nvSpPr>
          <p:cNvPr id="3" name="Definition card"/>
          <p:cNvSpPr/>
          <p:nvPr/>
        </p:nvSpPr>
        <p:spPr>
          <a:xfrm>
            <a:off x="548640" y="1371600"/>
            <a:ext cx="5486400" cy="420624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68680" y="1645920"/>
            <a:ext cx="4846320" cy="365760"/>
          </a:xfrm>
          <a:prstGeom prst="rect">
            <a:avLst/>
          </a:prstGeom>
          <a:noFill/>
        </p:spPr>
        <p:txBody>
          <a:bodyPr wrap="square" lIns="0" tIns="0" rIns="0" bIns="0" anchor="t">
            <a:spAutoFit/>
          </a:bodyPr>
          <a:lstStyle/>
          <a:p>
            <a:pPr algn="l"/>
            <a:r>
              <a:rPr sz="1400" b="1" i="0">
                <a:solidFill>
                  <a:srgbClr val="15607A"/>
                </a:solidFill>
                <a:latin typeface="Calibri"/>
              </a:rPr>
              <a:t>FOOD SYSTEM RESILIENCE</a:t>
            </a:r>
          </a:p>
        </p:txBody>
      </p:sp>
      <p:sp>
        <p:nvSpPr>
          <p:cNvPr id="5" name="Definition"/>
          <p:cNvSpPr txBox="1"/>
          <p:nvPr/>
        </p:nvSpPr>
        <p:spPr>
          <a:xfrm>
            <a:off x="868680" y="2103120"/>
            <a:ext cx="4846320" cy="1538883"/>
          </a:xfrm>
          <a:prstGeom prst="rect">
            <a:avLst/>
          </a:prstGeom>
          <a:noFill/>
        </p:spPr>
        <p:txBody>
          <a:bodyPr wrap="square" lIns="0" tIns="0" rIns="0" bIns="0" anchor="t">
            <a:spAutoFit/>
          </a:bodyPr>
          <a:lstStyle/>
          <a:p>
            <a:pPr marL="342900" indent="-342900">
              <a:buFont typeface="Arial" panose="020B0604020202020204" pitchFamily="34" charset="0"/>
              <a:buChar char="•"/>
            </a:pPr>
            <a:r>
              <a:rPr sz="2000" b="0" i="1">
                <a:solidFill>
                  <a:srgbClr val="222B33"/>
                </a:solidFill>
                <a:latin typeface="Calibri"/>
              </a:rPr>
              <a:t>The capacity over time of a food system and its actors to keep providing sufficient, appropriate and </a:t>
            </a:r>
            <a:r>
              <a:rPr sz="2000" i="1">
                <a:solidFill>
                  <a:srgbClr val="222B33"/>
                </a:solidFill>
                <a:latin typeface="Calibri"/>
              </a:rPr>
              <a:t>accessible food to all, in the face of shocks and stresses</a:t>
            </a:r>
            <a:r>
              <a:rPr lang="en-US" sz="2000" i="1">
                <a:solidFill>
                  <a:srgbClr val="222B33"/>
                </a:solidFill>
                <a:latin typeface="Calibri"/>
              </a:rPr>
              <a:t> (Tendall et al., 2015; FAO, 2021)</a:t>
            </a:r>
            <a:endParaRPr sz="2000" i="1">
              <a:solidFill>
                <a:srgbClr val="222B33"/>
              </a:solidFill>
              <a:latin typeface="Calibri"/>
            </a:endParaRPr>
          </a:p>
        </p:txBody>
      </p:sp>
      <p:sp>
        <p:nvSpPr>
          <p:cNvPr id="6" name="TextBox 5"/>
          <p:cNvSpPr txBox="1"/>
          <p:nvPr/>
        </p:nvSpPr>
        <p:spPr>
          <a:xfrm>
            <a:off x="914401" y="4081236"/>
            <a:ext cx="4846320" cy="830997"/>
          </a:xfrm>
          <a:prstGeom prst="rect">
            <a:avLst/>
          </a:prstGeom>
          <a:noFill/>
        </p:spPr>
        <p:txBody>
          <a:bodyPr wrap="square" lIns="0" tIns="0" rIns="0" bIns="0" anchor="t">
            <a:spAutoFit/>
          </a:bodyPr>
          <a:lstStyle/>
          <a:p>
            <a:r>
              <a:rPr b="1" i="0">
                <a:solidFill>
                  <a:srgbClr val="15607A"/>
                </a:solidFill>
                <a:latin typeface="Calibri"/>
              </a:rPr>
              <a:t>Actor view: </a:t>
            </a:r>
            <a:r>
              <a:rPr b="0" i="1">
                <a:solidFill>
                  <a:srgbClr val="222B33"/>
                </a:solidFill>
                <a:latin typeface="Calibri"/>
              </a:rPr>
              <a:t>the ability of food system actors to maintain, protect </a:t>
            </a:r>
            <a:r>
              <a:rPr i="1">
                <a:solidFill>
                  <a:srgbClr val="222B33"/>
                </a:solidFill>
                <a:latin typeface="Calibri"/>
              </a:rPr>
              <a:t>or recover its key functions despite shocks</a:t>
            </a:r>
            <a:r>
              <a:rPr lang="en-US" i="1">
                <a:solidFill>
                  <a:srgbClr val="222B33"/>
                </a:solidFill>
                <a:latin typeface="Calibri"/>
              </a:rPr>
              <a:t> (Béné et al., 2023)</a:t>
            </a:r>
            <a:endParaRPr i="1">
              <a:solidFill>
                <a:srgbClr val="222B33"/>
              </a:solidFill>
              <a:latin typeface="Calibri"/>
            </a:endParaRPr>
          </a:p>
        </p:txBody>
      </p:sp>
      <p:sp>
        <p:nvSpPr>
          <p:cNvPr id="8" name="TextBox 7"/>
          <p:cNvSpPr txBox="1"/>
          <p:nvPr/>
        </p:nvSpPr>
        <p:spPr>
          <a:xfrm>
            <a:off x="6492240" y="1371600"/>
            <a:ext cx="5120640" cy="457200"/>
          </a:xfrm>
          <a:prstGeom prst="rect">
            <a:avLst/>
          </a:prstGeom>
          <a:noFill/>
        </p:spPr>
        <p:txBody>
          <a:bodyPr wrap="square" lIns="0" tIns="0" rIns="0" bIns="0" anchor="t">
            <a:spAutoFit/>
          </a:bodyPr>
          <a:lstStyle/>
          <a:p>
            <a:pPr algn="l"/>
            <a:r>
              <a:rPr sz="2000" b="1" i="0">
                <a:solidFill>
                  <a:srgbClr val="222B33"/>
                </a:solidFill>
                <a:latin typeface="Calibri"/>
              </a:rPr>
              <a:t>A resilient food system can…</a:t>
            </a:r>
          </a:p>
        </p:txBody>
      </p:sp>
      <p:sp>
        <p:nvSpPr>
          <p:cNvPr id="10" name="Capacity 1"/>
          <p:cNvSpPr/>
          <p:nvPr/>
        </p:nvSpPr>
        <p:spPr>
          <a:xfrm>
            <a:off x="6492240" y="2057400"/>
            <a:ext cx="777240" cy="7772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1</a:t>
            </a:r>
          </a:p>
        </p:txBody>
      </p:sp>
      <p:sp>
        <p:nvSpPr>
          <p:cNvPr id="11" name="TextBox 10"/>
          <p:cNvSpPr txBox="1"/>
          <p:nvPr/>
        </p:nvSpPr>
        <p:spPr>
          <a:xfrm>
            <a:off x="7498079" y="2075688"/>
            <a:ext cx="4114800" cy="411480"/>
          </a:xfrm>
          <a:prstGeom prst="rect">
            <a:avLst/>
          </a:prstGeom>
          <a:noFill/>
        </p:spPr>
        <p:txBody>
          <a:bodyPr wrap="square" lIns="0" tIns="0" rIns="0" bIns="0" anchor="t">
            <a:spAutoFit/>
          </a:bodyPr>
          <a:lstStyle/>
          <a:p>
            <a:pPr algn="l"/>
            <a:r>
              <a:rPr sz="2000" b="1" i="0">
                <a:solidFill>
                  <a:srgbClr val="15607A"/>
                </a:solidFill>
                <a:latin typeface="Calibri"/>
              </a:rPr>
              <a:t>Resist and absorb</a:t>
            </a:r>
          </a:p>
        </p:txBody>
      </p:sp>
      <p:sp>
        <p:nvSpPr>
          <p:cNvPr id="12" name="TextBox 11"/>
          <p:cNvSpPr txBox="1"/>
          <p:nvPr/>
        </p:nvSpPr>
        <p:spPr>
          <a:xfrm>
            <a:off x="7498079" y="2487168"/>
            <a:ext cx="4114800" cy="685800"/>
          </a:xfrm>
          <a:prstGeom prst="rect">
            <a:avLst/>
          </a:prstGeom>
          <a:noFill/>
        </p:spPr>
        <p:txBody>
          <a:bodyPr wrap="square" lIns="0" tIns="0" rIns="0" bIns="0" anchor="t">
            <a:spAutoFit/>
          </a:bodyPr>
          <a:lstStyle/>
          <a:p>
            <a:pPr algn="l"/>
            <a:r>
              <a:rPr sz="1500" b="0" i="0">
                <a:solidFill>
                  <a:srgbClr val="6B757D"/>
                </a:solidFill>
                <a:latin typeface="Calibri"/>
              </a:rPr>
              <a:t>Withstand shocks through buffers, stocks, diversity and redundancy</a:t>
            </a:r>
          </a:p>
        </p:txBody>
      </p:sp>
      <p:sp>
        <p:nvSpPr>
          <p:cNvPr id="13" name="Capacity 2"/>
          <p:cNvSpPr/>
          <p:nvPr/>
        </p:nvSpPr>
        <p:spPr>
          <a:xfrm>
            <a:off x="6492240" y="3246120"/>
            <a:ext cx="777240" cy="77724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2</a:t>
            </a:r>
          </a:p>
        </p:txBody>
      </p:sp>
      <p:sp>
        <p:nvSpPr>
          <p:cNvPr id="14" name="TextBox 13"/>
          <p:cNvSpPr txBox="1"/>
          <p:nvPr/>
        </p:nvSpPr>
        <p:spPr>
          <a:xfrm>
            <a:off x="7498079" y="3264408"/>
            <a:ext cx="4114800" cy="411480"/>
          </a:xfrm>
          <a:prstGeom prst="rect">
            <a:avLst/>
          </a:prstGeom>
          <a:noFill/>
        </p:spPr>
        <p:txBody>
          <a:bodyPr wrap="square" lIns="0" tIns="0" rIns="0" bIns="0" anchor="t">
            <a:spAutoFit/>
          </a:bodyPr>
          <a:lstStyle/>
          <a:p>
            <a:pPr algn="l"/>
            <a:r>
              <a:rPr sz="2000" b="1" i="0">
                <a:solidFill>
                  <a:srgbClr val="4E8F3A"/>
                </a:solidFill>
                <a:latin typeface="Calibri"/>
              </a:rPr>
              <a:t>Adapt and recover</a:t>
            </a:r>
          </a:p>
        </p:txBody>
      </p:sp>
      <p:sp>
        <p:nvSpPr>
          <p:cNvPr id="15" name="TextBox 14"/>
          <p:cNvSpPr txBox="1"/>
          <p:nvPr/>
        </p:nvSpPr>
        <p:spPr>
          <a:xfrm>
            <a:off x="7498079" y="3675887"/>
            <a:ext cx="4114800" cy="685800"/>
          </a:xfrm>
          <a:prstGeom prst="rect">
            <a:avLst/>
          </a:prstGeom>
          <a:noFill/>
        </p:spPr>
        <p:txBody>
          <a:bodyPr wrap="square" lIns="0" tIns="0" rIns="0" bIns="0" anchor="t">
            <a:spAutoFit/>
          </a:bodyPr>
          <a:lstStyle/>
          <a:p>
            <a:pPr algn="l"/>
            <a:r>
              <a:rPr sz="1500" b="0" i="0">
                <a:solidFill>
                  <a:srgbClr val="6B757D"/>
                </a:solidFill>
                <a:latin typeface="Calibri"/>
              </a:rPr>
              <a:t>Adjust practices, markets and policies, and bounce back</a:t>
            </a:r>
          </a:p>
        </p:txBody>
      </p:sp>
      <p:sp>
        <p:nvSpPr>
          <p:cNvPr id="16" name="Capacity 3"/>
          <p:cNvSpPr/>
          <p:nvPr/>
        </p:nvSpPr>
        <p:spPr>
          <a:xfrm>
            <a:off x="6492240" y="4434840"/>
            <a:ext cx="777240" cy="77724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3</a:t>
            </a:r>
          </a:p>
        </p:txBody>
      </p:sp>
      <p:sp>
        <p:nvSpPr>
          <p:cNvPr id="17" name="TextBox 16"/>
          <p:cNvSpPr txBox="1"/>
          <p:nvPr/>
        </p:nvSpPr>
        <p:spPr>
          <a:xfrm>
            <a:off x="7498079" y="4453127"/>
            <a:ext cx="4114800" cy="411480"/>
          </a:xfrm>
          <a:prstGeom prst="rect">
            <a:avLst/>
          </a:prstGeom>
          <a:noFill/>
        </p:spPr>
        <p:txBody>
          <a:bodyPr wrap="square" lIns="0" tIns="0" rIns="0" bIns="0" anchor="t">
            <a:spAutoFit/>
          </a:bodyPr>
          <a:lstStyle/>
          <a:p>
            <a:pPr algn="l"/>
            <a:r>
              <a:rPr sz="2000" b="1" i="0">
                <a:solidFill>
                  <a:srgbClr val="E26E24"/>
                </a:solidFill>
                <a:latin typeface="Calibri"/>
              </a:rPr>
              <a:t>Transform</a:t>
            </a:r>
          </a:p>
        </p:txBody>
      </p:sp>
      <p:sp>
        <p:nvSpPr>
          <p:cNvPr id="18" name="TextBox 17"/>
          <p:cNvSpPr txBox="1"/>
          <p:nvPr/>
        </p:nvSpPr>
        <p:spPr>
          <a:xfrm>
            <a:off x="7498079" y="4864607"/>
            <a:ext cx="4114800" cy="685800"/>
          </a:xfrm>
          <a:prstGeom prst="rect">
            <a:avLst/>
          </a:prstGeom>
          <a:noFill/>
        </p:spPr>
        <p:txBody>
          <a:bodyPr wrap="square" lIns="0" tIns="0" rIns="0" bIns="0" anchor="t">
            <a:spAutoFit/>
          </a:bodyPr>
          <a:lstStyle/>
          <a:p>
            <a:pPr algn="l"/>
            <a:r>
              <a:rPr sz="1500" b="0" i="0">
                <a:solidFill>
                  <a:srgbClr val="6B757D"/>
                </a:solidFill>
                <a:latin typeface="Calibri"/>
              </a:rPr>
              <a:t>Change the system when it is untenable: bounce forward, more fairly</a:t>
            </a:r>
          </a:p>
        </p:txBody>
      </p:sp>
      <p:sp>
        <p:nvSpPr>
          <p:cNvPr id="19" name="Source"/>
          <p:cNvSpPr txBox="1"/>
          <p:nvPr/>
        </p:nvSpPr>
        <p:spPr>
          <a:xfrm>
            <a:off x="563880" y="6536605"/>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Sources: Tendall et al. (2015); FAO (2021); Béné et al. (2023); HLPE (2025)</a:t>
            </a:r>
          </a:p>
        </p:txBody>
      </p:sp>
      <p:sp>
        <p:nvSpPr>
          <p:cNvPr id="21" name="TextBox 20">
            <a:extLst>
              <a:ext uri="{FF2B5EF4-FFF2-40B4-BE49-F238E27FC236}">
                <a16:creationId xmlns:a16="http://schemas.microsoft.com/office/drawing/2014/main" id="{1F523B49-3EC9-E0DF-5F10-E45C806BAB18}"/>
              </a:ext>
            </a:extLst>
          </p:cNvPr>
          <p:cNvSpPr txBox="1"/>
          <p:nvPr/>
        </p:nvSpPr>
        <p:spPr>
          <a:xfrm>
            <a:off x="563880" y="5784912"/>
            <a:ext cx="10555603" cy="646331"/>
          </a:xfrm>
          <a:prstGeom prst="rect">
            <a:avLst/>
          </a:prstGeom>
          <a:noFill/>
        </p:spPr>
        <p:txBody>
          <a:bodyPr wrap="square">
            <a:spAutoFit/>
          </a:bodyPr>
          <a:lstStyle/>
          <a:p>
            <a:pPr algn="l"/>
            <a:r>
              <a:rPr lang="en-US" b="1" i="1">
                <a:latin typeface="Calibri"/>
              </a:rPr>
              <a:t>Note: Resilience is not identical to sustainability; resilience emphasizes flexible responses to shocks while sustainability emphasizes stable and reasonable resource uses</a:t>
            </a:r>
            <a:endParaRPr lang="en-US" sz="1800" b="1" i="1">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15607A"/>
                </a:solidFill>
                <a:latin typeface="Calibri"/>
              </a:rPr>
              <a:t>Unpacking resilience in Viet Nam</a:t>
            </a:r>
          </a:p>
        </p:txBody>
      </p:sp>
      <p:sp>
        <p:nvSpPr>
          <p:cNvPr id="3" name="Column 1"/>
          <p:cNvSpPr/>
          <p:nvPr/>
        </p:nvSpPr>
        <p:spPr>
          <a:xfrm>
            <a:off x="515066" y="1114103"/>
            <a:ext cx="3474720" cy="2403783"/>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51893" y="1268641"/>
            <a:ext cx="2926080" cy="457200"/>
          </a:xfrm>
          <a:prstGeom prst="rect">
            <a:avLst/>
          </a:prstGeom>
          <a:noFill/>
        </p:spPr>
        <p:txBody>
          <a:bodyPr wrap="square" lIns="0" tIns="0" rIns="0" bIns="0" anchor="t">
            <a:spAutoFit/>
          </a:bodyPr>
          <a:lstStyle/>
          <a:p>
            <a:pPr algn="l"/>
            <a:r>
              <a:rPr sz="2000" b="1" i="0">
                <a:solidFill>
                  <a:srgbClr val="15607A"/>
                </a:solidFill>
                <a:latin typeface="Calibri"/>
              </a:rPr>
              <a:t>Resilience of what?</a:t>
            </a:r>
          </a:p>
        </p:txBody>
      </p:sp>
      <p:sp>
        <p:nvSpPr>
          <p:cNvPr id="5" name="TextBox 4"/>
          <p:cNvSpPr txBox="1"/>
          <p:nvPr/>
        </p:nvSpPr>
        <p:spPr>
          <a:xfrm>
            <a:off x="838200" y="1769031"/>
            <a:ext cx="3017520" cy="1154162"/>
          </a:xfrm>
          <a:prstGeom prst="rect">
            <a:avLst/>
          </a:prstGeom>
          <a:noFill/>
        </p:spPr>
        <p:txBody>
          <a:bodyPr wrap="square" lIns="0" tIns="0" rIns="0" bIns="0" anchor="t">
            <a:spAutoFit/>
          </a:bodyPr>
          <a:lstStyle/>
          <a:p>
            <a:pPr algn="l"/>
            <a:r>
              <a:rPr lang="en-US" sz="1500">
                <a:solidFill>
                  <a:srgbClr val="222B33"/>
                </a:solidFill>
                <a:latin typeface="Calibri"/>
              </a:rPr>
              <a:t>F</a:t>
            </a:r>
            <a:r>
              <a:rPr sz="1500" b="0" i="0">
                <a:solidFill>
                  <a:srgbClr val="222B33"/>
                </a:solidFill>
                <a:latin typeface="Calibri"/>
              </a:rPr>
              <a:t>ood security and exports</a:t>
            </a:r>
          </a:p>
          <a:p>
            <a:pPr algn="l">
              <a:spcBef>
                <a:spcPts val="600"/>
              </a:spcBef>
            </a:pPr>
            <a:r>
              <a:rPr sz="1500" b="0" i="0">
                <a:solidFill>
                  <a:srgbClr val="222B33"/>
                </a:solidFill>
                <a:latin typeface="Calibri"/>
              </a:rPr>
              <a:t>Smallholder livelihoods</a:t>
            </a:r>
          </a:p>
          <a:p>
            <a:pPr algn="l">
              <a:spcBef>
                <a:spcPts val="600"/>
              </a:spcBef>
            </a:pPr>
            <a:r>
              <a:rPr sz="1500" b="0" i="0">
                <a:solidFill>
                  <a:srgbClr val="222B33"/>
                </a:solidFill>
                <a:latin typeface="Calibri"/>
              </a:rPr>
              <a:t>Diets and nutrition</a:t>
            </a:r>
          </a:p>
          <a:p>
            <a:pPr algn="l">
              <a:spcBef>
                <a:spcPts val="600"/>
              </a:spcBef>
            </a:pPr>
            <a:r>
              <a:rPr sz="1500" b="0" i="0">
                <a:solidFill>
                  <a:srgbClr val="222B33"/>
                </a:solidFill>
                <a:latin typeface="Calibri"/>
              </a:rPr>
              <a:t>Territorial </a:t>
            </a:r>
            <a:r>
              <a:rPr lang="en-US" sz="1500" b="0" i="0">
                <a:solidFill>
                  <a:srgbClr val="222B33"/>
                </a:solidFill>
                <a:latin typeface="Calibri"/>
              </a:rPr>
              <a:t>agri-</a:t>
            </a:r>
            <a:r>
              <a:rPr sz="1500" b="0" i="0">
                <a:solidFill>
                  <a:srgbClr val="222B33"/>
                </a:solidFill>
                <a:latin typeface="Calibri"/>
              </a:rPr>
              <a:t>food </a:t>
            </a:r>
            <a:r>
              <a:rPr lang="en-US" sz="1500" b="0" i="0">
                <a:solidFill>
                  <a:srgbClr val="222B33"/>
                </a:solidFill>
                <a:latin typeface="Calibri"/>
              </a:rPr>
              <a:t>landscape</a:t>
            </a:r>
            <a:endParaRPr sz="1500" b="0" i="0">
              <a:solidFill>
                <a:srgbClr val="222B33"/>
              </a:solidFill>
              <a:latin typeface="Calibri"/>
            </a:endParaRPr>
          </a:p>
        </p:txBody>
      </p:sp>
      <p:sp>
        <p:nvSpPr>
          <p:cNvPr id="7" name="Column 2"/>
          <p:cNvSpPr/>
          <p:nvPr/>
        </p:nvSpPr>
        <p:spPr>
          <a:xfrm>
            <a:off x="4343399" y="1097280"/>
            <a:ext cx="3474720" cy="2403783"/>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571999" y="1216152"/>
            <a:ext cx="2926080" cy="457200"/>
          </a:xfrm>
          <a:prstGeom prst="rect">
            <a:avLst/>
          </a:prstGeom>
          <a:noFill/>
        </p:spPr>
        <p:txBody>
          <a:bodyPr wrap="square" lIns="0" tIns="0" rIns="0" bIns="0" anchor="t">
            <a:spAutoFit/>
          </a:bodyPr>
          <a:lstStyle/>
          <a:p>
            <a:pPr algn="l"/>
            <a:r>
              <a:rPr sz="2000" b="1" i="0">
                <a:solidFill>
                  <a:srgbClr val="E26E24"/>
                </a:solidFill>
                <a:latin typeface="Calibri"/>
              </a:rPr>
              <a:t>Resilience to what?</a:t>
            </a:r>
          </a:p>
        </p:txBody>
      </p:sp>
      <p:sp>
        <p:nvSpPr>
          <p:cNvPr id="9" name="TextBox 8"/>
          <p:cNvSpPr txBox="1"/>
          <p:nvPr/>
        </p:nvSpPr>
        <p:spPr>
          <a:xfrm>
            <a:off x="4587240" y="1660130"/>
            <a:ext cx="3017520" cy="1692771"/>
          </a:xfrm>
          <a:prstGeom prst="rect">
            <a:avLst/>
          </a:prstGeom>
          <a:noFill/>
        </p:spPr>
        <p:txBody>
          <a:bodyPr wrap="square" lIns="0" tIns="0" rIns="0" bIns="0" anchor="t">
            <a:spAutoFit/>
          </a:bodyPr>
          <a:lstStyle/>
          <a:p>
            <a:pPr algn="l"/>
            <a:r>
              <a:rPr sz="1500" b="0" i="0">
                <a:solidFill>
                  <a:srgbClr val="222B33"/>
                </a:solidFill>
                <a:latin typeface="Calibri"/>
              </a:rPr>
              <a:t>Typhoons</a:t>
            </a:r>
            <a:r>
              <a:rPr lang="en-US" sz="1500" b="0" i="0">
                <a:solidFill>
                  <a:srgbClr val="222B33"/>
                </a:solidFill>
                <a:latin typeface="Calibri"/>
              </a:rPr>
              <a:t>, </a:t>
            </a:r>
            <a:r>
              <a:rPr sz="1500" b="0" i="0">
                <a:solidFill>
                  <a:srgbClr val="222B33"/>
                </a:solidFill>
                <a:latin typeface="Calibri"/>
              </a:rPr>
              <a:t>floods, drought</a:t>
            </a:r>
          </a:p>
          <a:p>
            <a:pPr algn="l">
              <a:spcBef>
                <a:spcPts val="600"/>
              </a:spcBef>
            </a:pPr>
            <a:r>
              <a:rPr sz="1500" b="0" i="0">
                <a:solidFill>
                  <a:srgbClr val="222B33"/>
                </a:solidFill>
                <a:latin typeface="Calibri"/>
              </a:rPr>
              <a:t>Salinity in </a:t>
            </a:r>
            <a:r>
              <a:rPr sz="1500">
                <a:solidFill>
                  <a:srgbClr val="222B33"/>
                </a:solidFill>
                <a:latin typeface="Calibri"/>
              </a:rPr>
              <a:t>the Mekong Delta</a:t>
            </a:r>
          </a:p>
          <a:p>
            <a:pPr algn="l">
              <a:spcBef>
                <a:spcPts val="600"/>
              </a:spcBef>
            </a:pPr>
            <a:r>
              <a:rPr sz="1500">
                <a:solidFill>
                  <a:srgbClr val="222B33"/>
                </a:solidFill>
                <a:latin typeface="Calibri"/>
              </a:rPr>
              <a:t>Price shocks (</a:t>
            </a:r>
            <a:r>
              <a:rPr lang="en-US" sz="1500">
                <a:solidFill>
                  <a:srgbClr val="222B33"/>
                </a:solidFill>
                <a:latin typeface="Calibri"/>
              </a:rPr>
              <a:t>e.g., </a:t>
            </a:r>
            <a:r>
              <a:rPr sz="1500">
                <a:solidFill>
                  <a:srgbClr val="222B33"/>
                </a:solidFill>
                <a:latin typeface="Calibri"/>
              </a:rPr>
              <a:t>2007–08)</a:t>
            </a:r>
          </a:p>
          <a:p>
            <a:pPr algn="l">
              <a:spcBef>
                <a:spcPts val="600"/>
              </a:spcBef>
            </a:pPr>
            <a:r>
              <a:rPr lang="en-US" sz="1500">
                <a:solidFill>
                  <a:srgbClr val="222B33"/>
                </a:solidFill>
                <a:latin typeface="Calibri"/>
              </a:rPr>
              <a:t>Diseases (e.g, </a:t>
            </a:r>
            <a:r>
              <a:rPr sz="1500">
                <a:solidFill>
                  <a:srgbClr val="222B33"/>
                </a:solidFill>
                <a:latin typeface="Calibri"/>
              </a:rPr>
              <a:t>COVID-19)</a:t>
            </a:r>
            <a:endParaRPr lang="en-US" sz="1500">
              <a:solidFill>
                <a:srgbClr val="222B33"/>
              </a:solidFill>
              <a:latin typeface="Calibri"/>
            </a:endParaRPr>
          </a:p>
          <a:p>
            <a:pPr>
              <a:spcBef>
                <a:spcPts val="600"/>
              </a:spcBef>
            </a:pPr>
            <a:r>
              <a:rPr lang="en-US" sz="1500" i="1">
                <a:solidFill>
                  <a:srgbClr val="222B33"/>
                </a:solidFill>
                <a:latin typeface="Calibri"/>
              </a:rPr>
              <a:t>Long-term stresses: </a:t>
            </a:r>
            <a:r>
              <a:rPr lang="en-US" sz="1500">
                <a:solidFill>
                  <a:srgbClr val="222B33"/>
                </a:solidFill>
                <a:latin typeface="Calibri"/>
              </a:rPr>
              <a:t>land degradation, migration, pollution</a:t>
            </a:r>
            <a:endParaRPr sz="1500">
              <a:solidFill>
                <a:srgbClr val="222B33"/>
              </a:solidFill>
              <a:latin typeface="Calibri"/>
            </a:endParaRPr>
          </a:p>
        </p:txBody>
      </p:sp>
      <p:sp>
        <p:nvSpPr>
          <p:cNvPr id="11" name="Column 3"/>
          <p:cNvSpPr/>
          <p:nvPr/>
        </p:nvSpPr>
        <p:spPr>
          <a:xfrm>
            <a:off x="8046719" y="1053465"/>
            <a:ext cx="3474720" cy="246126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336279" y="1220557"/>
            <a:ext cx="2926080" cy="457200"/>
          </a:xfrm>
          <a:prstGeom prst="rect">
            <a:avLst/>
          </a:prstGeom>
          <a:noFill/>
        </p:spPr>
        <p:txBody>
          <a:bodyPr wrap="square" lIns="0" tIns="0" rIns="0" bIns="0" anchor="t">
            <a:spAutoFit/>
          </a:bodyPr>
          <a:lstStyle/>
          <a:p>
            <a:pPr algn="l"/>
            <a:r>
              <a:rPr sz="2000" b="1" i="0">
                <a:solidFill>
                  <a:srgbClr val="4E8F3A"/>
                </a:solidFill>
                <a:latin typeface="Calibri"/>
              </a:rPr>
              <a:t>Resilience for whom?</a:t>
            </a:r>
          </a:p>
        </p:txBody>
      </p:sp>
      <p:sp>
        <p:nvSpPr>
          <p:cNvPr id="13" name="TextBox 12"/>
          <p:cNvSpPr txBox="1"/>
          <p:nvPr/>
        </p:nvSpPr>
        <p:spPr>
          <a:xfrm>
            <a:off x="8321040" y="1660130"/>
            <a:ext cx="3017520" cy="1692771"/>
          </a:xfrm>
          <a:prstGeom prst="rect">
            <a:avLst/>
          </a:prstGeom>
          <a:noFill/>
        </p:spPr>
        <p:txBody>
          <a:bodyPr wrap="square" lIns="0" tIns="0" rIns="0" bIns="0" anchor="t">
            <a:spAutoFit/>
          </a:bodyPr>
          <a:lstStyle/>
          <a:p>
            <a:pPr algn="l"/>
            <a:r>
              <a:rPr sz="1500" b="0" i="0">
                <a:solidFill>
                  <a:srgbClr val="222B33"/>
                </a:solidFill>
                <a:latin typeface="Calibri"/>
              </a:rPr>
              <a:t>Smallholders</a:t>
            </a:r>
            <a:r>
              <a:rPr lang="en-US" sz="1500" b="0" i="0">
                <a:solidFill>
                  <a:srgbClr val="222B33"/>
                </a:solidFill>
                <a:latin typeface="Calibri"/>
              </a:rPr>
              <a:t> in rural areas</a:t>
            </a:r>
            <a:endParaRPr sz="1500" b="0" i="0">
              <a:solidFill>
                <a:srgbClr val="222B33"/>
              </a:solidFill>
              <a:latin typeface="Calibri"/>
            </a:endParaRPr>
          </a:p>
          <a:p>
            <a:pPr algn="l">
              <a:spcBef>
                <a:spcPts val="600"/>
              </a:spcBef>
            </a:pPr>
            <a:r>
              <a:rPr sz="1500" b="0" i="0">
                <a:solidFill>
                  <a:srgbClr val="222B33"/>
                </a:solidFill>
                <a:latin typeface="Calibri"/>
              </a:rPr>
              <a:t>Ethnic minority </a:t>
            </a:r>
            <a:r>
              <a:rPr lang="en-US" sz="1500" b="0" i="0">
                <a:solidFill>
                  <a:srgbClr val="222B33"/>
                </a:solidFill>
                <a:latin typeface="Calibri"/>
              </a:rPr>
              <a:t>population</a:t>
            </a:r>
          </a:p>
          <a:p>
            <a:pPr algn="l">
              <a:spcBef>
                <a:spcPts val="600"/>
              </a:spcBef>
            </a:pPr>
            <a:r>
              <a:rPr lang="en-US" sz="1500" b="0" i="0">
                <a:solidFill>
                  <a:srgbClr val="222B33"/>
                </a:solidFill>
                <a:latin typeface="Calibri"/>
              </a:rPr>
              <a:t>Coastal </a:t>
            </a:r>
            <a:r>
              <a:rPr sz="1500" b="0" i="0">
                <a:solidFill>
                  <a:srgbClr val="222B33"/>
                </a:solidFill>
                <a:latin typeface="Calibri"/>
              </a:rPr>
              <a:t>and mountai</a:t>
            </a:r>
            <a:r>
              <a:rPr lang="en-US" sz="1500" b="0" i="0">
                <a:solidFill>
                  <a:srgbClr val="222B33"/>
                </a:solidFill>
                <a:latin typeface="Calibri"/>
              </a:rPr>
              <a:t>nous communities</a:t>
            </a:r>
            <a:endParaRPr sz="1500" b="0" i="0">
              <a:solidFill>
                <a:srgbClr val="222B33"/>
              </a:solidFill>
              <a:latin typeface="Calibri"/>
            </a:endParaRPr>
          </a:p>
          <a:p>
            <a:pPr algn="l">
              <a:spcBef>
                <a:spcPts val="600"/>
              </a:spcBef>
            </a:pPr>
            <a:r>
              <a:rPr sz="1500" b="0" i="0">
                <a:solidFill>
                  <a:srgbClr val="222B33"/>
                </a:solidFill>
                <a:latin typeface="Calibri"/>
              </a:rPr>
              <a:t>Low-income urban households</a:t>
            </a:r>
          </a:p>
          <a:p>
            <a:pPr algn="l">
              <a:spcBef>
                <a:spcPts val="600"/>
              </a:spcBef>
            </a:pPr>
            <a:r>
              <a:rPr sz="1500" b="0" i="0">
                <a:solidFill>
                  <a:srgbClr val="222B33"/>
                </a:solidFill>
                <a:latin typeface="Calibri"/>
              </a:rPr>
              <a:t>Wome</a:t>
            </a:r>
            <a:r>
              <a:rPr lang="en-US" sz="1500">
                <a:solidFill>
                  <a:srgbClr val="222B33"/>
                </a:solidFill>
                <a:latin typeface="Calibri"/>
              </a:rPr>
              <a:t>n, youth, elderly, people with disability</a:t>
            </a:r>
            <a:endParaRPr sz="1500" b="0" i="0">
              <a:solidFill>
                <a:srgbClr val="222B33"/>
              </a:solidFill>
              <a:latin typeface="Calibri"/>
            </a:endParaRPr>
          </a:p>
        </p:txBody>
      </p:sp>
      <p:sp>
        <p:nvSpPr>
          <p:cNvPr id="16" name="Source"/>
          <p:cNvSpPr txBox="1"/>
          <p:nvPr/>
        </p:nvSpPr>
        <p:spPr>
          <a:xfrm>
            <a:off x="659130" y="6217920"/>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Sources: Hoang (2018); Nguyen et al. (2019); Bruckert &amp; Nguyen (2024); Dawe &amp; Slayton (2011)</a:t>
            </a:r>
          </a:p>
        </p:txBody>
      </p:sp>
      <p:pic>
        <p:nvPicPr>
          <p:cNvPr id="18" name="Picture 17">
            <a:extLst>
              <a:ext uri="{FF2B5EF4-FFF2-40B4-BE49-F238E27FC236}">
                <a16:creationId xmlns:a16="http://schemas.microsoft.com/office/drawing/2014/main" id="{EDE50734-F194-DFE6-7308-C11098AB738F}"/>
              </a:ext>
            </a:extLst>
          </p:cNvPr>
          <p:cNvPicPr>
            <a:picLocks noChangeAspect="1"/>
          </p:cNvPicPr>
          <p:nvPr/>
        </p:nvPicPr>
        <p:blipFill>
          <a:blip r:embed="rId3">
            <a:extLst>
              <a:ext uri="{28A0092B-C50C-407E-A947-70E740481C1C}">
                <a14:useLocalDpi xmlns:a14="http://schemas.microsoft.com/office/drawing/2010/main" val="0"/>
              </a:ext>
            </a:extLst>
          </a:blip>
          <a:srcRect t="6812" b="16752"/>
          <a:stretch>
            <a:fillRect/>
          </a:stretch>
        </p:blipFill>
        <p:spPr>
          <a:xfrm>
            <a:off x="8129308" y="3674176"/>
            <a:ext cx="3340021" cy="1702195"/>
          </a:xfrm>
          <a:prstGeom prst="rect">
            <a:avLst/>
          </a:prstGeom>
          <a:ln>
            <a:noFill/>
          </a:ln>
          <a:effectLst>
            <a:outerShdw blurRad="292100" dist="139700" dir="2700000" algn="tl" rotWithShape="0">
              <a:srgbClr val="333333">
                <a:alpha val="65000"/>
              </a:srgbClr>
            </a:outerShdw>
          </a:effectLst>
        </p:spPr>
      </p:pic>
      <p:pic>
        <p:nvPicPr>
          <p:cNvPr id="20" name="Picture 19">
            <a:extLst>
              <a:ext uri="{FF2B5EF4-FFF2-40B4-BE49-F238E27FC236}">
                <a16:creationId xmlns:a16="http://schemas.microsoft.com/office/drawing/2014/main" id="{717FED7A-8FEB-32D2-F159-23953DC076A6}"/>
              </a:ext>
            </a:extLst>
          </p:cNvPr>
          <p:cNvPicPr>
            <a:picLocks noChangeAspect="1"/>
          </p:cNvPicPr>
          <p:nvPr/>
        </p:nvPicPr>
        <p:blipFill>
          <a:blip r:embed="rId4">
            <a:extLst>
              <a:ext uri="{28A0092B-C50C-407E-A947-70E740481C1C}">
                <a14:useLocalDpi xmlns:a14="http://schemas.microsoft.com/office/drawing/2010/main" val="0"/>
              </a:ext>
            </a:extLst>
          </a:blip>
          <a:srcRect t="5344" b="15800"/>
          <a:stretch>
            <a:fillRect/>
          </a:stretch>
        </p:blipFill>
        <p:spPr>
          <a:xfrm>
            <a:off x="731081" y="3683943"/>
            <a:ext cx="3231758" cy="1699308"/>
          </a:xfrm>
          <a:prstGeom prst="rect">
            <a:avLst/>
          </a:prstGeom>
          <a:ln>
            <a:no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D35A9565-643B-4B82-D635-FFF02B649F0D}"/>
              </a:ext>
            </a:extLst>
          </p:cNvPr>
          <p:cNvPicPr>
            <a:picLocks noChangeAspect="1"/>
          </p:cNvPicPr>
          <p:nvPr/>
        </p:nvPicPr>
        <p:blipFill>
          <a:blip r:embed="rId5">
            <a:extLst>
              <a:ext uri="{28A0092B-C50C-407E-A947-70E740481C1C}">
                <a14:useLocalDpi xmlns:a14="http://schemas.microsoft.com/office/drawing/2010/main" val="0"/>
              </a:ext>
            </a:extLst>
          </a:blip>
          <a:srcRect t="2361" b="27361"/>
          <a:stretch>
            <a:fillRect/>
          </a:stretch>
        </p:blipFill>
        <p:spPr>
          <a:xfrm>
            <a:off x="4410748" y="3683943"/>
            <a:ext cx="3340021" cy="1760469"/>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492443"/>
          </a:xfrm>
          <a:prstGeom prst="rect">
            <a:avLst/>
          </a:prstGeom>
          <a:noFill/>
        </p:spPr>
        <p:txBody>
          <a:bodyPr wrap="square" lIns="0" tIns="0" rIns="0" bIns="0" anchor="t">
            <a:spAutoFit/>
          </a:bodyPr>
          <a:lstStyle/>
          <a:p>
            <a:pPr algn="l"/>
            <a:r>
              <a:rPr lang="en-US" sz="3200" b="1" i="0">
                <a:solidFill>
                  <a:srgbClr val="15607A"/>
                </a:solidFill>
                <a:latin typeface="Calibri"/>
              </a:rPr>
              <a:t>How to build </a:t>
            </a:r>
            <a:r>
              <a:rPr sz="3200" b="1" i="0">
                <a:solidFill>
                  <a:srgbClr val="15607A"/>
                </a:solidFill>
                <a:latin typeface="Calibri"/>
              </a:rPr>
              <a:t>resilient food systems</a:t>
            </a:r>
            <a:r>
              <a:rPr lang="en-US" sz="3200" b="1" i="0">
                <a:solidFill>
                  <a:srgbClr val="15607A"/>
                </a:solidFill>
                <a:latin typeface="Calibri"/>
              </a:rPr>
              <a:t>?</a:t>
            </a:r>
            <a:endParaRPr sz="3200" b="1" i="0">
              <a:solidFill>
                <a:srgbClr val="15607A"/>
              </a:solidFill>
              <a:latin typeface="Calibri"/>
            </a:endParaRPr>
          </a:p>
        </p:txBody>
      </p:sp>
      <p:sp>
        <p:nvSpPr>
          <p:cNvPr id="3" name="TextBox 2"/>
          <p:cNvSpPr txBox="1"/>
          <p:nvPr/>
        </p:nvSpPr>
        <p:spPr>
          <a:xfrm>
            <a:off x="581025" y="960120"/>
            <a:ext cx="11064240" cy="230832"/>
          </a:xfrm>
          <a:prstGeom prst="rect">
            <a:avLst/>
          </a:prstGeom>
          <a:noFill/>
        </p:spPr>
        <p:txBody>
          <a:bodyPr wrap="square" lIns="0" tIns="0" rIns="0" bIns="0" anchor="t">
            <a:spAutoFit/>
          </a:bodyPr>
          <a:lstStyle/>
          <a:p>
            <a:pPr algn="l"/>
            <a:r>
              <a:rPr sz="1500" b="0" i="1">
                <a:latin typeface="Calibri"/>
              </a:rPr>
              <a:t>Adapted from Biggs et al. (2012) and Wood et al. (2023), with critical examples from Viet Nam</a:t>
            </a:r>
          </a:p>
        </p:txBody>
      </p:sp>
      <p:sp>
        <p:nvSpPr>
          <p:cNvPr id="4" name="Principle card 1"/>
          <p:cNvSpPr/>
          <p:nvPr/>
        </p:nvSpPr>
        <p:spPr>
          <a:xfrm>
            <a:off x="548640" y="160020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777240"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1</a:t>
            </a:r>
          </a:p>
        </p:txBody>
      </p:sp>
      <p:sp>
        <p:nvSpPr>
          <p:cNvPr id="6" name="TextBox 5"/>
          <p:cNvSpPr txBox="1"/>
          <p:nvPr/>
        </p:nvSpPr>
        <p:spPr>
          <a:xfrm>
            <a:off x="1463040" y="1828800"/>
            <a:ext cx="2423160" cy="548640"/>
          </a:xfrm>
          <a:prstGeom prst="rect">
            <a:avLst/>
          </a:prstGeom>
          <a:noFill/>
        </p:spPr>
        <p:txBody>
          <a:bodyPr wrap="square" lIns="0" tIns="0" rIns="0" bIns="0" anchor="ctr">
            <a:spAutoFit/>
          </a:bodyPr>
          <a:lstStyle/>
          <a:p>
            <a:pPr algn="l"/>
            <a:r>
              <a:rPr sz="1700" b="1" i="0">
                <a:solidFill>
                  <a:srgbClr val="15607A"/>
                </a:solidFill>
                <a:latin typeface="Calibri"/>
              </a:rPr>
              <a:t>Keep diversity and redundancy</a:t>
            </a:r>
          </a:p>
        </p:txBody>
      </p:sp>
      <p:sp>
        <p:nvSpPr>
          <p:cNvPr id="7" name="Sign 1"/>
          <p:cNvSpPr/>
          <p:nvPr/>
        </p:nvSpPr>
        <p:spPr>
          <a:xfrm>
            <a:off x="777240" y="262432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8" name="TextBox 7"/>
          <p:cNvSpPr txBox="1"/>
          <p:nvPr/>
        </p:nvSpPr>
        <p:spPr>
          <a:xfrm>
            <a:off x="1280160" y="2514600"/>
            <a:ext cx="2606040" cy="1077218"/>
          </a:xfrm>
          <a:prstGeom prst="rect">
            <a:avLst/>
          </a:prstGeom>
          <a:noFill/>
        </p:spPr>
        <p:txBody>
          <a:bodyPr wrap="square" lIns="0" tIns="0" rIns="0" bIns="0" anchor="t">
            <a:spAutoFit/>
          </a:bodyPr>
          <a:lstStyle/>
          <a:p>
            <a:pPr algn="l"/>
            <a:r>
              <a:rPr sz="1400" b="0" i="0">
                <a:solidFill>
                  <a:srgbClr val="222B33"/>
                </a:solidFill>
                <a:latin typeface="Calibri"/>
              </a:rPr>
              <a:t>In Moc Chau, a mix of food sources and decentralised supply routes meant that when one channel failed during COVID-19, others kept food reaching households.</a:t>
            </a:r>
          </a:p>
        </p:txBody>
      </p:sp>
      <p:sp>
        <p:nvSpPr>
          <p:cNvPr id="9" name="Principle card 2"/>
          <p:cNvSpPr/>
          <p:nvPr/>
        </p:nvSpPr>
        <p:spPr>
          <a:xfrm>
            <a:off x="4297679" y="160020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4526279"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2</a:t>
            </a:r>
          </a:p>
        </p:txBody>
      </p:sp>
      <p:sp>
        <p:nvSpPr>
          <p:cNvPr id="11" name="TextBox 10"/>
          <p:cNvSpPr txBox="1"/>
          <p:nvPr/>
        </p:nvSpPr>
        <p:spPr>
          <a:xfrm>
            <a:off x="5212079" y="1828800"/>
            <a:ext cx="2423160" cy="548640"/>
          </a:xfrm>
          <a:prstGeom prst="rect">
            <a:avLst/>
          </a:prstGeom>
          <a:noFill/>
        </p:spPr>
        <p:txBody>
          <a:bodyPr wrap="square" lIns="0" tIns="0" rIns="0" bIns="0" anchor="ctr">
            <a:spAutoFit/>
          </a:bodyPr>
          <a:lstStyle/>
          <a:p>
            <a:pPr algn="l"/>
            <a:r>
              <a:rPr sz="1700" b="1" i="0">
                <a:solidFill>
                  <a:srgbClr val="15607A"/>
                </a:solidFill>
                <a:latin typeface="Calibri"/>
              </a:rPr>
              <a:t>Manage connectivity</a:t>
            </a:r>
          </a:p>
        </p:txBody>
      </p:sp>
      <p:sp>
        <p:nvSpPr>
          <p:cNvPr id="12" name="Sign 2"/>
          <p:cNvSpPr/>
          <p:nvPr/>
        </p:nvSpPr>
        <p:spPr>
          <a:xfrm>
            <a:off x="4526279" y="262432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13" name="TextBox 12"/>
          <p:cNvSpPr txBox="1"/>
          <p:nvPr/>
        </p:nvSpPr>
        <p:spPr>
          <a:xfrm>
            <a:off x="5029199" y="2514600"/>
            <a:ext cx="2606040" cy="1077218"/>
          </a:xfrm>
          <a:prstGeom prst="rect">
            <a:avLst/>
          </a:prstGeom>
          <a:noFill/>
        </p:spPr>
        <p:txBody>
          <a:bodyPr wrap="square" lIns="0" tIns="0" rIns="0" bIns="0" anchor="t">
            <a:spAutoFit/>
          </a:bodyPr>
          <a:lstStyle/>
          <a:p>
            <a:pPr algn="l"/>
            <a:r>
              <a:rPr sz="1400" b="0" i="0">
                <a:solidFill>
                  <a:srgbClr val="222B33"/>
                </a:solidFill>
                <a:latin typeface="Calibri"/>
              </a:rPr>
              <a:t>In 2007–08, several exporters, Viet Nam included, banned rice exports. Tightly linked markets passed the shock on, turning ample global supply into a price spike.</a:t>
            </a:r>
          </a:p>
        </p:txBody>
      </p:sp>
      <p:sp>
        <p:nvSpPr>
          <p:cNvPr id="14" name="Principle card 3"/>
          <p:cNvSpPr/>
          <p:nvPr/>
        </p:nvSpPr>
        <p:spPr>
          <a:xfrm>
            <a:off x="8046719" y="160020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8275319"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3</a:t>
            </a:r>
          </a:p>
        </p:txBody>
      </p:sp>
      <p:sp>
        <p:nvSpPr>
          <p:cNvPr id="16" name="TextBox 15"/>
          <p:cNvSpPr txBox="1"/>
          <p:nvPr/>
        </p:nvSpPr>
        <p:spPr>
          <a:xfrm>
            <a:off x="8961119" y="1828800"/>
            <a:ext cx="2423160" cy="548640"/>
          </a:xfrm>
          <a:prstGeom prst="rect">
            <a:avLst/>
          </a:prstGeom>
          <a:noFill/>
        </p:spPr>
        <p:txBody>
          <a:bodyPr wrap="square" lIns="0" tIns="0" rIns="0" bIns="0" anchor="ctr">
            <a:spAutoFit/>
          </a:bodyPr>
          <a:lstStyle/>
          <a:p>
            <a:pPr algn="l"/>
            <a:r>
              <a:rPr sz="1700" b="1" i="0">
                <a:solidFill>
                  <a:srgbClr val="15607A"/>
                </a:solidFill>
                <a:latin typeface="Calibri"/>
              </a:rPr>
              <a:t>Watch slow variables</a:t>
            </a:r>
          </a:p>
        </p:txBody>
      </p:sp>
      <p:sp>
        <p:nvSpPr>
          <p:cNvPr id="17" name="Sign 3"/>
          <p:cNvSpPr/>
          <p:nvPr/>
        </p:nvSpPr>
        <p:spPr>
          <a:xfrm>
            <a:off x="8275319" y="262432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18" name="TextBox 17"/>
          <p:cNvSpPr txBox="1"/>
          <p:nvPr/>
        </p:nvSpPr>
        <p:spPr>
          <a:xfrm>
            <a:off x="8778240" y="2514600"/>
            <a:ext cx="2606040" cy="1077218"/>
          </a:xfrm>
          <a:prstGeom prst="rect">
            <a:avLst/>
          </a:prstGeom>
          <a:noFill/>
        </p:spPr>
        <p:txBody>
          <a:bodyPr wrap="square" lIns="0" tIns="0" rIns="0" bIns="0" anchor="t">
            <a:spAutoFit/>
          </a:bodyPr>
          <a:lstStyle/>
          <a:p>
            <a:pPr algn="l"/>
            <a:r>
              <a:rPr sz="1400" b="0" i="0">
                <a:solidFill>
                  <a:srgbClr val="222B33"/>
                </a:solidFill>
                <a:latin typeface="Calibri"/>
              </a:rPr>
              <a:t>Salinity in the Mekong Delta is rising slowly, while policy built around rice makes it harder for farmers to shift to systems suited to saltier conditions.</a:t>
            </a:r>
          </a:p>
        </p:txBody>
      </p:sp>
      <p:sp>
        <p:nvSpPr>
          <p:cNvPr id="19" name="Principle card 4"/>
          <p:cNvSpPr/>
          <p:nvPr/>
        </p:nvSpPr>
        <p:spPr>
          <a:xfrm>
            <a:off x="548640" y="401828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777240" y="42468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4</a:t>
            </a:r>
          </a:p>
        </p:txBody>
      </p:sp>
      <p:sp>
        <p:nvSpPr>
          <p:cNvPr id="21" name="TextBox 20"/>
          <p:cNvSpPr txBox="1"/>
          <p:nvPr/>
        </p:nvSpPr>
        <p:spPr>
          <a:xfrm>
            <a:off x="1463040" y="4246880"/>
            <a:ext cx="2423160" cy="548640"/>
          </a:xfrm>
          <a:prstGeom prst="rect">
            <a:avLst/>
          </a:prstGeom>
          <a:noFill/>
        </p:spPr>
        <p:txBody>
          <a:bodyPr wrap="square" lIns="0" tIns="0" rIns="0" bIns="0" anchor="ctr">
            <a:spAutoFit/>
          </a:bodyPr>
          <a:lstStyle/>
          <a:p>
            <a:pPr algn="l"/>
            <a:r>
              <a:rPr sz="1700" b="1" i="0">
                <a:solidFill>
                  <a:srgbClr val="15607A"/>
                </a:solidFill>
                <a:latin typeface="Calibri"/>
              </a:rPr>
              <a:t>Learn and experiment</a:t>
            </a:r>
          </a:p>
        </p:txBody>
      </p:sp>
      <p:sp>
        <p:nvSpPr>
          <p:cNvPr id="22" name="Sign 4"/>
          <p:cNvSpPr/>
          <p:nvPr/>
        </p:nvSpPr>
        <p:spPr>
          <a:xfrm>
            <a:off x="777240" y="504240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23" name="TextBox 22"/>
          <p:cNvSpPr txBox="1"/>
          <p:nvPr/>
        </p:nvSpPr>
        <p:spPr>
          <a:xfrm>
            <a:off x="1280160" y="4932680"/>
            <a:ext cx="2606040" cy="861774"/>
          </a:xfrm>
          <a:prstGeom prst="rect">
            <a:avLst/>
          </a:prstGeom>
          <a:noFill/>
        </p:spPr>
        <p:txBody>
          <a:bodyPr wrap="square" lIns="0" tIns="0" rIns="0" bIns="0" anchor="t">
            <a:spAutoFit/>
          </a:bodyPr>
          <a:lstStyle/>
          <a:p>
            <a:pPr algn="l"/>
            <a:r>
              <a:rPr sz="1400" b="0" i="0">
                <a:solidFill>
                  <a:srgbClr val="222B33"/>
                </a:solidFill>
                <a:latin typeface="Calibri"/>
              </a:rPr>
              <a:t>Farmer Field Schools let farmers test practices in their own fields and decide together; strong at farm level, but never fully mainstreamed into extension.</a:t>
            </a:r>
          </a:p>
        </p:txBody>
      </p:sp>
      <p:sp>
        <p:nvSpPr>
          <p:cNvPr id="24" name="Principle card 5"/>
          <p:cNvSpPr/>
          <p:nvPr/>
        </p:nvSpPr>
        <p:spPr>
          <a:xfrm>
            <a:off x="4297679" y="401828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4526279" y="42468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5</a:t>
            </a:r>
          </a:p>
        </p:txBody>
      </p:sp>
      <p:sp>
        <p:nvSpPr>
          <p:cNvPr id="26" name="TextBox 25"/>
          <p:cNvSpPr txBox="1"/>
          <p:nvPr/>
        </p:nvSpPr>
        <p:spPr>
          <a:xfrm>
            <a:off x="5212079" y="4246880"/>
            <a:ext cx="2423160" cy="548640"/>
          </a:xfrm>
          <a:prstGeom prst="rect">
            <a:avLst/>
          </a:prstGeom>
          <a:noFill/>
        </p:spPr>
        <p:txBody>
          <a:bodyPr wrap="square" lIns="0" tIns="0" rIns="0" bIns="0" anchor="ctr">
            <a:spAutoFit/>
          </a:bodyPr>
          <a:lstStyle/>
          <a:p>
            <a:pPr algn="l"/>
            <a:r>
              <a:rPr sz="1700" b="1" i="0">
                <a:solidFill>
                  <a:srgbClr val="15607A"/>
                </a:solidFill>
                <a:latin typeface="Calibri"/>
              </a:rPr>
              <a:t>Broaden participation</a:t>
            </a:r>
          </a:p>
        </p:txBody>
      </p:sp>
      <p:sp>
        <p:nvSpPr>
          <p:cNvPr id="27" name="Sign 5"/>
          <p:cNvSpPr/>
          <p:nvPr/>
        </p:nvSpPr>
        <p:spPr>
          <a:xfrm>
            <a:off x="4526279" y="504240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28" name="TextBox 27"/>
          <p:cNvSpPr txBox="1"/>
          <p:nvPr/>
        </p:nvSpPr>
        <p:spPr>
          <a:xfrm>
            <a:off x="5029199" y="4932680"/>
            <a:ext cx="2606040" cy="861774"/>
          </a:xfrm>
          <a:prstGeom prst="rect">
            <a:avLst/>
          </a:prstGeom>
          <a:noFill/>
        </p:spPr>
        <p:txBody>
          <a:bodyPr wrap="square" lIns="0" tIns="0" rIns="0" bIns="0" anchor="t">
            <a:spAutoFit/>
          </a:bodyPr>
          <a:lstStyle/>
          <a:p>
            <a:pPr algn="l"/>
            <a:r>
              <a:rPr sz="1400" b="0" i="0">
                <a:solidFill>
                  <a:srgbClr val="222B33"/>
                </a:solidFill>
                <a:latin typeface="Calibri"/>
              </a:rPr>
              <a:t>In Ca Mau, resource policies built on state control, with little input from local users, did not make households more resilient.</a:t>
            </a:r>
          </a:p>
        </p:txBody>
      </p:sp>
      <p:sp>
        <p:nvSpPr>
          <p:cNvPr id="29" name="Principle card 6"/>
          <p:cNvSpPr/>
          <p:nvPr/>
        </p:nvSpPr>
        <p:spPr>
          <a:xfrm>
            <a:off x="8046719" y="401828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8275319" y="42468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6</a:t>
            </a:r>
          </a:p>
        </p:txBody>
      </p:sp>
      <p:sp>
        <p:nvSpPr>
          <p:cNvPr id="31" name="TextBox 30"/>
          <p:cNvSpPr txBox="1"/>
          <p:nvPr/>
        </p:nvSpPr>
        <p:spPr>
          <a:xfrm>
            <a:off x="8961119" y="4246880"/>
            <a:ext cx="2423160" cy="548640"/>
          </a:xfrm>
          <a:prstGeom prst="rect">
            <a:avLst/>
          </a:prstGeom>
          <a:noFill/>
        </p:spPr>
        <p:txBody>
          <a:bodyPr wrap="square" lIns="0" tIns="0" rIns="0" bIns="0" anchor="ctr">
            <a:spAutoFit/>
          </a:bodyPr>
          <a:lstStyle/>
          <a:p>
            <a:pPr algn="l"/>
            <a:r>
              <a:rPr sz="1700" b="1" i="0">
                <a:solidFill>
                  <a:srgbClr val="15607A"/>
                </a:solidFill>
                <a:latin typeface="Calibri"/>
              </a:rPr>
              <a:t>Share governance</a:t>
            </a:r>
          </a:p>
        </p:txBody>
      </p:sp>
      <p:sp>
        <p:nvSpPr>
          <p:cNvPr id="32" name="Sign 6"/>
          <p:cNvSpPr/>
          <p:nvPr/>
        </p:nvSpPr>
        <p:spPr>
          <a:xfrm>
            <a:off x="8275319" y="504240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33" name="TextBox 32"/>
          <p:cNvSpPr txBox="1"/>
          <p:nvPr/>
        </p:nvSpPr>
        <p:spPr>
          <a:xfrm>
            <a:off x="8778240" y="4932680"/>
            <a:ext cx="2606040" cy="1077218"/>
          </a:xfrm>
          <a:prstGeom prst="rect">
            <a:avLst/>
          </a:prstGeom>
          <a:noFill/>
        </p:spPr>
        <p:txBody>
          <a:bodyPr wrap="square" lIns="0" tIns="0" rIns="0" bIns="0" anchor="t">
            <a:spAutoFit/>
          </a:bodyPr>
          <a:lstStyle/>
          <a:p>
            <a:pPr algn="l"/>
            <a:r>
              <a:rPr sz="1400" b="0" i="0">
                <a:solidFill>
                  <a:srgbClr val="222B33"/>
                </a:solidFill>
                <a:latin typeface="Calibri"/>
              </a:rPr>
              <a:t>In Red River Delta PGS groups, farmers, buyers and local officials share organic certification; local farmer groups were a key pillar of household resilience.</a:t>
            </a:r>
          </a:p>
        </p:txBody>
      </p:sp>
      <p:sp>
        <p:nvSpPr>
          <p:cNvPr id="34" name="Source"/>
          <p:cNvSpPr txBox="1"/>
          <p:nvPr/>
        </p:nvSpPr>
        <p:spPr>
          <a:xfrm>
            <a:off x="548640" y="6355080"/>
            <a:ext cx="11064240" cy="153888"/>
          </a:xfrm>
          <a:prstGeom prst="rect">
            <a:avLst/>
          </a:prstGeom>
          <a:noFill/>
        </p:spPr>
        <p:txBody>
          <a:bodyPr wrap="square" lIns="0" tIns="0" rIns="0" bIns="0" anchor="t">
            <a:spAutoFit/>
          </a:bodyPr>
          <a:lstStyle/>
          <a:p>
            <a:pPr algn="l"/>
            <a:r>
              <a:rPr sz="1000" b="0" i="0">
                <a:solidFill>
                  <a:srgbClr val="6B757D"/>
                </a:solidFill>
                <a:latin typeface="Calibri"/>
              </a:rPr>
              <a:t>Sources: Biggs et al. (2012); Wood et al. (2023); Bruckert &amp; Nguyen (2024); Dawe &amp; Slayton (2011); Nguyen et al. (2019); van de Fliert et al. (2007); Tran (2012); Thi et al. (2026)</a:t>
            </a:r>
            <a:r>
              <a:rPr lang="en-US" sz="1000" b="0" i="0">
                <a:solidFill>
                  <a:srgbClr val="6B757D"/>
                </a:solidFill>
                <a:latin typeface="Calibri"/>
              </a:rPr>
              <a:t/>
            </a:r>
            <a:r>
              <a:rPr sz="1000" b="0" i="0">
                <a:solidFill>
                  <a:srgbClr val="6B757D"/>
                </a:solidFill>
                <a:latin typeface="Calibri"/>
              </a:rPr>
              <a:t/>
            </a:r>
          </a:p>
        </p:txBody>
      </p:sp>
    </p:spTree>
    <p:extLst>
      <p:ext uri="{BB962C8B-B14F-4D97-AF65-F5344CB8AC3E}">
        <p14:creationId xmlns:p14="http://schemas.microsoft.com/office/powerpoint/2010/main" val="4181960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24"/>
          <p:cNvPicPr preferRelativeResize="0"/>
          <p:nvPr/>
        </p:nvPicPr>
        <p:blipFill rotWithShape="1">
          <a:blip r:embed="rId3">
            <a:alphaModFix/>
          </a:blip>
          <a:srcRect t="1334"/>
          <a:stretch/>
        </p:blipFill>
        <p:spPr>
          <a:xfrm>
            <a:off x="21" y="-13261"/>
            <a:ext cx="12191980" cy="6856717"/>
          </a:xfrm>
          <a:prstGeom prst="rect">
            <a:avLst/>
          </a:prstGeom>
          <a:noFill/>
          <a:ln>
            <a:noFill/>
          </a:ln>
        </p:spPr>
      </p:pic>
      <p:sp>
        <p:nvSpPr>
          <p:cNvPr id="465" name="Google Shape;465;p24"/>
          <p:cNvSpPr txBox="1"/>
          <p:nvPr/>
        </p:nvSpPr>
        <p:spPr>
          <a:xfrm>
            <a:off x="2090297" y="1204658"/>
            <a:ext cx="1401049" cy="646290"/>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Before 1986: Centrally planned economy</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6" name="Google Shape;466;p24"/>
          <p:cNvSpPr txBox="1"/>
          <p:nvPr/>
        </p:nvSpPr>
        <p:spPr>
          <a:xfrm>
            <a:off x="5277114" y="1527823"/>
            <a:ext cx="1637775"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1988: Resolution 10-NQ/TW (Contract 10) – Output breakthrough</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7" name="Google Shape;467;p24"/>
          <p:cNvSpPr txBox="1"/>
          <p:nvPr/>
        </p:nvSpPr>
        <p:spPr>
          <a:xfrm>
            <a:off x="8135145" y="1019990"/>
            <a:ext cx="2359673"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2002–2008: Resolutions 15-NQ/TW and 26-NQ/TW – Improving quality and developing value chains</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8" name="Google Shape;468;p24"/>
          <p:cNvSpPr txBox="1"/>
          <p:nvPr/>
        </p:nvSpPr>
        <p:spPr>
          <a:xfrm>
            <a:off x="9945065" y="2297370"/>
            <a:ext cx="2025263" cy="1015622"/>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2013: Decision 899/QĐ-TTg on agricultural restructuring – Focus on raising added value and sustainable development</a:t>
            </a:r>
            <a:endParaRPr kumimoji="0"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469" name="Google Shape;469;p24"/>
          <p:cNvSpPr txBox="1"/>
          <p:nvPr/>
        </p:nvSpPr>
        <p:spPr>
          <a:xfrm>
            <a:off x="193055" y="3520954"/>
            <a:ext cx="2695620" cy="1015622"/>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2021: National Green Growth Strategy (Decision 1658/QĐ-TTg) and commitment to transparent, responsible and sustainable food systems transformation</a:t>
            </a:r>
            <a:endParaRPr kumimoji="0"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470" name="Google Shape;470;p24"/>
          <p:cNvSpPr txBox="1"/>
          <p:nvPr/>
        </p:nvSpPr>
        <p:spPr>
          <a:xfrm>
            <a:off x="5474368" y="5017766"/>
            <a:ext cx="2100605"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2022: Resolution 19-NQ/TW – Shift toward multi-value agriculture and ecological agriculture</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71" name="Google Shape;471;p24"/>
          <p:cNvSpPr txBox="1"/>
          <p:nvPr/>
        </p:nvSpPr>
        <p:spPr>
          <a:xfrm>
            <a:off x="9574926" y="5481457"/>
            <a:ext cx="2359673" cy="1200288"/>
          </a:xfrm>
          <a:prstGeom prst="rect">
            <a:avLst/>
          </a:prstGeom>
          <a:noFill/>
          <a:ln>
            <a:noFill/>
          </a:ln>
        </p:spPr>
        <p:txBody>
          <a:bodyPr spcFirstLastPara="1" wrap="square" lIns="91433" tIns="45700" rIns="91433" bIns="45700" anchor="t" anchorCtr="0">
            <a:spAutoFit/>
          </a:bodyPr>
          <a:lstStyle/>
          <a:p>
            <a:pPr lvl="0" algn="ctr">
              <a:buClr>
                <a:srgbClr val="000000"/>
              </a:buClr>
              <a:buSzPts val="900"/>
              <a:defRPr/>
            </a:pPr>
            <a:r>
              <a:rPr kumimoji="0" lang="en-US" sz="1200" b="1" i="0" u="none" strike="noStrike" kern="1200" cap="none" spc="0" normalizeH="0" baseline="0" noProof="0">
                <a:ln>
                  <a:noFill/>
                </a:ln>
                <a:solidFill>
                  <a:srgbClr val="FF0000"/>
                </a:solidFill>
                <a:effectLst/>
                <a:uLnTx/>
                <a:uFillTx/>
                <a:latin typeface="Times New Roman"/>
                <a:ea typeface="Times New Roman"/>
                <a:cs typeface="Times New Roman"/>
                <a:sym typeface="Times New Roman"/>
              </a:rPr>
              <a:t>2023: National Action Plan for Food Systems Transformation</a:t>
            </a:r>
            <a:r>
              <a:rPr lang="en-US" sz="1200" b="1">
                <a:solidFill>
                  <a:srgbClr val="FF0000"/>
                </a:solidFill>
                <a:latin typeface="Times New Roman"/>
                <a:ea typeface="Times New Roman"/>
                <a:cs typeface="Times New Roman"/>
                <a:sym typeface="Times New Roman"/>
              </a:rPr>
              <a:t> towards Transparency, Responsibility and Sustainability</a:t>
            </a:r>
            <a:r>
              <a:rPr kumimoji="0" lang="en-US" sz="1200" b="1" i="0" u="none" strike="noStrike" kern="1200" cap="none" spc="0" normalizeH="0" baseline="0" noProof="0">
                <a:ln>
                  <a:noFill/>
                </a:ln>
                <a:solidFill>
                  <a:srgbClr val="FF0000"/>
                </a:solidFill>
                <a:effectLst/>
                <a:uLnTx/>
                <a:uFillTx/>
                <a:latin typeface="Times New Roman"/>
                <a:ea typeface="Times New Roman"/>
                <a:cs typeface="Times New Roman"/>
                <a:sym typeface="Times New Roman"/>
              </a:rPr>
              <a:t> in Vietnam until 2030 (Decision 300/QĐ-TTg)</a:t>
            </a:r>
            <a:endParaRPr kumimoji="0" sz="1467" b="0" i="0" u="none" strike="noStrike" kern="1200" cap="none" spc="0" normalizeH="0" baseline="0" noProof="0">
              <a:ln>
                <a:noFill/>
              </a:ln>
              <a:solidFill>
                <a:srgbClr val="FF0000"/>
              </a:solidFill>
              <a:effectLst/>
              <a:uLnTx/>
              <a:uFillTx/>
              <a:latin typeface="Arial"/>
              <a:ea typeface="Arial"/>
              <a:cs typeface="Arial"/>
              <a:sym typeface="Arial"/>
            </a:endParaRPr>
          </a:p>
        </p:txBody>
      </p:sp>
      <p:sp>
        <p:nvSpPr>
          <p:cNvPr id="472" name="Google Shape;472;p24"/>
          <p:cNvSpPr/>
          <p:nvPr/>
        </p:nvSpPr>
        <p:spPr>
          <a:xfrm>
            <a:off x="257403" y="6178681"/>
            <a:ext cx="4002840" cy="636912"/>
          </a:xfrm>
          <a:prstGeom prst="flowChartTerminator">
            <a:avLst/>
          </a:prstGeom>
          <a:solidFill>
            <a:srgbClr val="EDE8DD"/>
          </a:solidFill>
          <a:ln>
            <a:noFill/>
          </a:ln>
        </p:spPr>
        <p:txBody>
          <a:bodyPr spcFirstLastPara="1" wrap="square" lIns="91433" tIns="45700" rIns="91433" bIns="45700" anchor="ctr"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Policy focus</a:t>
            </a:r>
            <a:r>
              <a:rPr kumimoji="0" lang="en-US" sz="1200" b="0"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 Output and economic value</a:t>
            </a:r>
            <a:endParaRPr kumimoji="0" sz="1467" b="0" i="0" u="none" strike="noStrike" kern="1200" cap="none" spc="0" normalizeH="0" baseline="0" noProof="0">
              <a:ln>
                <a:noFill/>
              </a:ln>
              <a:solidFill>
                <a:srgbClr val="C00000"/>
              </a:solidFill>
              <a:effectLst/>
              <a:uLnTx/>
              <a:uFillTx/>
              <a:latin typeface="Arial"/>
              <a:ea typeface="Arial"/>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Focus on </a:t>
            </a:r>
            <a:r>
              <a:rPr kumimoji="0" lang="en-US"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agriculture</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73" name="Google Shape;473;p24"/>
          <p:cNvSpPr txBox="1"/>
          <p:nvPr/>
        </p:nvSpPr>
        <p:spPr>
          <a:xfrm>
            <a:off x="1412724" y="26311"/>
            <a:ext cx="10140649" cy="523180"/>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100"/>
              <a:buFontTx/>
              <a:buNone/>
              <a:tabLst/>
              <a:defRPr/>
            </a:pPr>
            <a:r>
              <a:rPr kumimoji="0" lang="en-US" sz="28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Policies towards food systems transformation in Vietnam</a:t>
            </a:r>
            <a:endParaRPr kumimoji="0" sz="1867"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pic>
        <p:nvPicPr>
          <p:cNvPr id="474" name="Google Shape;474;p24"/>
          <p:cNvPicPr preferRelativeResize="0"/>
          <p:nvPr/>
        </p:nvPicPr>
        <p:blipFill rotWithShape="1">
          <a:blip r:embed="rId4">
            <a:alphaModFix/>
          </a:blip>
          <a:srcRect/>
          <a:stretch/>
        </p:blipFill>
        <p:spPr>
          <a:xfrm>
            <a:off x="5788067" y="6178668"/>
            <a:ext cx="3161399" cy="636933"/>
          </a:xfrm>
          <a:prstGeom prst="rect">
            <a:avLst/>
          </a:prstGeom>
          <a:noFill/>
          <a:ln>
            <a:noFill/>
          </a:ln>
        </p:spPr>
      </p:pic>
      <p:pic>
        <p:nvPicPr>
          <p:cNvPr id="475" name="Google Shape;475;p24"/>
          <p:cNvPicPr preferRelativeResize="0"/>
          <p:nvPr/>
        </p:nvPicPr>
        <p:blipFill rotWithShape="1">
          <a:blip r:embed="rId4">
            <a:alphaModFix/>
          </a:blip>
          <a:srcRect/>
          <a:stretch/>
        </p:blipFill>
        <p:spPr>
          <a:xfrm>
            <a:off x="-1" y="5903600"/>
            <a:ext cx="7107635" cy="954400"/>
          </a:xfrm>
          <a:prstGeom prst="rect">
            <a:avLst/>
          </a:prstGeom>
          <a:noFill/>
          <a:ln>
            <a:noFill/>
          </a:ln>
        </p:spPr>
      </p:pic>
      <p:pic>
        <p:nvPicPr>
          <p:cNvPr id="476" name="Google Shape;476;p24"/>
          <p:cNvPicPr preferRelativeResize="0"/>
          <p:nvPr/>
        </p:nvPicPr>
        <p:blipFill rotWithShape="1">
          <a:blip r:embed="rId4">
            <a:alphaModFix/>
          </a:blip>
          <a:srcRect/>
          <a:stretch/>
        </p:blipFill>
        <p:spPr>
          <a:xfrm>
            <a:off x="0" y="4602143"/>
            <a:ext cx="2915065" cy="636933"/>
          </a:xfrm>
          <a:prstGeom prst="rect">
            <a:avLst/>
          </a:prstGeom>
          <a:noFill/>
          <a:ln>
            <a:noFill/>
          </a:ln>
        </p:spPr>
      </p:pic>
    </p:spTree>
    <p:extLst>
      <p:ext uri="{BB962C8B-B14F-4D97-AF65-F5344CB8AC3E}">
        <p14:creationId xmlns:p14="http://schemas.microsoft.com/office/powerpoint/2010/main" val="2587872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492443"/>
          </a:xfrm>
          <a:prstGeom prst="rect">
            <a:avLst/>
          </a:prstGeom>
          <a:noFill/>
        </p:spPr>
        <p:txBody>
          <a:bodyPr wrap="square" lIns="0" tIns="0" rIns="0" bIns="0" anchor="t">
            <a:spAutoFit/>
          </a:bodyPr>
          <a:lstStyle/>
          <a:p>
            <a:pPr algn="l"/>
            <a:r>
              <a:rPr sz="3200" b="1" i="0">
                <a:solidFill>
                  <a:srgbClr val="15607A"/>
                </a:solidFill>
                <a:latin typeface="Calibri"/>
              </a:rPr>
              <a:t>Sub-national </a:t>
            </a:r>
            <a:r>
              <a:rPr lang="en-US" sz="3200" b="1" i="0">
                <a:solidFill>
                  <a:srgbClr val="15607A"/>
                </a:solidFill>
                <a:latin typeface="Calibri"/>
              </a:rPr>
              <a:t>implementation</a:t>
            </a:r>
            <a:endParaRPr sz="3200" b="1" i="0">
              <a:solidFill>
                <a:srgbClr val="15607A"/>
              </a:solidFill>
              <a:latin typeface="Calibri"/>
            </a:endParaRPr>
          </a:p>
        </p:txBody>
      </p:sp>
      <p:sp>
        <p:nvSpPr>
          <p:cNvPr id="3" name="TextBox 2"/>
          <p:cNvSpPr txBox="1"/>
          <p:nvPr/>
        </p:nvSpPr>
        <p:spPr>
          <a:xfrm>
            <a:off x="548640" y="1051560"/>
            <a:ext cx="6766560" cy="215444"/>
          </a:xfrm>
          <a:prstGeom prst="rect">
            <a:avLst/>
          </a:prstGeom>
          <a:noFill/>
        </p:spPr>
        <p:txBody>
          <a:bodyPr wrap="square" lIns="0" tIns="0" rIns="0" bIns="0" anchor="t">
            <a:spAutoFit/>
          </a:bodyPr>
          <a:lstStyle/>
          <a:p>
            <a:pPr algn="l"/>
            <a:r>
              <a:rPr lang="en-US" sz="1400" b="1" i="1">
                <a:latin typeface="Calibri"/>
              </a:rPr>
              <a:t>Sub-national </a:t>
            </a:r>
            <a:r>
              <a:rPr sz="1400" b="1" i="1">
                <a:latin typeface="Calibri"/>
              </a:rPr>
              <a:t>Food Systems Transformation Decision Support</a:t>
            </a:r>
          </a:p>
        </p:txBody>
      </p:sp>
      <p:sp>
        <p:nvSpPr>
          <p:cNvPr id="35" name="TextBox 34"/>
          <p:cNvSpPr txBox="1"/>
          <p:nvPr/>
        </p:nvSpPr>
        <p:spPr>
          <a:xfrm>
            <a:off x="7703819" y="1296442"/>
            <a:ext cx="3931920" cy="411480"/>
          </a:xfrm>
          <a:prstGeom prst="rect">
            <a:avLst/>
          </a:prstGeom>
          <a:noFill/>
        </p:spPr>
        <p:txBody>
          <a:bodyPr wrap="square" lIns="0" tIns="0" rIns="0" bIns="0" anchor="t">
            <a:spAutoFit/>
          </a:bodyPr>
          <a:lstStyle/>
          <a:p>
            <a:pPr algn="l"/>
            <a:r>
              <a:rPr sz="1800" b="1" i="0">
                <a:solidFill>
                  <a:srgbClr val="222B33"/>
                </a:solidFill>
                <a:latin typeface="Calibri"/>
              </a:rPr>
              <a:t>Leverage points for resilience</a:t>
            </a:r>
          </a:p>
        </p:txBody>
      </p:sp>
      <p:sp>
        <p:nvSpPr>
          <p:cNvPr id="36" name="Leverage Agroecology"/>
          <p:cNvSpPr/>
          <p:nvPr/>
        </p:nvSpPr>
        <p:spPr>
          <a:xfrm>
            <a:off x="7680960" y="1828800"/>
            <a:ext cx="3931920" cy="146304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7955279" y="1938528"/>
            <a:ext cx="3383280" cy="365760"/>
          </a:xfrm>
          <a:prstGeom prst="rect">
            <a:avLst/>
          </a:prstGeom>
          <a:noFill/>
        </p:spPr>
        <p:txBody>
          <a:bodyPr wrap="square" lIns="0" tIns="0" rIns="0" bIns="0" anchor="t">
            <a:spAutoFit/>
          </a:bodyPr>
          <a:lstStyle/>
          <a:p>
            <a:pPr algn="l"/>
            <a:r>
              <a:rPr sz="1900" b="1" i="0">
                <a:solidFill>
                  <a:srgbClr val="4E8F3A"/>
                </a:solidFill>
                <a:latin typeface="Calibri"/>
              </a:rPr>
              <a:t>Agroecology</a:t>
            </a:r>
          </a:p>
        </p:txBody>
      </p:sp>
      <p:sp>
        <p:nvSpPr>
          <p:cNvPr id="38" name="TextBox 37"/>
          <p:cNvSpPr txBox="1"/>
          <p:nvPr/>
        </p:nvSpPr>
        <p:spPr>
          <a:xfrm>
            <a:off x="7955279" y="2331720"/>
            <a:ext cx="3429000" cy="914400"/>
          </a:xfrm>
          <a:prstGeom prst="rect">
            <a:avLst/>
          </a:prstGeom>
          <a:noFill/>
        </p:spPr>
        <p:txBody>
          <a:bodyPr wrap="square" lIns="0" tIns="0" rIns="0" bIns="0" anchor="t">
            <a:spAutoFit/>
          </a:bodyPr>
          <a:lstStyle/>
          <a:p>
            <a:pPr algn="l"/>
            <a:r>
              <a:rPr sz="1300" b="0" i="0">
                <a:solidFill>
                  <a:srgbClr val="222B33"/>
                </a:solidFill>
                <a:latin typeface="Calibri"/>
              </a:rPr>
              <a:t>Diverse farms with fewer bought inputs and healthier soils cope better with price and climate shocks, as Moc Chau showed during the pandemic.</a:t>
            </a:r>
          </a:p>
        </p:txBody>
      </p:sp>
      <p:sp>
        <p:nvSpPr>
          <p:cNvPr id="39" name="Leverage Healthy diets"/>
          <p:cNvSpPr/>
          <p:nvPr/>
        </p:nvSpPr>
        <p:spPr>
          <a:xfrm>
            <a:off x="7680960" y="3429000"/>
            <a:ext cx="3931920" cy="1463040"/>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7955279" y="3538728"/>
            <a:ext cx="3383280" cy="365760"/>
          </a:xfrm>
          <a:prstGeom prst="rect">
            <a:avLst/>
          </a:prstGeom>
          <a:noFill/>
        </p:spPr>
        <p:txBody>
          <a:bodyPr wrap="square" lIns="0" tIns="0" rIns="0" bIns="0" anchor="t">
            <a:spAutoFit/>
          </a:bodyPr>
          <a:lstStyle/>
          <a:p>
            <a:pPr algn="l"/>
            <a:r>
              <a:rPr sz="1900" b="1" i="0">
                <a:solidFill>
                  <a:srgbClr val="E26E24"/>
                </a:solidFill>
                <a:latin typeface="Calibri"/>
              </a:rPr>
              <a:t>Healthy diets</a:t>
            </a:r>
          </a:p>
        </p:txBody>
      </p:sp>
      <p:sp>
        <p:nvSpPr>
          <p:cNvPr id="41" name="TextBox 40"/>
          <p:cNvSpPr txBox="1"/>
          <p:nvPr/>
        </p:nvSpPr>
        <p:spPr>
          <a:xfrm>
            <a:off x="7955279" y="3931920"/>
            <a:ext cx="3429000" cy="914400"/>
          </a:xfrm>
          <a:prstGeom prst="rect">
            <a:avLst/>
          </a:prstGeom>
          <a:noFill/>
        </p:spPr>
        <p:txBody>
          <a:bodyPr wrap="square" lIns="0" tIns="0" rIns="0" bIns="0" anchor="t">
            <a:spAutoFit/>
          </a:bodyPr>
          <a:lstStyle/>
          <a:p>
            <a:pPr algn="l"/>
            <a:r>
              <a:rPr sz="1300" b="0" i="0">
                <a:solidFill>
                  <a:srgbClr val="222B33"/>
                </a:solidFill>
                <a:latin typeface="Calibri"/>
              </a:rPr>
              <a:t>After shocks, poor households fall back on rice. Demand for diverse local foods and nutrition-sensitive programmes help protect them.</a:t>
            </a:r>
          </a:p>
        </p:txBody>
      </p:sp>
      <p:sp>
        <p:nvSpPr>
          <p:cNvPr id="42" name="Source"/>
          <p:cNvSpPr txBox="1"/>
          <p:nvPr/>
        </p:nvSpPr>
        <p:spPr>
          <a:xfrm>
            <a:off x="701040" y="6309360"/>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Sources: Sơn La Plan 161/KH-UBND (2025); Lundy et al. (2026); Bruckert &amp; Nguyen (2024); Hoang (2018)</a:t>
            </a:r>
          </a:p>
        </p:txBody>
      </p:sp>
      <p:pic>
        <p:nvPicPr>
          <p:cNvPr id="44" name="Picture 43">
            <a:extLst>
              <a:ext uri="{FF2B5EF4-FFF2-40B4-BE49-F238E27FC236}">
                <a16:creationId xmlns:a16="http://schemas.microsoft.com/office/drawing/2014/main" id="{85335A6E-AAD2-82D1-EEAE-29D6FB25A373}"/>
              </a:ext>
            </a:extLst>
          </p:cNvPr>
          <p:cNvPicPr>
            <a:picLocks noChangeAspect="1"/>
          </p:cNvPicPr>
          <p:nvPr/>
        </p:nvPicPr>
        <p:blipFill>
          <a:blip r:embed="rId3"/>
          <a:stretch>
            <a:fillRect/>
          </a:stretch>
        </p:blipFill>
        <p:spPr>
          <a:xfrm>
            <a:off x="701040" y="1396353"/>
            <a:ext cx="6248399" cy="4593506"/>
          </a:xfrm>
          <a:prstGeom prst="rect">
            <a:avLst/>
          </a:prstGeom>
        </p:spPr>
      </p:pic>
      <p:sp>
        <p:nvSpPr>
          <p:cNvPr id="45" name="Photo area"/>
          <p:cNvSpPr/>
          <p:nvPr/>
        </p:nvSpPr>
        <p:spPr>
          <a:xfrm>
            <a:off x="7680960" y="5029200"/>
            <a:ext cx="3931920" cy="118872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492443"/>
          </a:xfrm>
          <a:prstGeom prst="rect">
            <a:avLst/>
          </a:prstGeom>
          <a:noFill/>
        </p:spPr>
        <p:txBody>
          <a:bodyPr wrap="square" lIns="0" tIns="0" rIns="0" bIns="0" anchor="t">
            <a:spAutoFit/>
          </a:bodyPr>
          <a:lstStyle/>
          <a:p>
            <a:pPr algn="l"/>
            <a:r>
              <a:rPr sz="3200" b="1" i="0">
                <a:solidFill>
                  <a:srgbClr val="15607A"/>
                </a:solidFill>
                <a:latin typeface="Calibri"/>
              </a:rPr>
              <a:t>Platforms for multi-stakeholder action</a:t>
            </a:r>
            <a:r>
              <a:rPr lang="en-US" sz="3200" b="1" i="0">
                <a:solidFill>
                  <a:srgbClr val="15607A"/>
                </a:solidFill>
                <a:latin typeface="Calibri"/>
              </a:rPr>
              <a:t>s</a:t>
            </a:r>
            <a:endParaRPr sz="3200" b="1" i="0">
              <a:solidFill>
                <a:srgbClr val="15607A"/>
              </a:solidFill>
              <a:latin typeface="Calibri"/>
            </a:endParaRPr>
          </a:p>
        </p:txBody>
      </p:sp>
      <p:sp>
        <p:nvSpPr>
          <p:cNvPr id="3" name="FST-Partnership card"/>
          <p:cNvSpPr/>
          <p:nvPr/>
        </p:nvSpPr>
        <p:spPr>
          <a:xfrm>
            <a:off x="548640" y="1371600"/>
            <a:ext cx="5440680" cy="219456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68680" y="1554480"/>
            <a:ext cx="4846320" cy="457200"/>
          </a:xfrm>
          <a:prstGeom prst="rect">
            <a:avLst/>
          </a:prstGeom>
          <a:noFill/>
        </p:spPr>
        <p:txBody>
          <a:bodyPr wrap="square" lIns="0" tIns="0" rIns="0" bIns="0" anchor="t">
            <a:spAutoFit/>
          </a:bodyPr>
          <a:lstStyle/>
          <a:p>
            <a:pPr algn="l"/>
            <a:r>
              <a:rPr sz="2400" b="1" i="0">
                <a:solidFill>
                  <a:srgbClr val="15607A"/>
                </a:solidFill>
                <a:latin typeface="Calibri"/>
              </a:rPr>
              <a:t>FST-Partnership</a:t>
            </a:r>
          </a:p>
        </p:txBody>
      </p:sp>
      <p:sp>
        <p:nvSpPr>
          <p:cNvPr id="5" name="TextBox 4"/>
          <p:cNvSpPr txBox="1"/>
          <p:nvPr/>
        </p:nvSpPr>
        <p:spPr>
          <a:xfrm>
            <a:off x="868680" y="2103120"/>
            <a:ext cx="1737360" cy="822960"/>
          </a:xfrm>
          <a:prstGeom prst="rect">
            <a:avLst/>
          </a:prstGeom>
          <a:noFill/>
        </p:spPr>
        <p:txBody>
          <a:bodyPr wrap="square" lIns="0" tIns="0" rIns="0" bIns="0" anchor="ctr">
            <a:spAutoFit/>
          </a:bodyPr>
          <a:lstStyle/>
          <a:p>
            <a:pPr algn="l"/>
            <a:r>
              <a:rPr sz="4000" b="1" i="0">
                <a:solidFill>
                  <a:srgbClr val="15607A"/>
                </a:solidFill>
                <a:latin typeface="Calibri"/>
              </a:rPr>
              <a:t>51</a:t>
            </a:r>
          </a:p>
        </p:txBody>
      </p:sp>
      <p:sp>
        <p:nvSpPr>
          <p:cNvPr id="6" name="TextBox 5"/>
          <p:cNvSpPr txBox="1"/>
          <p:nvPr/>
        </p:nvSpPr>
        <p:spPr>
          <a:xfrm>
            <a:off x="2651760" y="2103120"/>
            <a:ext cx="3017520" cy="822960"/>
          </a:xfrm>
          <a:prstGeom prst="rect">
            <a:avLst/>
          </a:prstGeom>
          <a:noFill/>
        </p:spPr>
        <p:txBody>
          <a:bodyPr wrap="square" lIns="0" tIns="0" rIns="0" bIns="0" anchor="ctr">
            <a:spAutoFit/>
          </a:bodyPr>
          <a:lstStyle/>
          <a:p>
            <a:pPr algn="l"/>
            <a:r>
              <a:rPr sz="1800" b="0" i="0">
                <a:solidFill>
                  <a:srgbClr val="222B33"/>
                </a:solidFill>
                <a:latin typeface="Calibri"/>
              </a:rPr>
              <a:t>partners</a:t>
            </a:r>
          </a:p>
        </p:txBody>
      </p:sp>
      <p:sp>
        <p:nvSpPr>
          <p:cNvPr id="7" name="TextBox 6"/>
          <p:cNvSpPr txBox="1"/>
          <p:nvPr/>
        </p:nvSpPr>
        <p:spPr>
          <a:xfrm>
            <a:off x="868680" y="2880360"/>
            <a:ext cx="4846320" cy="685800"/>
          </a:xfrm>
          <a:prstGeom prst="rect">
            <a:avLst/>
          </a:prstGeom>
          <a:noFill/>
        </p:spPr>
        <p:txBody>
          <a:bodyPr wrap="square" lIns="0" tIns="0" rIns="0" bIns="0" anchor="t">
            <a:spAutoFit/>
          </a:bodyPr>
          <a:lstStyle/>
          <a:p>
            <a:pPr algn="l"/>
            <a:r>
              <a:rPr sz="1400" b="0" i="0">
                <a:solidFill>
                  <a:srgbClr val="6B757D"/>
                </a:solidFill>
                <a:latin typeface="Calibri"/>
              </a:rPr>
              <a:t>Government-endorsed, chaired by MAE · 5 technical working groups · finance, knowledge and capacity</a:t>
            </a:r>
          </a:p>
        </p:txBody>
      </p:sp>
      <p:sp>
        <p:nvSpPr>
          <p:cNvPr id="9" name="ALiSEA card"/>
          <p:cNvSpPr/>
          <p:nvPr/>
        </p:nvSpPr>
        <p:spPr>
          <a:xfrm>
            <a:off x="6172200" y="1371600"/>
            <a:ext cx="5440680" cy="219456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92240" y="1554480"/>
            <a:ext cx="4846320" cy="457200"/>
          </a:xfrm>
          <a:prstGeom prst="rect">
            <a:avLst/>
          </a:prstGeom>
          <a:noFill/>
        </p:spPr>
        <p:txBody>
          <a:bodyPr wrap="square" lIns="0" tIns="0" rIns="0" bIns="0" anchor="t">
            <a:spAutoFit/>
          </a:bodyPr>
          <a:lstStyle/>
          <a:p>
            <a:pPr algn="l"/>
            <a:r>
              <a:rPr sz="2400" b="1" i="0">
                <a:solidFill>
                  <a:srgbClr val="4E8F3A"/>
                </a:solidFill>
                <a:latin typeface="Calibri"/>
              </a:rPr>
              <a:t>ALiSEA</a:t>
            </a:r>
          </a:p>
        </p:txBody>
      </p:sp>
      <p:sp>
        <p:nvSpPr>
          <p:cNvPr id="11" name="TextBox 10"/>
          <p:cNvSpPr txBox="1"/>
          <p:nvPr/>
        </p:nvSpPr>
        <p:spPr>
          <a:xfrm>
            <a:off x="6492240" y="2103120"/>
            <a:ext cx="1737360" cy="822960"/>
          </a:xfrm>
          <a:prstGeom prst="rect">
            <a:avLst/>
          </a:prstGeom>
          <a:noFill/>
        </p:spPr>
        <p:txBody>
          <a:bodyPr wrap="square" lIns="0" tIns="0" rIns="0" bIns="0" anchor="ctr">
            <a:spAutoFit/>
          </a:bodyPr>
          <a:lstStyle/>
          <a:p>
            <a:pPr algn="l"/>
            <a:r>
              <a:rPr sz="4000" b="1" i="0">
                <a:solidFill>
                  <a:srgbClr val="4E8F3A"/>
                </a:solidFill>
                <a:latin typeface="Calibri"/>
              </a:rPr>
              <a:t>~200</a:t>
            </a:r>
          </a:p>
        </p:txBody>
      </p:sp>
      <p:sp>
        <p:nvSpPr>
          <p:cNvPr id="12" name="TextBox 11"/>
          <p:cNvSpPr txBox="1"/>
          <p:nvPr/>
        </p:nvSpPr>
        <p:spPr>
          <a:xfrm>
            <a:off x="7886700" y="2194560"/>
            <a:ext cx="3017520" cy="822960"/>
          </a:xfrm>
          <a:prstGeom prst="rect">
            <a:avLst/>
          </a:prstGeom>
          <a:noFill/>
        </p:spPr>
        <p:txBody>
          <a:bodyPr wrap="square" lIns="0" tIns="0" rIns="0" bIns="0" anchor="ctr">
            <a:spAutoFit/>
          </a:bodyPr>
          <a:lstStyle/>
          <a:p>
            <a:pPr algn="l"/>
            <a:r>
              <a:rPr sz="1800" b="0" i="0">
                <a:solidFill>
                  <a:srgbClr val="222B33"/>
                </a:solidFill>
                <a:latin typeface="Calibri"/>
              </a:rPr>
              <a:t>members</a:t>
            </a:r>
          </a:p>
        </p:txBody>
      </p:sp>
      <p:sp>
        <p:nvSpPr>
          <p:cNvPr id="13" name="TextBox 12"/>
          <p:cNvSpPr txBox="1"/>
          <p:nvPr/>
        </p:nvSpPr>
        <p:spPr>
          <a:xfrm>
            <a:off x="6492240" y="2880360"/>
            <a:ext cx="4846320" cy="685800"/>
          </a:xfrm>
          <a:prstGeom prst="rect">
            <a:avLst/>
          </a:prstGeom>
          <a:noFill/>
        </p:spPr>
        <p:txBody>
          <a:bodyPr wrap="square" lIns="0" tIns="0" rIns="0" bIns="0" anchor="t">
            <a:spAutoFit/>
          </a:bodyPr>
          <a:lstStyle/>
          <a:p>
            <a:pPr algn="l"/>
            <a:r>
              <a:rPr sz="1400" b="0" i="0">
                <a:solidFill>
                  <a:srgbClr val="6B757D"/>
                </a:solidFill>
                <a:latin typeface="Calibri"/>
              </a:rPr>
              <a:t>Agroecology network in 5 Mekong countries · knowledge sharing, policy dialogue, small grants</a:t>
            </a:r>
          </a:p>
        </p:txBody>
      </p:sp>
      <p:sp>
        <p:nvSpPr>
          <p:cNvPr id="15" name="TextBox 14"/>
          <p:cNvSpPr txBox="1"/>
          <p:nvPr/>
        </p:nvSpPr>
        <p:spPr>
          <a:xfrm>
            <a:off x="5989320" y="6071528"/>
            <a:ext cx="5516880" cy="692497"/>
          </a:xfrm>
          <a:prstGeom prst="rect">
            <a:avLst/>
          </a:prstGeom>
          <a:noFill/>
        </p:spPr>
        <p:txBody>
          <a:bodyPr wrap="square" lIns="0" tIns="0" rIns="0" bIns="0" anchor="t">
            <a:spAutoFit/>
          </a:bodyPr>
          <a:lstStyle/>
          <a:p>
            <a:pPr algn="l"/>
            <a:r>
              <a:rPr sz="1500" b="1" i="0">
                <a:solidFill>
                  <a:srgbClr val="15607A"/>
                </a:solidFill>
                <a:latin typeface="Calibri"/>
              </a:rPr>
              <a:t>Why it matters: </a:t>
            </a:r>
            <a:r>
              <a:rPr sz="1500" b="0" i="0">
                <a:solidFill>
                  <a:srgbClr val="222B33"/>
                </a:solidFill>
                <a:latin typeface="Calibri"/>
              </a:rPr>
              <a:t>platforms connect agriculture, health, trade and environment, share early information and coordinate responses to shocks</a:t>
            </a:r>
          </a:p>
        </p:txBody>
      </p:sp>
      <p:pic>
        <p:nvPicPr>
          <p:cNvPr id="17" name="Picture 16">
            <a:extLst>
              <a:ext uri="{FF2B5EF4-FFF2-40B4-BE49-F238E27FC236}">
                <a16:creationId xmlns:a16="http://schemas.microsoft.com/office/drawing/2014/main" id="{B76E49C8-4C77-47F7-1659-614CEC8C10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680" y="3781425"/>
            <a:ext cx="4402455" cy="2961445"/>
          </a:xfrm>
          <a:prstGeom prst="rect">
            <a:avLst/>
          </a:prstGeom>
        </p:spPr>
      </p:pic>
      <p:pic>
        <p:nvPicPr>
          <p:cNvPr id="18" name="Picture 17" descr="ALiSEA - Agroecology Learning Alliance in South East Asia">
            <a:extLst>
              <a:ext uri="{FF2B5EF4-FFF2-40B4-BE49-F238E27FC236}">
                <a16:creationId xmlns:a16="http://schemas.microsoft.com/office/drawing/2014/main" id="{F85B529A-AB1B-36F0-D43A-D8E06498B6BA}"/>
              </a:ext>
            </a:extLst>
          </p:cNvPr>
          <p:cNvPicPr>
            <a:picLocks noChangeAspect="1"/>
          </p:cNvPicPr>
          <p:nvPr/>
        </p:nvPicPr>
        <p:blipFill>
          <a:blip r:embed="rId4"/>
          <a:stretch>
            <a:fillRect/>
          </a:stretch>
        </p:blipFill>
        <p:spPr>
          <a:xfrm>
            <a:off x="8098155" y="1336787"/>
            <a:ext cx="3514725" cy="1019270"/>
          </a:xfrm>
          <a:prstGeom prst="rect">
            <a:avLst/>
          </a:prstGeom>
        </p:spPr>
      </p:pic>
      <p:pic>
        <p:nvPicPr>
          <p:cNvPr id="20" name="Picture 19">
            <a:extLst>
              <a:ext uri="{FF2B5EF4-FFF2-40B4-BE49-F238E27FC236}">
                <a16:creationId xmlns:a16="http://schemas.microsoft.com/office/drawing/2014/main" id="{2F28B0EE-2DAF-0FA4-3571-BE44A6A988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68105" y="3611880"/>
            <a:ext cx="3690395" cy="24596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15607A"/>
                </a:solidFill>
                <a:latin typeface="Calibri"/>
              </a:rPr>
              <a:t>What should be done next?</a:t>
            </a:r>
          </a:p>
        </p:txBody>
      </p:sp>
      <p:sp>
        <p:nvSpPr>
          <p:cNvPr id="3" name="Priority 1"/>
          <p:cNvSpPr/>
          <p:nvPr/>
        </p:nvSpPr>
        <p:spPr>
          <a:xfrm>
            <a:off x="548640" y="1280160"/>
            <a:ext cx="544068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777240" y="1481328"/>
            <a:ext cx="548640" cy="54864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1</a:t>
            </a:r>
          </a:p>
        </p:txBody>
      </p:sp>
      <p:sp>
        <p:nvSpPr>
          <p:cNvPr id="5" name="TextBox 4"/>
          <p:cNvSpPr txBox="1"/>
          <p:nvPr/>
        </p:nvSpPr>
        <p:spPr>
          <a:xfrm>
            <a:off x="1463040" y="1481328"/>
            <a:ext cx="4297680" cy="548640"/>
          </a:xfrm>
          <a:prstGeom prst="rect">
            <a:avLst/>
          </a:prstGeom>
          <a:noFill/>
        </p:spPr>
        <p:txBody>
          <a:bodyPr wrap="square" lIns="0" tIns="0" rIns="0" bIns="0" anchor="ctr">
            <a:spAutoFit/>
          </a:bodyPr>
          <a:lstStyle/>
          <a:p>
            <a:pPr algn="l"/>
            <a:r>
              <a:rPr sz="1800" b="1" i="0">
                <a:solidFill>
                  <a:srgbClr val="4E8F3A"/>
                </a:solidFill>
                <a:latin typeface="Calibri"/>
              </a:rPr>
              <a:t>Sustainable, low-emission production</a:t>
            </a:r>
          </a:p>
        </p:txBody>
      </p:sp>
      <p:sp>
        <p:nvSpPr>
          <p:cNvPr id="6" name="TextBox 5"/>
          <p:cNvSpPr txBox="1"/>
          <p:nvPr/>
        </p:nvSpPr>
        <p:spPr>
          <a:xfrm>
            <a:off x="822959" y="2148839"/>
            <a:ext cx="4937760" cy="731520"/>
          </a:xfrm>
          <a:prstGeom prst="rect">
            <a:avLst/>
          </a:prstGeom>
          <a:noFill/>
        </p:spPr>
        <p:txBody>
          <a:bodyPr wrap="square" lIns="0" tIns="0" rIns="0" bIns="0" anchor="t">
            <a:spAutoFit/>
          </a:bodyPr>
          <a:lstStyle/>
          <a:p>
            <a:pPr algn="l"/>
            <a:r>
              <a:rPr sz="1300" b="0" i="0">
                <a:solidFill>
                  <a:srgbClr val="222B33"/>
                </a:solidFill>
                <a:latin typeface="Calibri"/>
              </a:rPr>
              <a:t>Low-emission crops · 1 million ha high-quality, low-emission rice (Mekong Delta) · agroecology, circular agriculture, nature-based solutions</a:t>
            </a:r>
          </a:p>
        </p:txBody>
      </p:sp>
      <p:sp>
        <p:nvSpPr>
          <p:cNvPr id="7" name="TextBox 6"/>
          <p:cNvSpPr txBox="1"/>
          <p:nvPr/>
        </p:nvSpPr>
        <p:spPr>
          <a:xfrm>
            <a:off x="822959" y="2880360"/>
            <a:ext cx="4937760" cy="365760"/>
          </a:xfrm>
          <a:prstGeom prst="rect">
            <a:avLst/>
          </a:prstGeom>
          <a:noFill/>
        </p:spPr>
        <p:txBody>
          <a:bodyPr wrap="square" lIns="0" tIns="0" rIns="0" bIns="0" anchor="t">
            <a:spAutoFit/>
          </a:bodyPr>
          <a:lstStyle/>
          <a:p>
            <a:pPr algn="l"/>
            <a:r>
              <a:rPr sz="1300" b="1" i="0">
                <a:solidFill>
                  <a:srgbClr val="4E8F3A"/>
                </a:solidFill>
                <a:latin typeface="Calibri"/>
              </a:rPr>
              <a:t>Resilience: </a:t>
            </a:r>
            <a:r>
              <a:rPr sz="1300" b="0" i="0">
                <a:solidFill>
                  <a:srgbClr val="6B757D"/>
                </a:solidFill>
                <a:latin typeface="Calibri"/>
              </a:rPr>
              <a:t>Diversity and healthy soils cut climate and price risks</a:t>
            </a:r>
          </a:p>
        </p:txBody>
      </p:sp>
      <p:sp>
        <p:nvSpPr>
          <p:cNvPr id="8" name="Priority 2"/>
          <p:cNvSpPr/>
          <p:nvPr/>
        </p:nvSpPr>
        <p:spPr>
          <a:xfrm>
            <a:off x="6172200" y="1280160"/>
            <a:ext cx="544068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400800" y="1481328"/>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2</a:t>
            </a:r>
          </a:p>
        </p:txBody>
      </p:sp>
      <p:sp>
        <p:nvSpPr>
          <p:cNvPr id="10" name="TextBox 9"/>
          <p:cNvSpPr txBox="1"/>
          <p:nvPr/>
        </p:nvSpPr>
        <p:spPr>
          <a:xfrm>
            <a:off x="7086600" y="1481328"/>
            <a:ext cx="4297680" cy="548640"/>
          </a:xfrm>
          <a:prstGeom prst="rect">
            <a:avLst/>
          </a:prstGeom>
          <a:noFill/>
        </p:spPr>
        <p:txBody>
          <a:bodyPr wrap="square" lIns="0" tIns="0" rIns="0" bIns="0" anchor="ctr">
            <a:spAutoFit/>
          </a:bodyPr>
          <a:lstStyle/>
          <a:p>
            <a:pPr algn="l"/>
            <a:r>
              <a:rPr sz="1800" b="1" i="0">
                <a:solidFill>
                  <a:srgbClr val="15607A"/>
                </a:solidFill>
                <a:latin typeface="Calibri"/>
              </a:rPr>
              <a:t>Food safety, consumption, less waste</a:t>
            </a:r>
          </a:p>
        </p:txBody>
      </p:sp>
      <p:sp>
        <p:nvSpPr>
          <p:cNvPr id="11" name="TextBox 10"/>
          <p:cNvSpPr txBox="1"/>
          <p:nvPr/>
        </p:nvSpPr>
        <p:spPr>
          <a:xfrm>
            <a:off x="6446520" y="2148839"/>
            <a:ext cx="4937760" cy="731520"/>
          </a:xfrm>
          <a:prstGeom prst="rect">
            <a:avLst/>
          </a:prstGeom>
          <a:noFill/>
        </p:spPr>
        <p:txBody>
          <a:bodyPr wrap="square" lIns="0" tIns="0" rIns="0" bIns="0" anchor="t">
            <a:spAutoFit/>
          </a:bodyPr>
          <a:lstStyle/>
          <a:p>
            <a:pPr algn="l"/>
            <a:r>
              <a:rPr sz="1300" b="0" i="0">
                <a:solidFill>
                  <a:srgbClr val="222B33"/>
                </a:solidFill>
                <a:latin typeface="Calibri"/>
              </a:rPr>
              <a:t>Standards, quality, traceability and information · responsible consumption · less food loss and waste</a:t>
            </a:r>
          </a:p>
        </p:txBody>
      </p:sp>
      <p:sp>
        <p:nvSpPr>
          <p:cNvPr id="12" name="TextBox 11"/>
          <p:cNvSpPr txBox="1"/>
          <p:nvPr/>
        </p:nvSpPr>
        <p:spPr>
          <a:xfrm>
            <a:off x="6446520" y="2880360"/>
            <a:ext cx="4937760" cy="365760"/>
          </a:xfrm>
          <a:prstGeom prst="rect">
            <a:avLst/>
          </a:prstGeom>
          <a:noFill/>
        </p:spPr>
        <p:txBody>
          <a:bodyPr wrap="square" lIns="0" tIns="0" rIns="0" bIns="0" anchor="t">
            <a:spAutoFit/>
          </a:bodyPr>
          <a:lstStyle/>
          <a:p>
            <a:pPr algn="l"/>
            <a:r>
              <a:rPr sz="1300" b="1" i="0">
                <a:solidFill>
                  <a:srgbClr val="15607A"/>
                </a:solidFill>
                <a:latin typeface="Calibri"/>
              </a:rPr>
              <a:t>Resilience: </a:t>
            </a:r>
            <a:r>
              <a:rPr sz="1300" b="0" i="0">
                <a:solidFill>
                  <a:srgbClr val="6B757D"/>
                </a:solidFill>
                <a:latin typeface="Calibri"/>
              </a:rPr>
              <a:t>Trust and information keep markets working in a crisis</a:t>
            </a:r>
          </a:p>
        </p:txBody>
      </p:sp>
      <p:sp>
        <p:nvSpPr>
          <p:cNvPr id="13" name="Priority 3"/>
          <p:cNvSpPr/>
          <p:nvPr/>
        </p:nvSpPr>
        <p:spPr>
          <a:xfrm>
            <a:off x="548640" y="3520440"/>
            <a:ext cx="544068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777240" y="3721608"/>
            <a:ext cx="548640" cy="54864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3</a:t>
            </a:r>
          </a:p>
        </p:txBody>
      </p:sp>
      <p:sp>
        <p:nvSpPr>
          <p:cNvPr id="15" name="TextBox 14"/>
          <p:cNvSpPr txBox="1"/>
          <p:nvPr/>
        </p:nvSpPr>
        <p:spPr>
          <a:xfrm>
            <a:off x="1463040" y="3721608"/>
            <a:ext cx="4297680" cy="548640"/>
          </a:xfrm>
          <a:prstGeom prst="rect">
            <a:avLst/>
          </a:prstGeom>
          <a:noFill/>
        </p:spPr>
        <p:txBody>
          <a:bodyPr wrap="square" lIns="0" tIns="0" rIns="0" bIns="0" anchor="ctr">
            <a:spAutoFit/>
          </a:bodyPr>
          <a:lstStyle/>
          <a:p>
            <a:pPr algn="l"/>
            <a:r>
              <a:rPr sz="1800" b="1" i="0">
                <a:solidFill>
                  <a:srgbClr val="E26E24"/>
                </a:solidFill>
                <a:latin typeface="Calibri"/>
              </a:rPr>
              <a:t>Disaster risk reduction</a:t>
            </a:r>
          </a:p>
        </p:txBody>
      </p:sp>
      <p:sp>
        <p:nvSpPr>
          <p:cNvPr id="16" name="TextBox 15"/>
          <p:cNvSpPr txBox="1"/>
          <p:nvPr/>
        </p:nvSpPr>
        <p:spPr>
          <a:xfrm>
            <a:off x="822959" y="4389120"/>
            <a:ext cx="4937760" cy="731520"/>
          </a:xfrm>
          <a:prstGeom prst="rect">
            <a:avLst/>
          </a:prstGeom>
          <a:noFill/>
        </p:spPr>
        <p:txBody>
          <a:bodyPr wrap="square" lIns="0" tIns="0" rIns="0" bIns="0" anchor="t">
            <a:spAutoFit/>
          </a:bodyPr>
          <a:lstStyle/>
          <a:p>
            <a:pPr algn="l"/>
            <a:r>
              <a:rPr sz="1300" b="0" i="0">
                <a:solidFill>
                  <a:srgbClr val="222B33"/>
                </a:solidFill>
                <a:latin typeface="Calibri"/>
              </a:rPr>
              <a:t>Monitoring, forecasting and response · risk-sharing mechanisms and insurance</a:t>
            </a:r>
          </a:p>
        </p:txBody>
      </p:sp>
      <p:sp>
        <p:nvSpPr>
          <p:cNvPr id="17" name="TextBox 16"/>
          <p:cNvSpPr txBox="1"/>
          <p:nvPr/>
        </p:nvSpPr>
        <p:spPr>
          <a:xfrm>
            <a:off x="822959" y="5120640"/>
            <a:ext cx="4937760" cy="365760"/>
          </a:xfrm>
          <a:prstGeom prst="rect">
            <a:avLst/>
          </a:prstGeom>
          <a:noFill/>
        </p:spPr>
        <p:txBody>
          <a:bodyPr wrap="square" lIns="0" tIns="0" rIns="0" bIns="0" anchor="t">
            <a:spAutoFit/>
          </a:bodyPr>
          <a:lstStyle/>
          <a:p>
            <a:pPr algn="l"/>
            <a:r>
              <a:rPr sz="1300" b="1" i="0">
                <a:solidFill>
                  <a:srgbClr val="E26E24"/>
                </a:solidFill>
                <a:latin typeface="Calibri"/>
              </a:rPr>
              <a:t>Resilience: </a:t>
            </a:r>
            <a:r>
              <a:rPr sz="1300" b="0" i="0">
                <a:solidFill>
                  <a:srgbClr val="6B757D"/>
                </a:solidFill>
                <a:latin typeface="Calibri"/>
              </a:rPr>
              <a:t>Absorb shocks and recover faster</a:t>
            </a:r>
          </a:p>
        </p:txBody>
      </p:sp>
      <p:sp>
        <p:nvSpPr>
          <p:cNvPr id="18" name="Priority 4"/>
          <p:cNvSpPr/>
          <p:nvPr/>
        </p:nvSpPr>
        <p:spPr>
          <a:xfrm>
            <a:off x="6172200" y="3520440"/>
            <a:ext cx="544068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400800" y="3721608"/>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4</a:t>
            </a:r>
          </a:p>
        </p:txBody>
      </p:sp>
      <p:sp>
        <p:nvSpPr>
          <p:cNvPr id="20" name="TextBox 19"/>
          <p:cNvSpPr txBox="1"/>
          <p:nvPr/>
        </p:nvSpPr>
        <p:spPr>
          <a:xfrm>
            <a:off x="7086600" y="3721608"/>
            <a:ext cx="4297680" cy="548640"/>
          </a:xfrm>
          <a:prstGeom prst="rect">
            <a:avLst/>
          </a:prstGeom>
          <a:noFill/>
        </p:spPr>
        <p:txBody>
          <a:bodyPr wrap="square" lIns="0" tIns="0" rIns="0" bIns="0" anchor="ctr">
            <a:spAutoFit/>
          </a:bodyPr>
          <a:lstStyle/>
          <a:p>
            <a:pPr algn="l"/>
            <a:r>
              <a:rPr sz="1800" b="1" i="0">
                <a:solidFill>
                  <a:srgbClr val="15607A"/>
                </a:solidFill>
                <a:latin typeface="Calibri"/>
              </a:rPr>
              <a:t>Science, technology, digital</a:t>
            </a:r>
          </a:p>
        </p:txBody>
      </p:sp>
      <p:sp>
        <p:nvSpPr>
          <p:cNvPr id="21" name="TextBox 20"/>
          <p:cNvSpPr txBox="1"/>
          <p:nvPr/>
        </p:nvSpPr>
        <p:spPr>
          <a:xfrm>
            <a:off x="6446520" y="4389120"/>
            <a:ext cx="4937760" cy="731520"/>
          </a:xfrm>
          <a:prstGeom prst="rect">
            <a:avLst/>
          </a:prstGeom>
          <a:noFill/>
        </p:spPr>
        <p:txBody>
          <a:bodyPr wrap="square" lIns="0" tIns="0" rIns="0" bIns="0" anchor="t">
            <a:spAutoFit/>
          </a:bodyPr>
          <a:lstStyle/>
          <a:p>
            <a:pPr algn="l"/>
            <a:r>
              <a:rPr sz="1300" b="0" i="0">
                <a:solidFill>
                  <a:srgbClr val="222B33"/>
                </a:solidFill>
                <a:latin typeface="Calibri"/>
              </a:rPr>
              <a:t>Breeding, high-tech livestock, processing and preservation · digital value chains and databases</a:t>
            </a:r>
          </a:p>
        </p:txBody>
      </p:sp>
      <p:sp>
        <p:nvSpPr>
          <p:cNvPr id="22" name="TextBox 21"/>
          <p:cNvSpPr txBox="1"/>
          <p:nvPr/>
        </p:nvSpPr>
        <p:spPr>
          <a:xfrm>
            <a:off x="6446520" y="5120640"/>
            <a:ext cx="4937760" cy="365760"/>
          </a:xfrm>
          <a:prstGeom prst="rect">
            <a:avLst/>
          </a:prstGeom>
          <a:noFill/>
        </p:spPr>
        <p:txBody>
          <a:bodyPr wrap="square" lIns="0" tIns="0" rIns="0" bIns="0" anchor="t">
            <a:spAutoFit/>
          </a:bodyPr>
          <a:lstStyle/>
          <a:p>
            <a:pPr algn="l"/>
            <a:r>
              <a:rPr sz="1300" b="1" i="0">
                <a:solidFill>
                  <a:srgbClr val="15607A"/>
                </a:solidFill>
                <a:latin typeface="Calibri"/>
              </a:rPr>
              <a:t>Resilience: </a:t>
            </a:r>
            <a:r>
              <a:rPr sz="1300" b="0" i="0">
                <a:solidFill>
                  <a:srgbClr val="6B757D"/>
                </a:solidFill>
                <a:latin typeface="Calibri"/>
              </a:rPr>
              <a:t>Adapted varieties, early warning, traceability</a:t>
            </a:r>
          </a:p>
        </p:txBody>
      </p:sp>
      <p:sp>
        <p:nvSpPr>
          <p:cNvPr id="23" name="Cross-cutting"/>
          <p:cNvSpPr/>
          <p:nvPr/>
        </p:nvSpPr>
        <p:spPr>
          <a:xfrm>
            <a:off x="548640" y="5760720"/>
            <a:ext cx="11064240" cy="54864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Cross-cutting text"/>
          <p:cNvSpPr txBox="1"/>
          <p:nvPr/>
        </p:nvSpPr>
        <p:spPr>
          <a:xfrm>
            <a:off x="777240" y="5760720"/>
            <a:ext cx="10607040" cy="548640"/>
          </a:xfrm>
          <a:prstGeom prst="rect">
            <a:avLst/>
          </a:prstGeom>
          <a:noFill/>
        </p:spPr>
        <p:txBody>
          <a:bodyPr wrap="square" lIns="0" tIns="0" rIns="0" bIns="0" anchor="ctr">
            <a:spAutoFit/>
          </a:bodyPr>
          <a:lstStyle/>
          <a:p>
            <a:pPr algn="l"/>
            <a:r>
              <a:rPr sz="1400" b="1" i="0">
                <a:solidFill>
                  <a:srgbClr val="15607A"/>
                </a:solidFill>
                <a:latin typeface="Calibri"/>
              </a:rPr>
              <a:t>Across all four: </a:t>
            </a:r>
            <a:r>
              <a:rPr sz="1400" b="0" i="0">
                <a:solidFill>
                  <a:srgbClr val="222B33"/>
                </a:solidFill>
                <a:latin typeface="Calibri"/>
              </a:rPr>
              <a:t>measure resilience in NAP-FST M&amp;E · protect the most vulnerable · fund provinces · coordinate through platforms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itle"/>
          <p:cNvSpPr txBox="1"/>
          <p:nvPr/>
        </p:nvSpPr>
        <p:spPr>
          <a:xfrm>
            <a:off x="731520" y="2377440"/>
            <a:ext cx="10698480" cy="1097280"/>
          </a:xfrm>
          <a:prstGeom prst="rect">
            <a:avLst/>
          </a:prstGeom>
          <a:noFill/>
        </p:spPr>
        <p:txBody>
          <a:bodyPr wrap="square" lIns="0" tIns="0" rIns="0" bIns="0" anchor="t">
            <a:spAutoFit/>
          </a:bodyPr>
          <a:lstStyle/>
          <a:p>
            <a:pPr algn="ctr"/>
            <a:r>
              <a:rPr sz="4800" b="1" i="0">
                <a:solidFill>
                  <a:srgbClr val="FFFFFF"/>
                </a:solidFill>
                <a:latin typeface="Calibri"/>
              </a:rPr>
              <a:t>Thank you</a:t>
            </a:r>
          </a:p>
        </p:txBody>
      </p:sp>
      <p:sp>
        <p:nvSpPr>
          <p:cNvPr id="4" name="Subtitle"/>
          <p:cNvSpPr txBox="1"/>
          <p:nvPr/>
        </p:nvSpPr>
        <p:spPr>
          <a:xfrm>
            <a:off x="731520" y="3566160"/>
            <a:ext cx="10698480" cy="548640"/>
          </a:xfrm>
          <a:prstGeom prst="rect">
            <a:avLst/>
          </a:prstGeom>
          <a:noFill/>
        </p:spPr>
        <p:txBody>
          <a:bodyPr wrap="square" lIns="0" tIns="0" rIns="0" bIns="0" anchor="t">
            <a:spAutoFit/>
          </a:bodyPr>
          <a:lstStyle/>
          <a:p>
            <a:pPr algn="ctr"/>
            <a:r>
              <a:rPr sz="2000" b="0" i="0">
                <a:solidFill>
                  <a:srgbClr val="D6E8EE"/>
                </a:solidFill>
                <a:latin typeface="Calibri"/>
              </a:rPr>
              <a:t>Acknowledgements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NAP-FST: principles and tasks that build resilience</a:t>
            </a:r>
          </a:p>
        </p:txBody>
      </p:sp>
      <p:sp>
        <p:nvSpPr>
          <p:cNvPr id="3" name="Principle Transparency"/>
          <p:cNvSpPr/>
          <p:nvPr/>
        </p:nvSpPr>
        <p:spPr>
          <a:xfrm>
            <a:off x="548640" y="1234440"/>
            <a:ext cx="3474720" cy="123444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59" y="1371600"/>
            <a:ext cx="2971800" cy="365760"/>
          </a:xfrm>
          <a:prstGeom prst="rect">
            <a:avLst/>
          </a:prstGeom>
          <a:noFill/>
        </p:spPr>
        <p:txBody>
          <a:bodyPr wrap="square" lIns="0" rIns="0" tIns="0" bIns="0" anchor="t">
            <a:spAutoFit/>
          </a:bodyPr>
          <a:lstStyle/>
          <a:p>
            <a:pPr algn="l"/>
            <a:r>
              <a:rPr sz="1800" b="1" i="0">
                <a:solidFill>
                  <a:srgbClr val="15607A"/>
                </a:solidFill>
                <a:latin typeface="Calibri"/>
              </a:rPr>
              <a:t>Transparency</a:t>
            </a:r>
          </a:p>
        </p:txBody>
      </p:sp>
      <p:sp>
        <p:nvSpPr>
          <p:cNvPr id="5" name="TextBox 4"/>
          <p:cNvSpPr txBox="1"/>
          <p:nvPr/>
        </p:nvSpPr>
        <p:spPr>
          <a:xfrm>
            <a:off x="822959" y="1783080"/>
            <a:ext cx="3017520" cy="640080"/>
          </a:xfrm>
          <a:prstGeom prst="rect">
            <a:avLst/>
          </a:prstGeom>
          <a:noFill/>
        </p:spPr>
        <p:txBody>
          <a:bodyPr wrap="square" lIns="0" rIns="0" tIns="0" bIns="0" anchor="t">
            <a:spAutoFit/>
          </a:bodyPr>
          <a:lstStyle/>
          <a:p>
            <a:pPr algn="l"/>
            <a:r>
              <a:rPr sz="1400" b="0" i="0">
                <a:solidFill>
                  <a:srgbClr val="222B33"/>
                </a:solidFill>
                <a:latin typeface="Calibri"/>
              </a:rPr>
              <a:t>Better information supports early warning and fair responses to shocks</a:t>
            </a:r>
          </a:p>
        </p:txBody>
      </p:sp>
      <p:sp>
        <p:nvSpPr>
          <p:cNvPr id="6" name="Principle Responsibility"/>
          <p:cNvSpPr/>
          <p:nvPr/>
        </p:nvSpPr>
        <p:spPr>
          <a:xfrm>
            <a:off x="4297679" y="1234440"/>
            <a:ext cx="3474720" cy="1234440"/>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71999" y="1371600"/>
            <a:ext cx="2971800" cy="365760"/>
          </a:xfrm>
          <a:prstGeom prst="rect">
            <a:avLst/>
          </a:prstGeom>
          <a:noFill/>
        </p:spPr>
        <p:txBody>
          <a:bodyPr wrap="square" lIns="0" rIns="0" tIns="0" bIns="0" anchor="t">
            <a:spAutoFit/>
          </a:bodyPr>
          <a:lstStyle/>
          <a:p>
            <a:pPr algn="l"/>
            <a:r>
              <a:rPr sz="1800" b="1" i="0">
                <a:solidFill>
                  <a:srgbClr val="E26E24"/>
                </a:solidFill>
                <a:latin typeface="Calibri"/>
              </a:rPr>
              <a:t>Responsibility</a:t>
            </a:r>
          </a:p>
        </p:txBody>
      </p:sp>
      <p:sp>
        <p:nvSpPr>
          <p:cNvPr id="8" name="TextBox 7"/>
          <p:cNvSpPr txBox="1"/>
          <p:nvPr/>
        </p:nvSpPr>
        <p:spPr>
          <a:xfrm>
            <a:off x="4571999" y="1783080"/>
            <a:ext cx="3017520" cy="640080"/>
          </a:xfrm>
          <a:prstGeom prst="rect">
            <a:avLst/>
          </a:prstGeom>
          <a:noFill/>
        </p:spPr>
        <p:txBody>
          <a:bodyPr wrap="square" lIns="0" rIns="0" tIns="0" bIns="0" anchor="t">
            <a:spAutoFit/>
          </a:bodyPr>
          <a:lstStyle/>
          <a:p>
            <a:pPr algn="l"/>
            <a:r>
              <a:rPr sz="1400" b="0" i="0">
                <a:solidFill>
                  <a:srgbClr val="222B33"/>
                </a:solidFill>
                <a:latin typeface="Calibri"/>
              </a:rPr>
              <a:t>Shared roles spread risk and protect the most vulnerable</a:t>
            </a:r>
          </a:p>
        </p:txBody>
      </p:sp>
      <p:sp>
        <p:nvSpPr>
          <p:cNvPr id="9" name="Principle Sustainability"/>
          <p:cNvSpPr/>
          <p:nvPr/>
        </p:nvSpPr>
        <p:spPr>
          <a:xfrm>
            <a:off x="8046719" y="1234440"/>
            <a:ext cx="3474720" cy="123444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321040" y="1371600"/>
            <a:ext cx="2971800" cy="365760"/>
          </a:xfrm>
          <a:prstGeom prst="rect">
            <a:avLst/>
          </a:prstGeom>
          <a:noFill/>
        </p:spPr>
        <p:txBody>
          <a:bodyPr wrap="square" lIns="0" rIns="0" tIns="0" bIns="0" anchor="t">
            <a:spAutoFit/>
          </a:bodyPr>
          <a:lstStyle/>
          <a:p>
            <a:pPr algn="l"/>
            <a:r>
              <a:rPr sz="1800" b="1" i="0">
                <a:solidFill>
                  <a:srgbClr val="4E8F3A"/>
                </a:solidFill>
                <a:latin typeface="Calibri"/>
              </a:rPr>
              <a:t>Sustainability</a:t>
            </a:r>
          </a:p>
        </p:txBody>
      </p:sp>
      <p:sp>
        <p:nvSpPr>
          <p:cNvPr id="11" name="TextBox 10"/>
          <p:cNvSpPr txBox="1"/>
          <p:nvPr/>
        </p:nvSpPr>
        <p:spPr>
          <a:xfrm>
            <a:off x="8321040" y="1783080"/>
            <a:ext cx="3017520" cy="640080"/>
          </a:xfrm>
          <a:prstGeom prst="rect">
            <a:avLst/>
          </a:prstGeom>
          <a:noFill/>
        </p:spPr>
        <p:txBody>
          <a:bodyPr wrap="square" lIns="0" rIns="0" tIns="0" bIns="0" anchor="t">
            <a:spAutoFit/>
          </a:bodyPr>
          <a:lstStyle/>
          <a:p>
            <a:pPr algn="l"/>
            <a:r>
              <a:rPr sz="1400" b="0" i="0">
                <a:solidFill>
                  <a:srgbClr val="222B33"/>
                </a:solidFill>
                <a:latin typeface="Calibri"/>
              </a:rPr>
              <a:t>A healthy resource base lowers long-term stress</a:t>
            </a:r>
          </a:p>
        </p:txBody>
      </p:sp>
      <p:sp>
        <p:nvSpPr>
          <p:cNvPr id="12" name="TextBox 11"/>
          <p:cNvSpPr txBox="1"/>
          <p:nvPr/>
        </p:nvSpPr>
        <p:spPr>
          <a:xfrm>
            <a:off x="548640" y="2651760"/>
            <a:ext cx="11064240" cy="365760"/>
          </a:xfrm>
          <a:prstGeom prst="rect">
            <a:avLst/>
          </a:prstGeom>
          <a:noFill/>
        </p:spPr>
        <p:txBody>
          <a:bodyPr wrap="square" lIns="0" rIns="0" tIns="0" bIns="0" anchor="t">
            <a:spAutoFit/>
          </a:bodyPr>
          <a:lstStyle/>
          <a:p>
            <a:pPr algn="l"/>
            <a:r>
              <a:rPr sz="1600" b="1" i="0">
                <a:solidFill>
                  <a:srgbClr val="222B33"/>
                </a:solidFill>
                <a:latin typeface="Calibri"/>
              </a:rPr>
              <a:t>Tasks that build resilience</a:t>
            </a:r>
          </a:p>
        </p:txBody>
      </p:sp>
      <p:sp>
        <p:nvSpPr>
          <p:cNvPr id="13" name="Task 1"/>
          <p:cNvSpPr/>
          <p:nvPr/>
        </p:nvSpPr>
        <p:spPr>
          <a:xfrm>
            <a:off x="548640" y="3063240"/>
            <a:ext cx="2103120" cy="18288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85800" y="3200400"/>
            <a:ext cx="411480" cy="41148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5" name="TextBox 14"/>
          <p:cNvSpPr txBox="1"/>
          <p:nvPr/>
        </p:nvSpPr>
        <p:spPr>
          <a:xfrm>
            <a:off x="685800" y="3703320"/>
            <a:ext cx="1828800" cy="502920"/>
          </a:xfrm>
          <a:prstGeom prst="rect">
            <a:avLst/>
          </a:prstGeom>
          <a:noFill/>
        </p:spPr>
        <p:txBody>
          <a:bodyPr wrap="square" lIns="0" rIns="0" tIns="0" bIns="0" anchor="t">
            <a:spAutoFit/>
          </a:bodyPr>
          <a:lstStyle/>
          <a:p>
            <a:pPr algn="l"/>
            <a:r>
              <a:rPr sz="1400" b="1" i="0">
                <a:solidFill>
                  <a:srgbClr val="15607A"/>
                </a:solidFill>
                <a:latin typeface="Calibri"/>
              </a:rPr>
              <a:t>Policies and standards</a:t>
            </a:r>
          </a:p>
        </p:txBody>
      </p:sp>
      <p:sp>
        <p:nvSpPr>
          <p:cNvPr id="16" name="TextBox 15"/>
          <p:cNvSpPr txBox="1"/>
          <p:nvPr/>
        </p:nvSpPr>
        <p:spPr>
          <a:xfrm>
            <a:off x="685800" y="4206240"/>
            <a:ext cx="1874519" cy="640080"/>
          </a:xfrm>
          <a:prstGeom prst="rect">
            <a:avLst/>
          </a:prstGeom>
          <a:noFill/>
        </p:spPr>
        <p:txBody>
          <a:bodyPr wrap="square" lIns="0" rIns="0" tIns="0" bIns="0" anchor="t">
            <a:spAutoFit/>
          </a:bodyPr>
          <a:lstStyle/>
          <a:p>
            <a:pPr algn="l"/>
            <a:r>
              <a:rPr sz="1200" b="0" i="0">
                <a:solidFill>
                  <a:srgbClr val="222B33"/>
                </a:solidFill>
                <a:latin typeface="Calibri"/>
              </a:rPr>
              <a:t>Agroecology policy, ecological zoning, logistics, M&amp;E</a:t>
            </a:r>
          </a:p>
        </p:txBody>
      </p:sp>
      <p:sp>
        <p:nvSpPr>
          <p:cNvPr id="17" name="Task 2"/>
          <p:cNvSpPr/>
          <p:nvPr/>
        </p:nvSpPr>
        <p:spPr>
          <a:xfrm>
            <a:off x="2788920" y="3063240"/>
            <a:ext cx="2103120" cy="18288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2926080" y="3200400"/>
            <a:ext cx="411480" cy="41148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9" name="TextBox 18"/>
          <p:cNvSpPr txBox="1"/>
          <p:nvPr/>
        </p:nvSpPr>
        <p:spPr>
          <a:xfrm>
            <a:off x="2926080" y="3703320"/>
            <a:ext cx="1828800" cy="502920"/>
          </a:xfrm>
          <a:prstGeom prst="rect">
            <a:avLst/>
          </a:prstGeom>
          <a:noFill/>
        </p:spPr>
        <p:txBody>
          <a:bodyPr wrap="square" lIns="0" rIns="0" tIns="0" bIns="0" anchor="t">
            <a:spAutoFit/>
          </a:bodyPr>
          <a:lstStyle/>
          <a:p>
            <a:pPr algn="l"/>
            <a:r>
              <a:rPr sz="1400" b="1" i="0">
                <a:solidFill>
                  <a:srgbClr val="4E8F3A"/>
                </a:solidFill>
                <a:latin typeface="Calibri"/>
              </a:rPr>
              <a:t>Input supply</a:t>
            </a:r>
          </a:p>
        </p:txBody>
      </p:sp>
      <p:sp>
        <p:nvSpPr>
          <p:cNvPr id="20" name="TextBox 19"/>
          <p:cNvSpPr txBox="1"/>
          <p:nvPr/>
        </p:nvSpPr>
        <p:spPr>
          <a:xfrm>
            <a:off x="2926080" y="4206240"/>
            <a:ext cx="1874519" cy="640080"/>
          </a:xfrm>
          <a:prstGeom prst="rect">
            <a:avLst/>
          </a:prstGeom>
          <a:noFill/>
        </p:spPr>
        <p:txBody>
          <a:bodyPr wrap="square" lIns="0" rIns="0" tIns="0" bIns="0" anchor="t">
            <a:spAutoFit/>
          </a:bodyPr>
          <a:lstStyle/>
          <a:p>
            <a:pPr algn="l"/>
            <a:r>
              <a:rPr sz="1200" b="0" i="0">
                <a:solidFill>
                  <a:srgbClr val="222B33"/>
                </a:solidFill>
                <a:latin typeface="Calibri"/>
              </a:rPr>
              <a:t>Climate-tolerant varieties, bio-inputs, wholesale hubs</a:t>
            </a:r>
          </a:p>
        </p:txBody>
      </p:sp>
      <p:sp>
        <p:nvSpPr>
          <p:cNvPr id="21" name="Task 3"/>
          <p:cNvSpPr/>
          <p:nvPr/>
        </p:nvSpPr>
        <p:spPr>
          <a:xfrm>
            <a:off x="5029200" y="3063240"/>
            <a:ext cx="2103120" cy="18288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5166360" y="3200400"/>
            <a:ext cx="411480" cy="41148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23" name="TextBox 22"/>
          <p:cNvSpPr txBox="1"/>
          <p:nvPr/>
        </p:nvSpPr>
        <p:spPr>
          <a:xfrm>
            <a:off x="5166360" y="3703320"/>
            <a:ext cx="1828800" cy="502920"/>
          </a:xfrm>
          <a:prstGeom prst="rect">
            <a:avLst/>
          </a:prstGeom>
          <a:noFill/>
        </p:spPr>
        <p:txBody>
          <a:bodyPr wrap="square" lIns="0" rIns="0" tIns="0" bIns="0" anchor="t">
            <a:spAutoFit/>
          </a:bodyPr>
          <a:lstStyle/>
          <a:p>
            <a:pPr algn="l"/>
            <a:r>
              <a:rPr sz="1400" b="1" i="0">
                <a:solidFill>
                  <a:srgbClr val="4E8F3A"/>
                </a:solidFill>
                <a:latin typeface="Calibri"/>
              </a:rPr>
              <a:t>Production</a:t>
            </a:r>
          </a:p>
        </p:txBody>
      </p:sp>
      <p:sp>
        <p:nvSpPr>
          <p:cNvPr id="24" name="TextBox 23"/>
          <p:cNvSpPr txBox="1"/>
          <p:nvPr/>
        </p:nvSpPr>
        <p:spPr>
          <a:xfrm>
            <a:off x="5166360" y="4206240"/>
            <a:ext cx="1874519" cy="640080"/>
          </a:xfrm>
          <a:prstGeom prst="rect">
            <a:avLst/>
          </a:prstGeom>
          <a:noFill/>
        </p:spPr>
        <p:txBody>
          <a:bodyPr wrap="square" lIns="0" rIns="0" tIns="0" bIns="0" anchor="t">
            <a:spAutoFit/>
          </a:bodyPr>
          <a:lstStyle/>
          <a:p>
            <a:pPr algn="l"/>
            <a:r>
              <a:rPr sz="1200" b="0" i="0">
                <a:solidFill>
                  <a:srgbClr val="222B33"/>
                </a:solidFill>
                <a:latin typeface="Calibri"/>
              </a:rPr>
              <a:t>Early warning to commune level, insurance, One Health</a:t>
            </a:r>
          </a:p>
        </p:txBody>
      </p:sp>
      <p:sp>
        <p:nvSpPr>
          <p:cNvPr id="25" name="Task 4"/>
          <p:cNvSpPr/>
          <p:nvPr/>
        </p:nvSpPr>
        <p:spPr>
          <a:xfrm>
            <a:off x="7269480" y="3063240"/>
            <a:ext cx="2103120" cy="18288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406640" y="3200400"/>
            <a:ext cx="411480" cy="41148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7" name="TextBox 26"/>
          <p:cNvSpPr txBox="1"/>
          <p:nvPr/>
        </p:nvSpPr>
        <p:spPr>
          <a:xfrm>
            <a:off x="7406640" y="3703320"/>
            <a:ext cx="1828800" cy="502920"/>
          </a:xfrm>
          <a:prstGeom prst="rect">
            <a:avLst/>
          </a:prstGeom>
          <a:noFill/>
        </p:spPr>
        <p:txBody>
          <a:bodyPr wrap="square" lIns="0" rIns="0" tIns="0" bIns="0" anchor="t">
            <a:spAutoFit/>
          </a:bodyPr>
          <a:lstStyle/>
          <a:p>
            <a:pPr algn="l"/>
            <a:r>
              <a:rPr sz="1400" b="1" i="0">
                <a:solidFill>
                  <a:srgbClr val="E26E24"/>
                </a:solidFill>
                <a:latin typeface="Calibri"/>
              </a:rPr>
              <a:t>Processing and distribution</a:t>
            </a:r>
          </a:p>
        </p:txBody>
      </p:sp>
      <p:sp>
        <p:nvSpPr>
          <p:cNvPr id="28" name="TextBox 27"/>
          <p:cNvSpPr txBox="1"/>
          <p:nvPr/>
        </p:nvSpPr>
        <p:spPr>
          <a:xfrm>
            <a:off x="7406640" y="4206240"/>
            <a:ext cx="1874519" cy="640080"/>
          </a:xfrm>
          <a:prstGeom prst="rect">
            <a:avLst/>
          </a:prstGeom>
          <a:noFill/>
        </p:spPr>
        <p:txBody>
          <a:bodyPr wrap="square" lIns="0" rIns="0" tIns="0" bIns="0" anchor="t">
            <a:spAutoFit/>
          </a:bodyPr>
          <a:lstStyle/>
          <a:p>
            <a:pPr algn="l"/>
            <a:r>
              <a:rPr sz="1200" b="0" i="0">
                <a:solidFill>
                  <a:srgbClr val="222B33"/>
                </a:solidFill>
                <a:latin typeface="Calibri"/>
              </a:rPr>
              <a:t>Storage for disruptions, stable chains, less loss</a:t>
            </a:r>
          </a:p>
        </p:txBody>
      </p:sp>
      <p:sp>
        <p:nvSpPr>
          <p:cNvPr id="29" name="Task 5"/>
          <p:cNvSpPr/>
          <p:nvPr/>
        </p:nvSpPr>
        <p:spPr>
          <a:xfrm>
            <a:off x="9509760" y="3063240"/>
            <a:ext cx="2103120" cy="18288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9646920" y="3200400"/>
            <a:ext cx="411480" cy="41148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31" name="TextBox 30"/>
          <p:cNvSpPr txBox="1"/>
          <p:nvPr/>
        </p:nvSpPr>
        <p:spPr>
          <a:xfrm>
            <a:off x="9646920" y="3703320"/>
            <a:ext cx="1828800" cy="502920"/>
          </a:xfrm>
          <a:prstGeom prst="rect">
            <a:avLst/>
          </a:prstGeom>
          <a:noFill/>
        </p:spPr>
        <p:txBody>
          <a:bodyPr wrap="square" lIns="0" rIns="0" tIns="0" bIns="0" anchor="t">
            <a:spAutoFit/>
          </a:bodyPr>
          <a:lstStyle/>
          <a:p>
            <a:pPr algn="l"/>
            <a:r>
              <a:rPr sz="1400" b="1" i="0">
                <a:solidFill>
                  <a:srgbClr val="E26E24"/>
                </a:solidFill>
                <a:latin typeface="Calibri"/>
              </a:rPr>
              <a:t>Consumption</a:t>
            </a:r>
          </a:p>
        </p:txBody>
      </p:sp>
      <p:sp>
        <p:nvSpPr>
          <p:cNvPr id="32" name="TextBox 31"/>
          <p:cNvSpPr txBox="1"/>
          <p:nvPr/>
        </p:nvSpPr>
        <p:spPr>
          <a:xfrm>
            <a:off x="9646920" y="4206240"/>
            <a:ext cx="1874519" cy="640080"/>
          </a:xfrm>
          <a:prstGeom prst="rect">
            <a:avLst/>
          </a:prstGeom>
          <a:noFill/>
        </p:spPr>
        <p:txBody>
          <a:bodyPr wrap="square" lIns="0" rIns="0" tIns="0" bIns="0" anchor="t">
            <a:spAutoFit/>
          </a:bodyPr>
          <a:lstStyle/>
          <a:p>
            <a:pPr algn="l"/>
            <a:r>
              <a:rPr sz="1200" b="0" i="0">
                <a:solidFill>
                  <a:srgbClr val="222B33"/>
                </a:solidFill>
                <a:latin typeface="Calibri"/>
              </a:rPr>
              <a:t>Food balance sheets, a pilot food bank, healthy diets</a:t>
            </a:r>
          </a:p>
        </p:txBody>
      </p:sp>
      <p:sp>
        <p:nvSpPr>
          <p:cNvPr id="33" name="Viewpoint callout"/>
          <p:cNvSpPr/>
          <p:nvPr/>
        </p:nvSpPr>
        <p:spPr>
          <a:xfrm>
            <a:off x="548640" y="5074920"/>
            <a:ext cx="5486400" cy="1097280"/>
          </a:xfrm>
          <a:prstGeom prst="roundRect">
            <a:avLst>
              <a:gd name="adj" fmla="val 8000"/>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Viewpoint"/>
          <p:cNvSpPr txBox="1"/>
          <p:nvPr/>
        </p:nvSpPr>
        <p:spPr>
          <a:xfrm>
            <a:off x="822960" y="5120640"/>
            <a:ext cx="4983480" cy="1005840"/>
          </a:xfrm>
          <a:prstGeom prst="rect">
            <a:avLst/>
          </a:prstGeom>
          <a:noFill/>
        </p:spPr>
        <p:txBody>
          <a:bodyPr wrap="square" lIns="0" rIns="0" tIns="0" bIns="0" anchor="ctr">
            <a:spAutoFit/>
          </a:bodyPr>
          <a:lstStyle/>
          <a:p>
            <a:pPr algn="l"/>
            <a:r>
              <a:rPr sz="1500" b="1" i="0">
                <a:solidFill>
                  <a:srgbClr val="FFFFFF"/>
                </a:solidFill>
                <a:latin typeface="Calibri"/>
              </a:rPr>
              <a:t>NAP-FST viewpoint: </a:t>
            </a:r>
            <a:r>
              <a:rPr sz="1500" b="0" i="0">
                <a:solidFill>
                  <a:srgbClr val="FFFFFF"/>
                </a:solidFill>
                <a:latin typeface="Calibri"/>
              </a:rPr>
              <a:t>food system transformation is linked to </a:t>
            </a:r>
            <a:r>
              <a:rPr sz="1500" b="1" i="1">
                <a:solidFill>
                  <a:srgbClr val="FFFFFF"/>
                </a:solidFill>
                <a:latin typeface="Calibri"/>
              </a:rPr>
              <a:t>“resilience to shocks”</a:t>
            </a:r>
          </a:p>
          <a:p>
            <a:pPr algn="l">
              <a:spcBef>
                <a:spcPts val="600"/>
              </a:spcBef>
            </a:pPr>
            <a:r>
              <a:rPr sz="1200" b="0" i="0">
                <a:solidFill>
                  <a:srgbClr val="FFFFFF"/>
                </a:solidFill>
                <a:latin typeface="Calibri"/>
              </a:rPr>
              <a:t>Decision 300/QĐ-TTg, 2023</a:t>
            </a:r>
          </a:p>
        </p:txBody>
      </p:sp>
      <p:sp>
        <p:nvSpPr>
          <p:cNvPr id="35" name="Target 1"/>
          <p:cNvSpPr/>
          <p:nvPr/>
        </p:nvSpPr>
        <p:spPr>
          <a:xfrm>
            <a:off x="6217920" y="5074920"/>
            <a:ext cx="1737360" cy="109728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309359" y="5120640"/>
            <a:ext cx="1554480" cy="548640"/>
          </a:xfrm>
          <a:prstGeom prst="rect">
            <a:avLst/>
          </a:prstGeom>
          <a:noFill/>
        </p:spPr>
        <p:txBody>
          <a:bodyPr wrap="square" lIns="0" rIns="0" tIns="0" bIns="0" anchor="t">
            <a:spAutoFit/>
          </a:bodyPr>
          <a:lstStyle/>
          <a:p>
            <a:pPr algn="ctr"/>
            <a:r>
              <a:rPr sz="2600" b="1" i="0">
                <a:solidFill>
                  <a:srgbClr val="15607A"/>
                </a:solidFill>
                <a:latin typeface="Calibri"/>
              </a:rPr>
              <a:t>&lt;5%</a:t>
            </a:r>
          </a:p>
        </p:txBody>
      </p:sp>
      <p:sp>
        <p:nvSpPr>
          <p:cNvPr id="37" name="TextBox 36"/>
          <p:cNvSpPr txBox="1"/>
          <p:nvPr/>
        </p:nvSpPr>
        <p:spPr>
          <a:xfrm>
            <a:off x="6309359" y="5669280"/>
            <a:ext cx="1554480" cy="457200"/>
          </a:xfrm>
          <a:prstGeom prst="rect">
            <a:avLst/>
          </a:prstGeom>
          <a:noFill/>
        </p:spPr>
        <p:txBody>
          <a:bodyPr wrap="square" lIns="0" rIns="0" tIns="0" bIns="0" anchor="t">
            <a:spAutoFit/>
          </a:bodyPr>
          <a:lstStyle/>
          <a:p>
            <a:pPr algn="ctr"/>
            <a:r>
              <a:rPr sz="1100" b="0" i="0">
                <a:solidFill>
                  <a:srgbClr val="222B33"/>
                </a:solidFill>
                <a:latin typeface="Calibri"/>
              </a:rPr>
              <a:t>food-insecure households</a:t>
            </a:r>
          </a:p>
        </p:txBody>
      </p:sp>
      <p:sp>
        <p:nvSpPr>
          <p:cNvPr id="38" name="Target 2"/>
          <p:cNvSpPr/>
          <p:nvPr/>
        </p:nvSpPr>
        <p:spPr>
          <a:xfrm>
            <a:off x="8046720" y="5074920"/>
            <a:ext cx="1737360" cy="109728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138160" y="5120640"/>
            <a:ext cx="1554480" cy="548640"/>
          </a:xfrm>
          <a:prstGeom prst="rect">
            <a:avLst/>
          </a:prstGeom>
          <a:noFill/>
        </p:spPr>
        <p:txBody>
          <a:bodyPr wrap="square" lIns="0" rIns="0" tIns="0" bIns="0" anchor="t">
            <a:spAutoFit/>
          </a:bodyPr>
          <a:lstStyle/>
          <a:p>
            <a:pPr algn="ctr"/>
            <a:r>
              <a:rPr sz="2600" b="1" i="0">
                <a:solidFill>
                  <a:srgbClr val="15607A"/>
                </a:solidFill>
                <a:latin typeface="Calibri"/>
              </a:rPr>
              <a:t>&lt;15%</a:t>
            </a:r>
          </a:p>
        </p:txBody>
      </p:sp>
      <p:sp>
        <p:nvSpPr>
          <p:cNvPr id="40" name="TextBox 39"/>
          <p:cNvSpPr txBox="1"/>
          <p:nvPr/>
        </p:nvSpPr>
        <p:spPr>
          <a:xfrm>
            <a:off x="8138160" y="5669280"/>
            <a:ext cx="1554480" cy="457200"/>
          </a:xfrm>
          <a:prstGeom prst="rect">
            <a:avLst/>
          </a:prstGeom>
          <a:noFill/>
        </p:spPr>
        <p:txBody>
          <a:bodyPr wrap="square" lIns="0" rIns="0" tIns="0" bIns="0" anchor="t">
            <a:spAutoFit/>
          </a:bodyPr>
          <a:lstStyle/>
          <a:p>
            <a:pPr algn="ctr"/>
            <a:r>
              <a:rPr sz="1100" b="0" i="0">
                <a:solidFill>
                  <a:srgbClr val="222B33"/>
                </a:solidFill>
                <a:latin typeface="Calibri"/>
              </a:rPr>
              <a:t>child stunting</a:t>
            </a:r>
          </a:p>
        </p:txBody>
      </p:sp>
      <p:sp>
        <p:nvSpPr>
          <p:cNvPr id="41" name="Target 3"/>
          <p:cNvSpPr/>
          <p:nvPr/>
        </p:nvSpPr>
        <p:spPr>
          <a:xfrm>
            <a:off x="9875520" y="5074920"/>
            <a:ext cx="1737360" cy="109728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966960" y="5120640"/>
            <a:ext cx="1554480" cy="548640"/>
          </a:xfrm>
          <a:prstGeom prst="rect">
            <a:avLst/>
          </a:prstGeom>
          <a:noFill/>
        </p:spPr>
        <p:txBody>
          <a:bodyPr wrap="square" lIns="0" rIns="0" tIns="0" bIns="0" anchor="t">
            <a:spAutoFit/>
          </a:bodyPr>
          <a:lstStyle/>
          <a:p>
            <a:pPr algn="ctr"/>
            <a:r>
              <a:rPr sz="2600" b="1" i="0">
                <a:solidFill>
                  <a:srgbClr val="15607A"/>
                </a:solidFill>
                <a:latin typeface="Calibri"/>
              </a:rPr>
              <a:t>−10%</a:t>
            </a:r>
          </a:p>
        </p:txBody>
      </p:sp>
      <p:sp>
        <p:nvSpPr>
          <p:cNvPr id="43" name="TextBox 42"/>
          <p:cNvSpPr txBox="1"/>
          <p:nvPr/>
        </p:nvSpPr>
        <p:spPr>
          <a:xfrm>
            <a:off x="9966960" y="5669280"/>
            <a:ext cx="1554480" cy="457200"/>
          </a:xfrm>
          <a:prstGeom prst="rect">
            <a:avLst/>
          </a:prstGeom>
          <a:noFill/>
        </p:spPr>
        <p:txBody>
          <a:bodyPr wrap="square" lIns="0" rIns="0" tIns="0" bIns="0" anchor="t">
            <a:spAutoFit/>
          </a:bodyPr>
          <a:lstStyle/>
          <a:p>
            <a:pPr algn="ctr"/>
            <a:r>
              <a:rPr sz="1100" b="0" i="0">
                <a:solidFill>
                  <a:srgbClr val="222B33"/>
                </a:solidFill>
                <a:latin typeface="Calibri"/>
              </a:rPr>
              <a:t>food system emissions</a:t>
            </a:r>
          </a:p>
        </p:txBody>
      </p:sp>
      <p:sp>
        <p:nvSpPr>
          <p:cNvPr id="44" name="Source"/>
          <p:cNvSpPr txBox="1"/>
          <p:nvPr/>
        </p:nvSpPr>
        <p:spPr>
          <a:xfrm>
            <a:off x="548640" y="6355080"/>
            <a:ext cx="11064240" cy="274320"/>
          </a:xfrm>
          <a:prstGeom prst="rect">
            <a:avLst/>
          </a:prstGeom>
          <a:noFill/>
        </p:spPr>
        <p:txBody>
          <a:bodyPr wrap="square" lIns="0" rIns="0" tIns="0" bIns="0" anchor="t">
            <a:spAutoFit/>
          </a:bodyPr>
          <a:lstStyle/>
          <a:p>
            <a:pPr algn="l"/>
            <a:r>
              <a:rPr sz="1000" b="0" i="0">
                <a:solidFill>
                  <a:srgbClr val="6B757D"/>
                </a:solidFill>
                <a:latin typeface="Calibri"/>
              </a:rPr>
              <a:t>Source: Decision 300/QĐ-TTg (2023); 2030 targets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Implementing NAP-FST at national level</a:t>
            </a:r>
          </a:p>
        </p:txBody>
      </p:sp>
      <p:sp>
        <p:nvSpPr>
          <p:cNvPr id="3" name="TextBox 2"/>
          <p:cNvSpPr txBox="1"/>
          <p:nvPr/>
        </p:nvSpPr>
        <p:spPr>
          <a:xfrm>
            <a:off x="548640" y="1188720"/>
            <a:ext cx="6675120" cy="365760"/>
          </a:xfrm>
          <a:prstGeom prst="rect">
            <a:avLst/>
          </a:prstGeom>
          <a:noFill/>
        </p:spPr>
        <p:txBody>
          <a:bodyPr wrap="square" lIns="0" rIns="0" tIns="0" bIns="0" anchor="t">
            <a:spAutoFit/>
          </a:bodyPr>
          <a:lstStyle/>
          <a:p>
            <a:pPr algn="l"/>
            <a:r>
              <a:rPr sz="1800" b="1" i="0">
                <a:solidFill>
                  <a:srgbClr val="15607A"/>
                </a:solidFill>
                <a:latin typeface="Calibri"/>
              </a:rPr>
              <a:t>Institutions and policies</a:t>
            </a:r>
          </a:p>
        </p:txBody>
      </p:sp>
      <p:sp>
        <p:nvSpPr>
          <p:cNvPr id="4" name="TextBox 3"/>
          <p:cNvSpPr txBox="1"/>
          <p:nvPr/>
        </p:nvSpPr>
        <p:spPr>
          <a:xfrm>
            <a:off x="548640" y="1572768"/>
            <a:ext cx="6675120" cy="868680"/>
          </a:xfrm>
          <a:prstGeom prst="rect">
            <a:avLst/>
          </a:prstGeom>
          <a:noFill/>
        </p:spPr>
        <p:txBody>
          <a:bodyPr wrap="square" lIns="0" rIns="0" tIns="0" bIns="0" anchor="t">
            <a:spAutoFit/>
          </a:bodyPr>
          <a:lstStyle/>
          <a:p>
            <a:pPr algn="l"/>
            <a:r>
              <a:rPr sz="1400" b="0" i="0">
                <a:solidFill>
                  <a:srgbClr val="222B33"/>
                </a:solidFill>
                <a:latin typeface="Calibri"/>
              </a:rPr>
              <a:t>MAE assigned NAP-FST tasks to its agencies (Decision 4812, Nov 2023) and leads the FST-Partnership with 51 partners. The Ministry of Health issued its own plan (546/KH-BYT, Apr 2023), and provinces are building the plan into their programmes.</a:t>
            </a:r>
          </a:p>
        </p:txBody>
      </p:sp>
      <p:sp>
        <p:nvSpPr>
          <p:cNvPr id="5" name="TextBox 4"/>
          <p:cNvSpPr txBox="1"/>
          <p:nvPr/>
        </p:nvSpPr>
        <p:spPr>
          <a:xfrm>
            <a:off x="548640" y="2514600"/>
            <a:ext cx="6675120" cy="365760"/>
          </a:xfrm>
          <a:prstGeom prst="rect">
            <a:avLst/>
          </a:prstGeom>
          <a:noFill/>
        </p:spPr>
        <p:txBody>
          <a:bodyPr wrap="square" lIns="0" rIns="0" tIns="0" bIns="0" anchor="t">
            <a:spAutoFit/>
          </a:bodyPr>
          <a:lstStyle/>
          <a:p>
            <a:pPr algn="l"/>
            <a:r>
              <a:rPr sz="1800" b="1" i="0">
                <a:solidFill>
                  <a:srgbClr val="4E8F3A"/>
                </a:solidFill>
                <a:latin typeface="Calibri"/>
              </a:rPr>
              <a:t>Monitoring and evaluation</a:t>
            </a:r>
          </a:p>
        </p:txBody>
      </p:sp>
      <p:sp>
        <p:nvSpPr>
          <p:cNvPr id="6" name="TextBox 5"/>
          <p:cNvSpPr txBox="1"/>
          <p:nvPr/>
        </p:nvSpPr>
        <p:spPr>
          <a:xfrm>
            <a:off x="548640" y="2898648"/>
            <a:ext cx="6675120" cy="640080"/>
          </a:xfrm>
          <a:prstGeom prst="rect">
            <a:avLst/>
          </a:prstGeom>
          <a:noFill/>
        </p:spPr>
        <p:txBody>
          <a:bodyPr wrap="square" lIns="0" rIns="0" tIns="0" bIns="0" anchor="t">
            <a:spAutoFit/>
          </a:bodyPr>
          <a:lstStyle/>
          <a:p>
            <a:pPr algn="l"/>
            <a:r>
              <a:rPr sz="1400" b="0" i="0">
                <a:solidFill>
                  <a:srgbClr val="222B33"/>
                </a:solidFill>
                <a:latin typeface="Calibri"/>
              </a:rPr>
              <a:t>A set of M&amp;E indicators was completed in 2023–2024, and a detailed implementation plan (FST-PIP) was drafted in 2025 to turn tasks into funded actions.</a:t>
            </a:r>
          </a:p>
        </p:txBody>
      </p:sp>
      <p:sp>
        <p:nvSpPr>
          <p:cNvPr id="7" name="TextBox 6"/>
          <p:cNvSpPr txBox="1"/>
          <p:nvPr/>
        </p:nvSpPr>
        <p:spPr>
          <a:xfrm>
            <a:off x="548640" y="3611880"/>
            <a:ext cx="6675120" cy="365760"/>
          </a:xfrm>
          <a:prstGeom prst="rect">
            <a:avLst/>
          </a:prstGeom>
          <a:noFill/>
        </p:spPr>
        <p:txBody>
          <a:bodyPr wrap="square" lIns="0" rIns="0" tIns="0" bIns="0" anchor="t">
            <a:spAutoFit/>
          </a:bodyPr>
          <a:lstStyle/>
          <a:p>
            <a:pPr algn="l"/>
            <a:r>
              <a:rPr sz="1800" b="1" i="0">
                <a:solidFill>
                  <a:srgbClr val="E26E24"/>
                </a:solidFill>
                <a:latin typeface="Calibri"/>
              </a:rPr>
              <a:t>Sharing and dialogue</a:t>
            </a:r>
          </a:p>
        </p:txBody>
      </p:sp>
      <p:sp>
        <p:nvSpPr>
          <p:cNvPr id="8" name="TextBox 7"/>
          <p:cNvSpPr txBox="1"/>
          <p:nvPr/>
        </p:nvSpPr>
        <p:spPr>
          <a:xfrm>
            <a:off x="548640" y="3995928"/>
            <a:ext cx="6675120" cy="868680"/>
          </a:xfrm>
          <a:prstGeom prst="rect">
            <a:avLst/>
          </a:prstGeom>
          <a:noFill/>
        </p:spPr>
        <p:txBody>
          <a:bodyPr wrap="square" lIns="0" rIns="0" tIns="0" bIns="0" anchor="t">
            <a:spAutoFit/>
          </a:bodyPr>
          <a:lstStyle/>
          <a:p>
            <a:pPr algn="l"/>
            <a:r>
              <a:rPr sz="1400" b="0" i="0">
                <a:solidFill>
                  <a:srgbClr val="222B33"/>
                </a:solidFill>
                <a:latin typeface="Calibri"/>
              </a:rPr>
              <a:t>Viet Nam shares its experience in global forums such as FAST, COP28 and COP29, while national dialogues spread successful models of agroecology, nutrition and climate adaptation.</a:t>
            </a:r>
          </a:p>
        </p:txBody>
      </p:sp>
      <p:sp>
        <p:nvSpPr>
          <p:cNvPr id="9" name="Photo area"/>
          <p:cNvSpPr/>
          <p:nvPr/>
        </p:nvSpPr>
        <p:spPr>
          <a:xfrm>
            <a:off x="7589520" y="1234440"/>
            <a:ext cx="4023360" cy="224028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
        <p:nvSpPr>
          <p:cNvPr id="10" name="Photo area"/>
          <p:cNvSpPr/>
          <p:nvPr/>
        </p:nvSpPr>
        <p:spPr>
          <a:xfrm>
            <a:off x="7589520" y="3657600"/>
            <a:ext cx="4023360" cy="224028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
        <p:nvSpPr>
          <p:cNvPr id="11" name="Resilience contribution"/>
          <p:cNvSpPr/>
          <p:nvPr/>
        </p:nvSpPr>
        <p:spPr>
          <a:xfrm>
            <a:off x="548640" y="5120640"/>
            <a:ext cx="6675120" cy="822960"/>
          </a:xfrm>
          <a:prstGeom prst="roundRect">
            <a:avLst>
              <a:gd name="adj" fmla="val 8000"/>
            </a:avLst>
          </a:prstGeom>
          <a:solidFill>
            <a:srgbClr val="FFFFFF"/>
          </a:solidFill>
          <a:ln w="12700">
            <a:solidFill>
              <a:srgbClr val="E26E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silience text"/>
          <p:cNvSpPr txBox="1"/>
          <p:nvPr/>
        </p:nvSpPr>
        <p:spPr>
          <a:xfrm>
            <a:off x="777240" y="5138928"/>
            <a:ext cx="6263640" cy="777240"/>
          </a:xfrm>
          <a:prstGeom prst="rect">
            <a:avLst/>
          </a:prstGeom>
          <a:noFill/>
        </p:spPr>
        <p:txBody>
          <a:bodyPr wrap="square" lIns="0" rIns="0" tIns="0" bIns="0" anchor="ctr">
            <a:spAutoFit/>
          </a:bodyPr>
          <a:lstStyle/>
          <a:p>
            <a:pPr algn="l"/>
            <a:r>
              <a:rPr sz="1300" b="1" i="0">
                <a:solidFill>
                  <a:srgbClr val="E26E24"/>
                </a:solidFill>
                <a:latin typeface="Calibri"/>
              </a:rPr>
              <a:t>How this builds resilience: </a:t>
            </a:r>
            <a:r>
              <a:rPr sz="1300" b="0" i="0">
                <a:solidFill>
                  <a:srgbClr val="222B33"/>
                </a:solidFill>
                <a:latin typeface="Calibri"/>
              </a:rPr>
              <a:t>clear roles and cross-ministry coordination allow faster, joined-up responses to shocks; M&amp;E gives early signals; partnerships pool finance and expertise</a:t>
            </a:r>
          </a:p>
        </p:txBody>
      </p:sp>
      <p:sp>
        <p:nvSpPr>
          <p:cNvPr id="13" name="Source"/>
          <p:cNvSpPr txBox="1"/>
          <p:nvPr/>
        </p:nvSpPr>
        <p:spPr>
          <a:xfrm>
            <a:off x="548640" y="6355080"/>
            <a:ext cx="11064240" cy="274320"/>
          </a:xfrm>
          <a:prstGeom prst="rect">
            <a:avLst/>
          </a:prstGeom>
          <a:noFill/>
        </p:spPr>
        <p:txBody>
          <a:bodyPr wrap="square" lIns="0" rIns="0" tIns="0" bIns="0" anchor="t">
            <a:spAutoFit/>
          </a:bodyPr>
          <a:lstStyle/>
          <a:p>
            <a:pPr algn="l"/>
            <a:r>
              <a:rPr sz="1000" b="0" i="0">
                <a:solidFill>
                  <a:srgbClr val="6B757D"/>
                </a:solidFill>
                <a:latin typeface="Calibri"/>
              </a:rPr>
              <a:t>Sources: Decision 300/QĐ-TTg (2023); MAE overview of NAP-FST implementation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0A587A0-109F-4328-A9BF-26E2396A50B8}">
  <we:reference id="WA200010725" version="1.0.0.1" store="Omex" storeType="OMEX"/>
  <we:alternateReferences>
    <we:reference id="WA200010725" version="1.0.0.1" store="WA200010725" storeType="OMEX"/>
  </we:alternateReferences>
  <we:properties>
    <we:property name="claude.fileId" value="&quot;4438f398-7f65-4fb1-a867-8c46332a8f7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140</TotalTime>
  <Words>4139</Words>
  <Application>Microsoft Office PowerPoint</Application>
  <PresentationFormat>Widescreen</PresentationFormat>
  <Paragraphs>234</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Quoc Minh (Alliance Bioversity-CIAT)</dc:creator>
  <cp:lastModifiedBy>Nguyen, Quoc Minh (Alliance Bioversity-CIAT)</cp:lastModifiedBy>
  <cp:revision>4</cp:revision>
  <dcterms:created xsi:type="dcterms:W3CDTF">2026-10-28T07:35:28Z</dcterms:created>
  <dcterms:modified xsi:type="dcterms:W3CDTF">2026-10-28T11:20:58Z</dcterms:modified>
</cp:coreProperties>
</file>