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82" r:id="rId19"/>
    <p:sldId id="283" r:id="rId20"/>
    <p:sldId id="291" r:id="rId28"/>
    <p:sldId id="281" r:id="rId4"/>
    <p:sldId id="284" r:id="rId21"/>
    <p:sldId id="285" r:id="rId22"/>
    <p:sldId id="270" r:id="rId6"/>
    <p:sldId id="286" r:id="rId23"/>
    <p:sldId id="287" r:id="rId24"/>
    <p:sldId id="288" r:id="rId25"/>
    <p:sldId id="289" r:id="rId26"/>
    <p:sldId id="29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4D276-C94A-44F8-BE02-78E6DE7175C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14F9D-2F10-4DE6-BB03-015E6867A97A}" type="slidenum">
              <a:rPr lang="en-US" smtClean="0"/>
              <a:t>‹#›</a:t>
            </a:fld>
            <a:endParaRPr lang="en-US"/>
          </a:p>
        </p:txBody>
      </p:sp>
    </p:spTree>
    <p:extLst>
      <p:ext uri="{BB962C8B-B14F-4D97-AF65-F5344CB8AC3E}">
        <p14:creationId xmlns:p14="http://schemas.microsoft.com/office/powerpoint/2010/main" val="2962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Có thể bỏ slide này vì nó thuộc cấp quốc gia</a:t>
            </a:r>
          </a:p>
          <a:p/>
          <a:p>
            <a:r>
              <a:t>Speaker points: the shift is from sector-by-sector plans (output and economic value) to one coordinated, cross-ministry plan with measurable targets. Key steps: UNFSS national dialogues (2021) led by MARD, NIN and VAAS produced the National Pathway; Strategy for Sustainable Agriculture and Rural Development 2021-2030 (Decision 150/QD-TTg, 2022); Resolution 19-NQ/TW (2022); NAP-FST (Decision 300/QD-TTg, 28 March 2023). Later: Ministry of Health implementation plan 546/KH-BYT; COP28 Emirates Declaration on Resilient Food Systems; FST-Partnership endorsed (Letter 6483/VPCP-QHQT); MARD and MONRE merged into MAE (2025); NAP-FST mid-term report due 2026.</a:t>
            </a:r>
          </a:p>
        </p:txBody>
      </p:sp>
      <p:sp>
        <p:nvSpPr>
          <p:cNvPr id="462" name="Google Shape;4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a:t>
            </a:fld>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6308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National level. Lead and coordination: MAE is the national focal point, working with the Ministry of Health and the Ministry of Industry and Trade; provinces integrate the plan into their socio-economic and sector plans.</a:t>
            </a:r>
          </a:p>
          <a:p>
            <a:r>
              <a:t>Inter-sectoral coordination mechanism (2025): a National Steering Committee, an FST-Partnership Office and 5 technical working groups.</a:t>
            </a:r>
          </a:p>
          <a:p>
            <a:r>
              <a:t>Draft Project Implementation Plan (June 2025): 37 specific tasks, with attention to private investment and innovation (UNDP).</a:t>
            </a:r>
          </a:p>
          <a:p>
            <a:r>
              <a:t>Ministry of Health: NAP-FST implementation plan 546/KH-BYT (consumer awareness, healthy diets, food safety).</a:t>
            </a:r>
          </a:p>
          <a:p>
            <a:r>
              <a:t>Monitoring: an M&amp;E indicator system linked to MAE's digital database is being finalised; mid-term report due in 2026.</a:t>
            </a:r>
          </a:p>
          <a:p>
            <a:r>
              <a:t>International commitments: UNFSS+2 (2023), COP28 Emirates Declaration, UNFSS+4 (2025).</a:t>
            </a:r>
          </a:p>
          <a:p>
            <a:r>
              <a:t>What's ahead: turning tasks into budgeted programmes and tracking them.</a:t>
            </a:r>
          </a:p>
        </p:txBody>
      </p:sp>
      <p:sp>
        <p:nvSpPr>
          <p:cNvPr id="555" name="Google Shape;5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of the presentation (from the original slide): food system resilience; resilient food systems; in the context of Vietnam; linkages with NAP-FST's three principles of sustainability, transparency and responsibility; linkages with its objectives and content.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Food system resilience (Tendall et al., 2015, Global Food Security 6, p. 19): "capacity over time of a food system and its units at multiple levels, to provide sufficient, appropriate and accessible food to all, in the face of various and even unforeseen disturbances".</a:t>
            </a:r>
          </a:p>
          <a:p>
            <a:r>
              <a:t>FAO (2021, State of Food and Agriculture, p. 6) uses almost the same wording for agrifood systems and adds the livelihoods of the actors in them.</a:t>
            </a:r>
          </a:p>
          <a:p>
            <a:r>
              <a:t>Actor view: the ability of individual and institutional actors to "maintain, protect, or successfully recover the key functions" of the food system despite shocks (Béné et al., 2023, p. 1438).</a:t>
            </a:r>
          </a:p>
          <a:p>
            <a:r>
              <a:t>A resilient food system can: resist and absorb shocks (robustness, buffers, redundancy); adapt and recover (adjust practices, markets and policies; bounce back); and transform when the old system is untenable, to "bounce forward" in equitable ways (HLPE, 2025).</a:t>
            </a:r>
          </a:p>
          <a:p>
            <a:r>
              <a:t>Resilience is not the same as sustainability: sustainability is about keeping the system going in the long run; resilience is about coping with disturbances along the way. The newer HLPE framing asks resilience to reduce inequality, not just restore the pre-shock 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of what? Rice-based national food security and exports; smallholder and household livelihoods; diets and nutrition; territorial food systems (Mekong Delta, northern uplands).</a:t>
            </a:r>
          </a:p>
          <a:p>
            <a:r>
              <a:t>Resilience to what? Climate: typhoons (Yagi, 2024), floods, drought, salinity intrusion in the Mekong Delta. Markets: rice and input price shocks (2007-08). Pandemics: COVID-19 (2020-21). Long-term stresses: land degradation, urbanisation, the nutrition transition.</a:t>
            </a:r>
          </a:p>
          <a:p>
            <a:r>
              <a:t>For whom? Smallholders, ethnic minority and mountain communities, low-income urban households, women, workers along the value chain.</a:t>
            </a:r>
          </a:p>
          <a:p>
            <a:r>
              <a:t>Evidence from Viet Nam:</a:t>
            </a:r>
          </a:p>
          <a:p>
            <a:r>
              <a:t>- Price and income shocks push poor households towards rice at the expense of diverse diets (Hoang, 2018).</a:t>
            </a:r>
          </a:p>
          <a:p>
            <a:r>
              <a:t>- Mekong Delta farming systems facing salinity: recovery depends on credit, off-farm income and fresh water; rice-oriented policy makes it harder to switch systems (Nguyen et al., 2019).</a:t>
            </a:r>
          </a:p>
          <a:p>
            <a:r>
              <a:t>- Moc Chau (Son La) under COVID-19: diverse food sources, decentralised flows and low reliance on external inputs kept the local food system working (Bruckert &amp; Nguyen, 2024).</a:t>
            </a:r>
          </a:p>
          <a:p>
            <a:r>
              <a:t>- 2007-08 rice crisis: export restrictions, Viet Nam's among them, helped turn an adequately supplied market into a price spike (Dawe &amp; Slayton, 2011).</a:t>
            </a:r>
          </a:p>
          <a:p>
            <a:r>
              <a:t>Key message: diversity, finance and sound policy decide who copes. Most evidence is household- or farming-system-level; there is no national resilience assessment for Viet Nam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traceability, production area codes, labelling, food balance sheets and data. Better information supports early warning and quicker, fairer responses to shocks.</a:t>
            </a:r>
          </a:p>
          <a:p>
            <a:r>
              <a:t>Responsibility: every actor has a role: input suppliers, farmers, processors, distributors, consumers and the state. Shared responsibility spreads risk and protects the most vulnerable.</a:t>
            </a:r>
          </a:p>
          <a:p>
            <a:r>
              <a:t>Sustainability: agroecology, low emissions, efficient use of land and water, less food loss and waste. A healthier resource base lowers long-term stress and widens adaptation options.</a:t>
            </a:r>
          </a:p>
          <a:p>
            <a:r>
              <a:t>Explicit link in the plan: one NAP-FST viewpoint ties food system transformation to "resilience to shocks", alongside agroecology, competitiveness and the reputation of Vietnamese products (Decision 300/QD-TTg, 28 March 2023).</a:t>
            </a:r>
          </a:p>
          <a:p>
            <a:r>
              <a:t>Overall objective: food and nutrition security, better incomes and quality of life, disaster and epidemic prevention, climate adaptation, and the SDGs by 2030.</a:t>
            </a:r>
          </a:p>
          <a:p>
            <a:r>
              <a:t>Speaker point: the three principles map onto the resilience capacities on slide 1: information and buffers help a system resist; shared responsibility helps it recover; sustainability helps it adapt and transform.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NAP-FST task areas and the resilience capacity they build:</a:t>
            </a:r>
          </a:p>
          <a:p>
            <a:r>
              <a:t>- Policies and standards: agroecology and low-emission policy; planning by ecological zone; PPPs for logistics and cold chains; M&amp;E indicators (adaptive, transformative).</a:t>
            </a:r>
          </a:p>
          <a:p>
            <a:r>
              <a:t>- Input supply: climate-tolerant varieties; organic fertiliser and bio-pesticides; wholesale markets as logistics hubs (absorptive, adaptive).</a:t>
            </a:r>
          </a:p>
          <a:p>
            <a:r>
              <a:t>- Production: digital weather, pest and market warnings down to commune level; agroecological protocols; nutrition-sensitive agriculture in mountain and ethnic minority areas; One Health; risk management and agricultural insurance (absorptive, adaptive).</a:t>
            </a:r>
          </a:p>
          <a:p>
            <a:r>
              <a:t>- Processing and distribution: storage to buffer supply disruptions, prioritising the poor; stable supply chains; food loss and waste reduction; e-commerce (absorptive: redundancy and buffers).</a:t>
            </a:r>
          </a:p>
          <a:p>
            <a:r>
              <a:t>- Consumption: national and provincial food balance sheets; a pilot food bank; healthy and responsible consumption (absorptive; protects outcomes).</a:t>
            </a:r>
          </a:p>
          <a:p>
            <a:r>
              <a:t>2030 targets that matter for resilience: severe or moderate household food insecurity below 5%; stunting below 15%; post-harvest losses down 0.5-1% a year; GAP or equivalent above 30% of output; food system GHG emissions down 10% from 2020.</a:t>
            </a:r>
          </a:p>
          <a:p>
            <a:r>
              <a:t>Speaker point: many NAP-FST tasks are in effect resilience measures even though they are not labelled that way. Making the resilience lens explicit would help set priorities and design monitoring.</a:t>
            </a:r>
          </a:p>
          <a:p>
            <a:r>
              <a:t>Source: Decision 300/QD-TTg (2023), Section III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Pioneer provinces: Son La (agroecology linked to tourism), Dong Thap (rice-fish value chain) and Nghe An (nutrition-sensitive farming models) [check whether Nghe An has a formal plan].</a:t>
            </a:r>
          </a:p>
          <a:p>
            <a:r>
              <a:t>Provincial inter-sectoral working groups set up in Son La and Dong Thap (June-September 2024), bringing together agriculture, health, trade and community associations.</a:t>
            </a:r>
          </a:p>
          <a:p>
            <a:r>
              <a:t>Evidence-based process (Subnational Food Systems Transformation Decision Supporting, FSDS), facilitated by the National Inter-sectoral Support Group (NSG): food system profile, participatory priority-setting, 3-4 priority interventions per province.</a:t>
            </a:r>
          </a:p>
          <a:p>
            <a:r>
              <a:t>Policy result: Son La approved its Provincial Implementation Plan (161/KH-UBND, July 2025).</a:t>
            </a:r>
          </a:p>
          <a:p>
            <a:r>
              <a:t>Provincial plans build on existing poverty reduction and socio-economic programmes.</a:t>
            </a:r>
          </a:p>
          <a:p>
            <a:r>
              <a:t>Speaker point: provinces are where resilience is actually built, because shocks are local. Son La shows the national plan can become a concrete provincial plan.</a:t>
            </a:r>
          </a:p>
          <a:p>
            <a:r>
              <a:t>Sources: Alliance Bioversity-CIAT outcome report (Lundy et al., 2026); MAE news, 4 Nov 2025.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so far:</a:t>
            </a:r>
          </a:p>
          <a:p>
            <a:r>
              <a:t>- Training on food systems transformation for local authorities, researchers, lecturers and students, with ISPAE, VAAS, NIN, Wageningen University and Vietnamese universities.</a:t>
            </a:r>
          </a:p>
          <a:p>
            <a:r>
              <a:t>- Provincial food system profiles, giving a baseline for monitoring.</a:t>
            </a:r>
          </a:p>
          <a:p>
            <a:r>
              <a:t>- Policy coherence work, e.g. the review of 304 legal documents on low-carbon, responsible agriculture (FAO, 2024).</a:t>
            </a:r>
          </a:p>
          <a:p>
            <a:r>
              <a:t>Gaps:</a:t>
            </a:r>
          </a:p>
          <a:p>
            <a:r>
              <a:t>- Most localities lack dedicated funding and staff, especially for communication and M&amp;E (MAE, 2025).</a:t>
            </a:r>
          </a:p>
          <a:p>
            <a:r>
              <a:t>- Resilience is implicit in NAP-FST: no resilience indicators and no system-level assessment yet.</a:t>
            </a:r>
          </a:p>
          <a:p>
            <a:r>
              <a:t>- Weak evidence on midstream actors (traders, processors, retailers) and on ethnic minority and mountain areas.</a:t>
            </a:r>
          </a:p>
          <a:p>
            <a:r>
              <a:t>- Climate finance and private investment are not yet mobilised at scale.</a:t>
            </a:r>
          </a:p>
          <a:p>
            <a:r>
              <a:t>These gaps lead into the recommendations on the final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FST-Partnership: a government-endorsed platform (Letter 6483/VPCP-QHQT) chaired by MAE, signed by 3 ministries and 30 partners; it now engages 47-49 partners (UNDP: 47 in June 2025; Alliance report: 49+). Members include government, UN agencies (FAO, UNDP and others), development partners, research organisations (CGIAR and others), NGOs and businesses. Focus: strategic partnerships, finance for agriculture, knowledge and capacity building, and 5 technical working groups.</a:t>
            </a:r>
          </a:p>
          <a:p>
            <a:r>
              <a:t>ALiSEA (Agroecology Learning Alliance in South East Asia): a regional agroecology network in Cambodia, Laos, Myanmar, Thailand and Viet Nam with about 200 members (NGOs, farmer organisations, research, private sector and government). It works on knowledge sharing, awareness, policy dialogue, capacity building and small grants, and links agroecology practice with policy, including the consultation on ASEAN guidelines on agroecology policy (Nov 2025) [check the guideline's name].</a:t>
            </a:r>
          </a:p>
          <a:p>
            <a:r>
              <a:t>Why platforms matter for resilience: they connect sectors that otherwise work separately (agriculture, health, trade, environment), share early information, pool resources and coordinate responses when shocks hit. Platforms are part of the social infrastructure of resilience: connectivity, trust and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Make resilience explicit in NAP-FST: add resilience indicators to the M&amp;E system and the 2026 mid-term review, covering shock exposure, capacities and food security outcomes.</a:t>
            </a:r>
          </a:p>
          <a:p>
            <a:r>
              <a:t>2. Assess food system resilience at national and provincial level: use food system profiles to map shocks, vulnerable groups and critical points (wholesale markets, logistics, storage).</a:t>
            </a:r>
          </a:p>
          <a:p>
            <a:r>
              <a:t>3. Diversify: crops and diets, markets and supply sources, household incomes. Avoid policies that lock in single-commodity systems.</a:t>
            </a:r>
          </a:p>
          <a:p>
            <a:r>
              <a:t>4. Protect the most vulnerable: shock-responsive social protection, food reserves and food banks, nutrition-sensitive programmes in mountain and ethnic minority areas.</a:t>
            </a:r>
          </a:p>
          <a:p>
            <a:r>
              <a:t>5. Strengthen the midstream: wholesale markets, cold chains, storage and digital market information; include traders and processors in plans.</a:t>
            </a:r>
          </a:p>
          <a:p>
            <a:r>
              <a:t>6. Fund local implementation: provincial budgets and staff, plus climate finance, green credit and private investment.</a:t>
            </a:r>
          </a:p>
          <a:p>
            <a:r>
              <a:t>7. Use platforms to coordinate during shocks: the FST-Partnership's working groups and ALiSEA can provide early warning, rapid dialogue and shared learning.</a:t>
            </a:r>
          </a:p>
          <a:p>
            <a:r>
              <a:t>8. Aim to bounce forward: recovery after shocks should lead to fairer, greener food systems, not just a return to the old ones.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Acknowledgements: add partners, funders and logos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generic principles for enhancing resilience (Biggs et al., 2012, Annual Review of Environment and Resources 37): (P1) maintain diversity and redundancy, (P2) manage connectivity, (P3) manage slow variables and feedbacks, (P4) foster an understanding of social-ecological systems as complex adaptive systems, (P5) encourage learning and experimentation, (P6) broaden participation, (P7) promote polycentric governance. On the slide, P4 and P5 are combined. The principles often co-occur and depend on each other.</a:t>
            </a:r>
          </a:p>
          <a:p>
            <a:r>
              <a:t>Viet Nam examples (critical reading):</a:t>
            </a:r>
          </a:p>
          <a:p>
            <a:r>
              <a:t>1. Diversity and redundancy (+): in Moc Chau (Son La), diverse food sources, decentralised flows and low reliance on external inputs kept the local food system working during COVID-19 (Bruckert &amp; Nguyen, 2024). Hertel et al. (2021) call diversification the most fundamental lever.</a:t>
            </a:r>
          </a:p>
          <a:p>
            <a:r>
              <a:t>2. Connectivity (-): connectivity can spread or dampen shocks. In 2007-08, export restrictions by major exporters, Viet Nam among them, helped turn an adequately supplied rice market into a price spike (Dawe &amp; Slayton, 2011).</a:t>
            </a:r>
          </a:p>
          <a:p>
            <a:r>
              <a:t>3. Slow variables (-): in the coastal Mekong Delta, rising salinity is a slow stress; farmers' recovery depends on credit, off-farm income and fresh water, and rice-oriented policy makes it harder to change systems (Nguyen et al., 2019). Land degradation in Moc Chau is another slow variable.</a:t>
            </a:r>
          </a:p>
          <a:p>
            <a:r>
              <a:t>4. Learning and experimentation (+): Son La and Dong Thap piloted provincial food system profiles and priority-setting before a provincial plan was approved (Son La 161/KH-UBND, 2025) (Lundy et al., 2026).</a:t>
            </a:r>
          </a:p>
          <a:p>
            <a:r>
              <a:t>5. Participation (-): in Ca Mau, shrimp-mangrove and fisheries policies aimed at social-ecological resilience did not necessarily raise households' social and economic resilience; control and enforcement alone are not enough (Tran, 2012).</a:t>
            </a:r>
          </a:p>
          <a:p>
            <a:r>
              <a:t>6. Polycentric governance (+, with a caveat): NAP-FST links national ministries, provinces and the FST-Partnership, but most localities still lack dedicated funding and staff (MAE, 2025).</a:t>
            </a:r>
          </a:p>
          <a:p>
            <a:r>
              <a:t>Key message: the principles help, but they can pull against each other (e.g. trade connectivity vs self-sufficiency), so trade-offs have to be negotiated (Zurek et al., 2022).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C40-0BDA-D5AA-4A37-02EACF1A9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A4E1B8-C092-7A2C-82E8-0419E568A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310C67-94B9-CD91-7148-609CE369B27D}"/>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FFC0D7-68A5-52B7-B033-2D246210C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EF500-5BDB-2D11-A60B-C5B08774D44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84632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84C9-5F78-1B79-8DC2-298696A48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14A06-3E72-C22C-CFA5-90307B437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2849C-4C2E-F57A-C9A0-019FB6A0309A}"/>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D6B5CB86-CE34-7FF0-3C02-98EC0E88F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20AB2-5A50-82BD-6E82-2B0D972466A8}"/>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5459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84BF-643A-7613-96C7-021A59D94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4BD32-7381-7129-5035-D831EF6A4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F0F-960F-B77F-8AA8-69EDC6D3AA96}"/>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6FD4D64C-5441-42F7-9256-23CF28EB3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07B9F-F88F-F76C-00AC-C1999EA7FB2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3248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0CB7-18DB-4277-F3D1-FFCA28CB1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CED36-221B-4B34-9848-0FB45FDFE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F2FCC-074F-3049-C12D-7E59D379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9F1FF9-D86B-2CEE-344E-F96F386B26C3}"/>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DC49BFE-5737-12D0-696C-8FFE55552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0790AB-1934-275C-EBA9-5DBFDB9FE529}"/>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9673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84A1-7389-724D-1B98-057BE4FF0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4722D-9FE1-20DE-B30A-4950BBCC2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8A573-4098-A051-757D-72944BF53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75AE9-8D92-DAD8-B020-9AC2F6A9E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BD6AC-79C9-B994-BAC0-726C04DD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EC534-1190-B8C3-D3F0-90A06588EC72}"/>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8" name="Footer Placeholder 7">
            <a:extLst>
              <a:ext uri="{FF2B5EF4-FFF2-40B4-BE49-F238E27FC236}">
                <a16:creationId xmlns:a16="http://schemas.microsoft.com/office/drawing/2014/main" id="{167FE51A-3249-20C0-1200-3390D9FF7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51E403-974E-4061-4134-F6C0D63B0A3A}"/>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71151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8CF9-E3E5-DD60-6EB7-87E01B2A8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D3683-79EE-0031-A210-2340CC3A8EE8}"/>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4" name="Footer Placeholder 3">
            <a:extLst>
              <a:ext uri="{FF2B5EF4-FFF2-40B4-BE49-F238E27FC236}">
                <a16:creationId xmlns:a16="http://schemas.microsoft.com/office/drawing/2014/main" id="{036FAAF9-DA40-B04D-9806-1957C0805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2A758-EABD-0357-90D7-5F41B623721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1262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C560B-172C-5B9E-046E-E9D63201C18E}"/>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3" name="Footer Placeholder 2">
            <a:extLst>
              <a:ext uri="{FF2B5EF4-FFF2-40B4-BE49-F238E27FC236}">
                <a16:creationId xmlns:a16="http://schemas.microsoft.com/office/drawing/2014/main" id="{84AAB0EF-749E-711C-70E0-159CE3BC3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D0E609-724C-CE07-FA98-E51FF880D36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868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C9C-CA57-CA85-9DE5-A715ADDA2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2E8E5-CB5F-DDC8-FB8D-1CE3E8C35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53C302-E5AB-0B02-920B-8028CEBB2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292C-870A-9DD2-DA87-B72AA51A865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1BC35805-A939-E8DA-EB49-5B5CA3785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82684-6251-EFDC-DC0E-63ABFD4654AF}"/>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337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6BFC-23E6-1B78-39FF-8F8518C34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27E20E-A3D6-DB88-6848-C51C8467BD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A9A51-CB16-3314-6620-4EBF6A7A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712F1-8F94-EA14-8D55-A5E78077B895}"/>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F7CED17-935D-9979-10A9-8484E7F1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FEC7E-917D-FF79-D3A1-5D3A8BDBB076}"/>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8367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8312-7568-C929-0929-A56AE6DC3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C7D2E-23C0-A7E7-A796-13CFAFB58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BB5C5-3194-2678-FD28-9B1B8666649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B27CEC-790A-1577-A1B8-60A9BB826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95F10-9B0E-395A-291C-409CE55DC90D}"/>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9845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48C01-9C69-4F0A-6627-9CE9B4060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C629E9-5C87-428D-9FEB-E5CA02E20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158C1-90BC-A955-E48D-DC6B8344D3DB}"/>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85BF66E7-8143-065C-239A-9D4A6C3FA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2C1E-826D-6967-A23D-0BF676E9B1E5}"/>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137250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82A0B-F113-4F62-35B9-1573D29F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B8C253-E168-BB55-02FF-A5D91417E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33770-2DDE-65C7-9E6A-C07BC802C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0848788F-D34E-0B9D-860A-532855D8D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DB8320-C542-35BA-CCD8-AF2CFF496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9CFAE9-7595-495E-A841-5DE47D2FD18E}" type="slidenum">
              <a:rPr lang="en-US" smtClean="0"/>
              <a:t>‹#›</a:t>
            </a:fld>
            <a:endParaRPr lang="en-US"/>
          </a:p>
        </p:txBody>
      </p:sp>
    </p:spTree>
    <p:extLst>
      <p:ext uri="{BB962C8B-B14F-4D97-AF65-F5344CB8AC3E}">
        <p14:creationId xmlns:p14="http://schemas.microsoft.com/office/powerpoint/2010/main" val="129383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itle"/>
          <p:cNvSpPr txBox="1"/>
          <p:nvPr/>
        </p:nvSpPr>
        <p:spPr>
          <a:xfrm>
            <a:off x="731520" y="1920240"/>
            <a:ext cx="6766560" cy="1828800"/>
          </a:xfrm>
          <a:prstGeom prst="rect">
            <a:avLst/>
          </a:prstGeom>
          <a:noFill/>
        </p:spPr>
        <p:txBody>
          <a:bodyPr wrap="square" lIns="0" rIns="0" tIns="0" bIns="0" anchor="t">
            <a:spAutoFit/>
          </a:bodyPr>
          <a:lstStyle/>
          <a:p>
            <a:pPr algn="l"/>
            <a:r>
              <a:rPr sz="4400" b="1" i="0">
                <a:solidFill>
                  <a:srgbClr val="FFFFFF"/>
                </a:solidFill>
                <a:latin typeface="Calibri"/>
              </a:rPr>
              <a:t>Enhancing resilience of food systems in Viet Nam</a:t>
            </a:r>
          </a:p>
        </p:txBody>
      </p:sp>
      <p:sp>
        <p:nvSpPr>
          <p:cNvPr id="4" name="Subtitle"/>
          <p:cNvSpPr txBox="1"/>
          <p:nvPr/>
        </p:nvSpPr>
        <p:spPr>
          <a:xfrm>
            <a:off x="731520" y="3931920"/>
            <a:ext cx="6766560" cy="548640"/>
          </a:xfrm>
          <a:prstGeom prst="rect">
            <a:avLst/>
          </a:prstGeom>
          <a:noFill/>
        </p:spPr>
        <p:txBody>
          <a:bodyPr wrap="square" lIns="0" rIns="0" tIns="0" bIns="0" anchor="t">
            <a:spAutoFit/>
          </a:bodyPr>
          <a:lstStyle/>
          <a:p>
            <a:pPr algn="l"/>
            <a:r>
              <a:rPr sz="1800" b="0" i="0">
                <a:solidFill>
                  <a:srgbClr val="D6E8EE"/>
                </a:solidFill>
                <a:latin typeface="Calibri"/>
              </a:rPr>
              <a:t>Linking food system resilience with the National Action Plan on Food Systems Transformation (NAP-FST)</a:t>
            </a:r>
          </a:p>
        </p:txBody>
      </p:sp>
      <p:sp>
        <p:nvSpPr>
          <p:cNvPr id="5" name="Photo area"/>
          <p:cNvSpPr/>
          <p:nvPr/>
        </p:nvSpPr>
        <p:spPr>
          <a:xfrm>
            <a:off x="7955279" y="731520"/>
            <a:ext cx="3657600" cy="539496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Tree>
    <p:extLst>
      <p:ext uri="{BB962C8B-B14F-4D97-AF65-F5344CB8AC3E}">
        <p14:creationId xmlns:p14="http://schemas.microsoft.com/office/powerpoint/2010/main" val="335986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Objectives</a:t>
            </a:r>
          </a:p>
        </p:txBody>
      </p:sp>
      <p:sp>
        <p:nvSpPr>
          <p:cNvPr id="3" name="Number 1"/>
          <p:cNvSpPr/>
          <p:nvPr/>
        </p:nvSpPr>
        <p:spPr>
          <a:xfrm>
            <a:off x="640080" y="146304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4" name="Objective 1"/>
          <p:cNvSpPr txBox="1"/>
          <p:nvPr/>
        </p:nvSpPr>
        <p:spPr>
          <a:xfrm>
            <a:off x="1417320" y="1463040"/>
            <a:ext cx="6035040" cy="548640"/>
          </a:xfrm>
          <a:prstGeom prst="rect">
            <a:avLst/>
          </a:prstGeom>
          <a:noFill/>
        </p:spPr>
        <p:txBody>
          <a:bodyPr wrap="square" lIns="0" rIns="0" tIns="0" bIns="0" anchor="ctr">
            <a:spAutoFit/>
          </a:bodyPr>
          <a:lstStyle/>
          <a:p>
            <a:pPr algn="l"/>
            <a:r>
              <a:rPr sz="2000" b="0" i="0">
                <a:solidFill>
                  <a:srgbClr val="222B33"/>
                </a:solidFill>
                <a:latin typeface="Calibri"/>
              </a:rPr>
              <a:t>Define food system resilience and resilient food systems</a:t>
            </a:r>
          </a:p>
        </p:txBody>
      </p:sp>
      <p:sp>
        <p:nvSpPr>
          <p:cNvPr id="5" name="Number 2"/>
          <p:cNvSpPr/>
          <p:nvPr/>
        </p:nvSpPr>
        <p:spPr>
          <a:xfrm>
            <a:off x="640080" y="2331720"/>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6" name="Objective 2"/>
          <p:cNvSpPr txBox="1"/>
          <p:nvPr/>
        </p:nvSpPr>
        <p:spPr>
          <a:xfrm>
            <a:off x="1417320" y="2331720"/>
            <a:ext cx="6035040" cy="548640"/>
          </a:xfrm>
          <a:prstGeom prst="rect">
            <a:avLst/>
          </a:prstGeom>
          <a:noFill/>
        </p:spPr>
        <p:txBody>
          <a:bodyPr wrap="square" lIns="0" rIns="0" tIns="0" bIns="0" anchor="ctr">
            <a:spAutoFit/>
          </a:bodyPr>
          <a:lstStyle/>
          <a:p>
            <a:pPr algn="l"/>
            <a:r>
              <a:rPr sz="2000" b="0" i="0">
                <a:solidFill>
                  <a:srgbClr val="222B33"/>
                </a:solidFill>
                <a:latin typeface="Calibri"/>
              </a:rPr>
              <a:t>Unpack the concept in the context of Viet Nam</a:t>
            </a:r>
          </a:p>
        </p:txBody>
      </p:sp>
      <p:sp>
        <p:nvSpPr>
          <p:cNvPr id="7" name="Number 3"/>
          <p:cNvSpPr/>
          <p:nvPr/>
        </p:nvSpPr>
        <p:spPr>
          <a:xfrm>
            <a:off x="640080" y="32004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8" name="Objective 3"/>
          <p:cNvSpPr txBox="1"/>
          <p:nvPr/>
        </p:nvSpPr>
        <p:spPr>
          <a:xfrm>
            <a:off x="1417320" y="3200400"/>
            <a:ext cx="6035040" cy="548640"/>
          </a:xfrm>
          <a:prstGeom prst="rect">
            <a:avLst/>
          </a:prstGeom>
          <a:noFill/>
        </p:spPr>
        <p:txBody>
          <a:bodyPr wrap="square" lIns="0" rIns="0" tIns="0" bIns="0" anchor="ctr">
            <a:spAutoFit/>
          </a:bodyPr>
          <a:lstStyle/>
          <a:p>
            <a:pPr algn="l"/>
            <a:r>
              <a:rPr sz="2000" b="0" i="0">
                <a:solidFill>
                  <a:srgbClr val="222B33"/>
                </a:solidFill>
                <a:latin typeface="Calibri"/>
              </a:rPr>
              <a:t>Link it with the NAP-FST principles: sustainability, transparency, responsibility</a:t>
            </a:r>
          </a:p>
        </p:txBody>
      </p:sp>
      <p:sp>
        <p:nvSpPr>
          <p:cNvPr id="9" name="Number 4"/>
          <p:cNvSpPr/>
          <p:nvPr/>
        </p:nvSpPr>
        <p:spPr>
          <a:xfrm>
            <a:off x="640080" y="4069079"/>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0" name="Objective 4"/>
          <p:cNvSpPr txBox="1"/>
          <p:nvPr/>
        </p:nvSpPr>
        <p:spPr>
          <a:xfrm>
            <a:off x="1417320" y="4069079"/>
            <a:ext cx="6035040" cy="548640"/>
          </a:xfrm>
          <a:prstGeom prst="rect">
            <a:avLst/>
          </a:prstGeom>
          <a:noFill/>
        </p:spPr>
        <p:txBody>
          <a:bodyPr wrap="square" lIns="0" rIns="0" tIns="0" bIns="0" anchor="ctr">
            <a:spAutoFit/>
          </a:bodyPr>
          <a:lstStyle/>
          <a:p>
            <a:pPr algn="l"/>
            <a:r>
              <a:rPr sz="2000" b="0" i="0">
                <a:solidFill>
                  <a:srgbClr val="222B33"/>
                </a:solidFill>
                <a:latin typeface="Calibri"/>
              </a:rPr>
              <a:t>Link it with NAP-FST objectives and tasks</a:t>
            </a:r>
          </a:p>
        </p:txBody>
      </p:sp>
      <p:sp>
        <p:nvSpPr>
          <p:cNvPr id="11" name="Number 5"/>
          <p:cNvSpPr/>
          <p:nvPr/>
        </p:nvSpPr>
        <p:spPr>
          <a:xfrm>
            <a:off x="640080" y="493776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12" name="Objective 5"/>
          <p:cNvSpPr txBox="1"/>
          <p:nvPr/>
        </p:nvSpPr>
        <p:spPr>
          <a:xfrm>
            <a:off x="1417320" y="4937760"/>
            <a:ext cx="6035040" cy="548640"/>
          </a:xfrm>
          <a:prstGeom prst="rect">
            <a:avLst/>
          </a:prstGeom>
          <a:noFill/>
        </p:spPr>
        <p:txBody>
          <a:bodyPr wrap="square" lIns="0" rIns="0" tIns="0" bIns="0" anchor="ctr">
            <a:spAutoFit/>
          </a:bodyPr>
          <a:lstStyle/>
          <a:p>
            <a:pPr algn="l"/>
            <a:r>
              <a:rPr sz="2000" b="0" i="0">
                <a:solidFill>
                  <a:srgbClr val="222B33"/>
                </a:solidFill>
                <a:latin typeface="Calibri"/>
              </a:rPr>
              <a:t>Discuss next steps to enhance resilience</a:t>
            </a:r>
          </a:p>
        </p:txBody>
      </p:sp>
      <p:sp>
        <p:nvSpPr>
          <p:cNvPr id="13" name="Photo area"/>
          <p:cNvSpPr/>
          <p:nvPr/>
        </p:nvSpPr>
        <p:spPr>
          <a:xfrm>
            <a:off x="7863840" y="1371600"/>
            <a:ext cx="3749039" cy="47548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Tree>
    <p:extLst>
      <p:ext uri="{BB962C8B-B14F-4D97-AF65-F5344CB8AC3E}">
        <p14:creationId xmlns:p14="http://schemas.microsoft.com/office/powerpoint/2010/main" val="4189415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24"/>
          <p:cNvPicPr preferRelativeResize="0"/>
          <p:nvPr/>
        </p:nvPicPr>
        <p:blipFill rotWithShape="1">
          <a:blip r:embed="rId3">
            <a:alphaModFix/>
          </a:blip>
          <a:srcRect t="1334"/>
          <a:stretch/>
        </p:blipFill>
        <p:spPr>
          <a:xfrm>
            <a:off x="21" y="-13261"/>
            <a:ext cx="12191980" cy="6856717"/>
          </a:xfrm>
          <a:prstGeom prst="rect">
            <a:avLst/>
          </a:prstGeom>
          <a:noFill/>
          <a:ln>
            <a:noFill/>
          </a:ln>
        </p:spPr>
      </p:pic>
      <p:sp>
        <p:nvSpPr>
          <p:cNvPr id="465" name="Google Shape;465;p24"/>
          <p:cNvSpPr txBox="1"/>
          <p:nvPr/>
        </p:nvSpPr>
        <p:spPr>
          <a:xfrm>
            <a:off x="2090297" y="1204658"/>
            <a:ext cx="1401049" cy="64629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Before 1986: Centrally planned economy</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6" name="Google Shape;466;p24"/>
          <p:cNvSpPr txBox="1"/>
          <p:nvPr/>
        </p:nvSpPr>
        <p:spPr>
          <a:xfrm>
            <a:off x="5277114" y="1527823"/>
            <a:ext cx="163777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1988: Resolution 10-NQ/TW (Contract 10) – Output breakthrough</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7" name="Google Shape;467;p24"/>
          <p:cNvSpPr txBox="1"/>
          <p:nvPr/>
        </p:nvSpPr>
        <p:spPr>
          <a:xfrm>
            <a:off x="8135145" y="1019990"/>
            <a:ext cx="2359673"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2002–2008: Resolutions 15-NQ/TW and 26-NQ/TW – Improving quality and developing value chains</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8" name="Google Shape;468;p24"/>
          <p:cNvSpPr txBox="1"/>
          <p:nvPr/>
        </p:nvSpPr>
        <p:spPr>
          <a:xfrm>
            <a:off x="9945065" y="2297370"/>
            <a:ext cx="2025263"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2013: Decision 899/QĐ-TTg on agricultural restructuring – Focus on raising added value and sustainable development</a:t>
            </a:r>
            <a:endParaRPr kumimoji="0"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69" name="Google Shape;469;p24"/>
          <p:cNvSpPr txBox="1"/>
          <p:nvPr/>
        </p:nvSpPr>
        <p:spPr>
          <a:xfrm>
            <a:off x="193055" y="3520954"/>
            <a:ext cx="2695620"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2021: National Green Growth Strategy (Decision 1658/QĐ-TTg) and commitment to transparent, responsible and sustainable food systems transformation</a:t>
            </a:r>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70" name="Google Shape;470;p24"/>
          <p:cNvSpPr txBox="1"/>
          <p:nvPr/>
        </p:nvSpPr>
        <p:spPr>
          <a:xfrm>
            <a:off x="5474368" y="5017766"/>
            <a:ext cx="210060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2022: Resolution 19-NQ/TW – Shift toward multi-value agriculture and ecological 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1" name="Google Shape;471;p24"/>
          <p:cNvSpPr txBox="1"/>
          <p:nvPr/>
        </p:nvSpPr>
        <p:spPr>
          <a:xfrm>
            <a:off x="9574926" y="5481457"/>
            <a:ext cx="2359673" cy="1200288"/>
          </a:xfrm>
          <a:prstGeom prst="rect">
            <a:avLst/>
          </a:prstGeom>
          <a:noFill/>
          <a:ln>
            <a:noFill/>
          </a:ln>
        </p:spPr>
        <p:txBody>
          <a:bodyPr spcFirstLastPara="1" wrap="square" lIns="91433" tIns="45700" rIns="91433" bIns="45700" anchor="t" anchorCtr="0">
            <a:spAutoFit/>
          </a:bodyPr>
          <a:lstStyle/>
          <a:p>
            <a:pPr lvl="0" algn="ctr">
              <a:buClr>
                <a:srgbClr val="000000"/>
              </a:buClr>
              <a:buSzPts val="900"/>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2023: National Action Plan for Food Systems Transformation</a:t>
            </a:r>
            <a:r>
              <a:rPr lang="en-US" sz="1200" b="1">
                <a:solidFill>
                  <a:prstClr val="black"/>
                </a:solidFill>
                <a:latin typeface="Times New Roman"/>
                <a:ea typeface="Times New Roman"/>
                <a:cs typeface="Times New Roman"/>
                <a:sym typeface="Times New Roman"/>
              </a:rPr>
              <a:t> towards Transparency, Responsibility and Sustainability</a:t>
            </a: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 in Vietnam until 2030 (Decision 300/QĐ-TTg)</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2" name="Google Shape;472;p24"/>
          <p:cNvSpPr/>
          <p:nvPr/>
        </p:nvSpPr>
        <p:spPr>
          <a:xfrm>
            <a:off x="257403" y="6178681"/>
            <a:ext cx="4002840" cy="636912"/>
          </a:xfrm>
          <a:prstGeom prst="flowChartTerminator">
            <a:avLst/>
          </a:prstGeom>
          <a:solidFill>
            <a:srgbClr val="EDE8DD"/>
          </a:solidFill>
          <a:ln>
            <a:noFill/>
          </a:ln>
        </p:spPr>
        <p:txBody>
          <a:bodyPr spcFirstLastPara="1" wrap="square" lIns="91433" tIns="45700" rIns="91433" bIns="45700"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Policy focus</a:t>
            </a:r>
            <a:r>
              <a:rPr kumimoji="0" lang="en-US" sz="1200" b="0"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 Output and economic value</a:t>
            </a:r>
            <a:endParaRPr kumimoji="0" sz="1467" b="0" i="0" u="none" strike="noStrike" kern="1200" cap="none" spc="0" normalizeH="0" baseline="0" noProof="0">
              <a:ln>
                <a:noFill/>
              </a:ln>
              <a:solidFill>
                <a:srgbClr val="C00000"/>
              </a:solidFill>
              <a:effectLst/>
              <a:uLnTx/>
              <a:uFillTx/>
              <a:latin typeface="Arial"/>
              <a:ea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Focus on </a:t>
            </a: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3" name="Google Shape;473;p24"/>
          <p:cNvSpPr txBox="1"/>
          <p:nvPr/>
        </p:nvSpPr>
        <p:spPr>
          <a:xfrm>
            <a:off x="1412724" y="26311"/>
            <a:ext cx="10140649" cy="954067"/>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100"/>
              <a:buFontTx/>
              <a:buNone/>
              <a:tabLst/>
              <a:defRPr/>
            </a:pPr>
            <a:r>
              <a:rPr kumimoji="0" lang="en-US" sz="28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 journey of policies towards food systems transformation in Vietnam</a:t>
            </a:r>
            <a:endParaRPr kumimoji="0" sz="1867"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pic>
        <p:nvPicPr>
          <p:cNvPr id="474" name="Google Shape;474;p24"/>
          <p:cNvPicPr preferRelativeResize="0"/>
          <p:nvPr/>
        </p:nvPicPr>
        <p:blipFill rotWithShape="1">
          <a:blip r:embed="rId4">
            <a:alphaModFix/>
          </a:blip>
          <a:srcRect/>
          <a:stretch/>
        </p:blipFill>
        <p:spPr>
          <a:xfrm>
            <a:off x="5788067" y="6178668"/>
            <a:ext cx="3161399" cy="636933"/>
          </a:xfrm>
          <a:prstGeom prst="rect">
            <a:avLst/>
          </a:prstGeom>
          <a:noFill/>
          <a:ln>
            <a:noFill/>
          </a:ln>
        </p:spPr>
      </p:pic>
      <p:pic>
        <p:nvPicPr>
          <p:cNvPr id="475" name="Google Shape;475;p24"/>
          <p:cNvPicPr preferRelativeResize="0"/>
          <p:nvPr/>
        </p:nvPicPr>
        <p:blipFill rotWithShape="1">
          <a:blip r:embed="rId4">
            <a:alphaModFix/>
          </a:blip>
          <a:srcRect/>
          <a:stretch/>
        </p:blipFill>
        <p:spPr>
          <a:xfrm>
            <a:off x="-82433" y="5903600"/>
            <a:ext cx="7190068" cy="954400"/>
          </a:xfrm>
          <a:prstGeom prst="rect">
            <a:avLst/>
          </a:prstGeom>
          <a:noFill/>
          <a:ln>
            <a:noFill/>
          </a:ln>
        </p:spPr>
      </p:pic>
      <p:pic>
        <p:nvPicPr>
          <p:cNvPr id="476" name="Google Shape;476;p24"/>
          <p:cNvPicPr preferRelativeResize="0"/>
          <p:nvPr/>
        </p:nvPicPr>
        <p:blipFill rotWithShape="1">
          <a:blip r:embed="rId4">
            <a:alphaModFix/>
          </a:blip>
          <a:srcRect/>
          <a:stretch/>
        </p:blipFill>
        <p:spPr>
          <a:xfrm>
            <a:off x="2486234" y="5419702"/>
            <a:ext cx="3161399" cy="636933"/>
          </a:xfrm>
          <a:prstGeom prst="rect">
            <a:avLst/>
          </a:prstGeom>
          <a:noFill/>
          <a:ln>
            <a:noFill/>
          </a:ln>
        </p:spPr>
      </p:pic>
    </p:spTree>
    <p:extLst>
      <p:ext uri="{BB962C8B-B14F-4D97-AF65-F5344CB8AC3E}">
        <p14:creationId xmlns:p14="http://schemas.microsoft.com/office/powerpoint/2010/main" val="2587872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grpSp>
        <p:nvGrpSpPr>
          <p:cNvPr id="557" name="Google Shape;557;p15"/>
          <p:cNvGrpSpPr/>
          <p:nvPr/>
        </p:nvGrpSpPr>
        <p:grpSpPr>
          <a:xfrm>
            <a:off x="570673" y="407018"/>
            <a:ext cx="9641560" cy="6098032"/>
            <a:chOff x="83666" y="-359088"/>
            <a:chExt cx="8927734" cy="6098032"/>
          </a:xfrm>
        </p:grpSpPr>
        <p:sp>
          <p:nvSpPr>
            <p:cNvPr id="558" name="Google Shape;558;p15"/>
            <p:cNvSpPr/>
            <p:nvPr/>
          </p:nvSpPr>
          <p:spPr>
            <a:xfrm rot="-350166">
              <a:off x="329614" y="56152"/>
              <a:ext cx="8435837" cy="5267552"/>
            </a:xfrm>
            <a:custGeom>
              <a:avLst/>
              <a:gdLst/>
              <a:ahLst/>
              <a:cxnLst/>
              <a:rect l="l" t="t" r="r" b="b"/>
              <a:pathLst>
                <a:path w="120000" h="120000" extrusionOk="0">
                  <a:moveTo>
                    <a:pt x="0" y="120000"/>
                  </a:moveTo>
                  <a:quadBezTo>
                    <a:pt x="20000" y="40000"/>
                    <a:pt x="101267" y="15000"/>
                  </a:quadBezTo>
                  <a:lnTo>
                    <a:pt x="100212" y="0"/>
                  </a:lnTo>
                  <a:lnTo>
                    <a:pt x="120000" y="24000"/>
                  </a:lnTo>
                  <a:lnTo>
                    <a:pt x="104433" y="60000"/>
                  </a:lnTo>
                  <a:lnTo>
                    <a:pt x="103378" y="45000"/>
                  </a:lnTo>
                  <a:quadBezTo>
                    <a:pt x="30000" y="55000"/>
                    <a:pt x="0" y="120000"/>
                  </a:quad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9" name="Google Shape;559;p15"/>
            <p:cNvSpPr/>
            <p:nvPr/>
          </p:nvSpPr>
          <p:spPr>
            <a:xfrm>
              <a:off x="5484009" y="1147890"/>
              <a:ext cx="493213" cy="530017"/>
            </a:xfrm>
            <a:prstGeom prst="ellipse">
              <a:avLst/>
            </a:prstGeom>
            <a:solidFill>
              <a:srgbClr val="126082"/>
            </a:solidFill>
            <a:ln w="1905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0" name="Google Shape;560;p15"/>
            <p:cNvSpPr/>
            <p:nvPr/>
          </p:nvSpPr>
          <p:spPr>
            <a:xfrm>
              <a:off x="3995409" y="1380098"/>
              <a:ext cx="3371233" cy="3887453"/>
            </a:xfrm>
            <a:prstGeom prst="round2DiagRect">
              <a:avLst>
                <a:gd name="adj1" fmla="val 16667"/>
                <a:gd name="adj2" fmla="val 0"/>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1" name="Google Shape;561;p15"/>
            <p:cNvSpPr txBox="1"/>
            <p:nvPr/>
          </p:nvSpPr>
          <p:spPr>
            <a:xfrm>
              <a:off x="4159979" y="1544668"/>
              <a:ext cx="3042093" cy="3558313"/>
            </a:xfrm>
            <a:prstGeom prst="rect">
              <a:avLst/>
            </a:prstGeom>
            <a:noFill/>
            <a:ln>
              <a:noFill/>
            </a:ln>
          </p:spPr>
          <p:txBody>
            <a:bodyPr spcFirstLastPara="1" wrap="square" lIns="0" tIns="0" rIns="330450" bIns="0" anchor="t" anchorCtr="0">
              <a:noAutofit/>
            </a:bodyPr>
            <a:lstStyle/>
            <a:p>
              <a:pPr marL="0" marR="0" lvl="0" indent="0" algn="r" rtl="0">
                <a:lnSpc>
                  <a:spcPct val="90000"/>
                </a:lnSpc>
                <a:spcBef>
                  <a:spcPts val="0"/>
                </a:spcBef>
                <a:spcAft>
                  <a:spcPts val="0"/>
                </a:spcAft>
                <a:buNone/>
              </a:pPr>
              <a:endParaRPr sz="600">
                <a:solidFill>
                  <a:schemeClr val="dk1"/>
                </a:solidFill>
                <a:latin typeface="Arial"/>
                <a:ea typeface="Arial"/>
                <a:cs typeface="Arial"/>
                <a:sym typeface="Arial"/>
              </a:endParaRPr>
            </a:p>
          </p:txBody>
        </p:sp>
      </p:grpSp>
      <p:sp>
        <p:nvSpPr>
          <p:cNvPr id="562" name="Google Shape;562;p15"/>
          <p:cNvSpPr txBox="1"/>
          <p:nvPr/>
        </p:nvSpPr>
        <p:spPr>
          <a:xfrm>
            <a:off x="1776820" y="5773002"/>
            <a:ext cx="6817493" cy="738623"/>
          </a:xfrm>
          <a:prstGeom prst="rect">
            <a:avLst/>
          </a:prstGeom>
          <a:noFill/>
          <a:ln>
            <a:noFill/>
          </a:ln>
        </p:spPr>
        <p:txBody>
          <a:bodyPr spcFirstLastPara="1" wrap="square" lIns="91425" tIns="45700" rIns="91425" bIns="45700" anchor="t" anchorCtr="0">
            <a:spAutoFit/>
          </a:bodyPr>
          <a:lstStyle/>
          <a:p>
            <a:pPr marL="316230" marR="0" lvl="1" indent="-158115" algn="l" rtl="0">
              <a:spcBef>
                <a:spcPts val="0"/>
              </a:spcBef>
              <a:spcAft>
                <a:spcPts val="0"/>
              </a:spcAft>
              <a:buClr>
                <a:srgbClr val="000000"/>
              </a:buClr>
              <a:buSzPts val="1400"/>
              <a:buFont typeface="Arial"/>
              <a:buChar char="•"/>
            </a:pPr>
            <a:r>
              <a:rPr lang="en-US" sz="1400" b="1" i="0" u="none" strike="noStrike" cap="none">
                <a:solidFill>
                  <a:srgbClr val="000000"/>
                </a:solidFill>
                <a:latin typeface="Calibri"/>
                <a:ea typeface="Calibri"/>
                <a:cs typeface="Calibri"/>
                <a:sym typeface="Calibri"/>
              </a:rPr>
              <a:t>Strategy for Sustainable Agricultural Development </a:t>
            </a:r>
            <a:r>
              <a:rPr lang="en-US" sz="1400" b="0" i="0" u="none" strike="noStrike" cap="none">
                <a:solidFill>
                  <a:srgbClr val="000000"/>
                </a:solidFill>
                <a:latin typeface="Calibri"/>
                <a:ea typeface="Calibri"/>
                <a:cs typeface="Calibri"/>
                <a:sym typeface="Calibri"/>
              </a:rPr>
              <a:t>to</a:t>
            </a:r>
            <a:r>
              <a:rPr lang="en-US" sz="1400" b="1" i="0" u="none" strike="noStrike" cap="none">
                <a:solidFill>
                  <a:srgbClr val="000000"/>
                </a:solidFill>
                <a:latin typeface="Calibri"/>
                <a:ea typeface="Calibri"/>
                <a:cs typeface="Calibri"/>
                <a:sym typeface="Calibri"/>
              </a:rPr>
              <a:t> </a:t>
            </a:r>
            <a:r>
              <a:rPr lang="en-US" sz="1400" b="0" i="0" u="none" strike="noStrike" cap="none">
                <a:solidFill>
                  <a:srgbClr val="000000"/>
                </a:solidFill>
                <a:latin typeface="Calibri"/>
                <a:ea typeface="Calibri"/>
                <a:cs typeface="Calibri"/>
                <a:sym typeface="Calibri"/>
              </a:rPr>
              <a:t>2030 (Decision 150/QD-TTg).</a:t>
            </a:r>
            <a:endParaRPr/>
          </a:p>
          <a:p>
            <a:pPr marL="316230" marR="0" lvl="1" indent="-158115" algn="l" rtl="0">
              <a:spcBef>
                <a:spcPts val="0"/>
              </a:spcBef>
              <a:spcAft>
                <a:spcPts val="0"/>
              </a:spcAft>
              <a:buClr>
                <a:srgbClr val="000000"/>
              </a:buClr>
              <a:buSzPts val="1400"/>
              <a:buFont typeface="Arial"/>
              <a:buChar char="•"/>
            </a:pPr>
            <a:r>
              <a:rPr lang="en-US" sz="1400" b="1" i="0" u="none" strike="noStrike" cap="none">
                <a:solidFill>
                  <a:srgbClr val="000000"/>
                </a:solidFill>
                <a:latin typeface="Calibri"/>
                <a:ea typeface="Calibri"/>
                <a:cs typeface="Calibri"/>
                <a:sym typeface="Calibri"/>
              </a:rPr>
              <a:t>Guidelines, basic concepts and meaning of FST:</a:t>
            </a:r>
            <a:r>
              <a:rPr lang="en-US" sz="1400" b="0" i="0" u="none" strike="noStrike" cap="none">
                <a:solidFill>
                  <a:srgbClr val="000000"/>
                </a:solidFill>
                <a:latin typeface="Calibri"/>
                <a:ea typeface="Calibri"/>
                <a:cs typeface="Calibri"/>
                <a:sym typeface="Calibri"/>
              </a:rPr>
              <a:t> transparency, accountability and sustainability.</a:t>
            </a:r>
            <a:endParaRPr/>
          </a:p>
        </p:txBody>
      </p:sp>
      <p:sp>
        <p:nvSpPr>
          <p:cNvPr id="563" name="Google Shape;563;p15"/>
          <p:cNvSpPr txBox="1"/>
          <p:nvPr/>
        </p:nvSpPr>
        <p:spPr>
          <a:xfrm>
            <a:off x="3030916" y="4343963"/>
            <a:ext cx="9606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2023</a:t>
            </a:r>
            <a:endParaRPr sz="1800">
              <a:solidFill>
                <a:schemeClr val="dk1"/>
              </a:solidFill>
              <a:latin typeface="Calibri"/>
              <a:ea typeface="Calibri"/>
              <a:cs typeface="Calibri"/>
              <a:sym typeface="Calibri"/>
            </a:endParaRPr>
          </a:p>
        </p:txBody>
      </p:sp>
      <p:sp>
        <p:nvSpPr>
          <p:cNvPr id="564" name="Google Shape;564;p15"/>
          <p:cNvSpPr txBox="1"/>
          <p:nvPr/>
        </p:nvSpPr>
        <p:spPr>
          <a:xfrm>
            <a:off x="1973982" y="5412946"/>
            <a:ext cx="9606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2022</a:t>
            </a:r>
            <a:endParaRPr sz="1800">
              <a:solidFill>
                <a:schemeClr val="dk1"/>
              </a:solidFill>
              <a:latin typeface="Calibri"/>
              <a:ea typeface="Calibri"/>
              <a:cs typeface="Calibri"/>
              <a:sym typeface="Calibri"/>
            </a:endParaRPr>
          </a:p>
        </p:txBody>
      </p:sp>
      <p:sp>
        <p:nvSpPr>
          <p:cNvPr id="565" name="Google Shape;565;p15"/>
          <p:cNvSpPr txBox="1"/>
          <p:nvPr/>
        </p:nvSpPr>
        <p:spPr>
          <a:xfrm>
            <a:off x="2850046" y="4689179"/>
            <a:ext cx="6552371" cy="738623"/>
          </a:xfrm>
          <a:prstGeom prst="rect">
            <a:avLst/>
          </a:prstGeom>
          <a:noFill/>
          <a:ln>
            <a:noFill/>
          </a:ln>
        </p:spPr>
        <p:txBody>
          <a:bodyPr spcFirstLastPara="1" wrap="square" lIns="91425" tIns="45700" rIns="91425" bIns="45700" anchor="t" anchorCtr="0">
            <a:spAutoFit/>
          </a:bodyPr>
          <a:lstStyle/>
          <a:p>
            <a:pPr marL="302260" marR="0" lvl="1" indent="-151130" algn="just" rtl="0">
              <a:spcBef>
                <a:spcPts val="0"/>
              </a:spcBef>
              <a:spcAft>
                <a:spcPts val="0"/>
              </a:spcAft>
              <a:buClr>
                <a:schemeClr val="dk1"/>
              </a:buClr>
              <a:buSzPts val="1400"/>
              <a:buFont typeface="Arial"/>
              <a:buChar char="•"/>
            </a:pPr>
            <a:r>
              <a:rPr lang="en-US" sz="1400" b="1" i="0" u="none" strike="noStrike" cap="none">
                <a:solidFill>
                  <a:schemeClr val="dk1"/>
                </a:solidFill>
                <a:latin typeface="Calibri"/>
                <a:ea typeface="Calibri"/>
                <a:cs typeface="Calibri"/>
                <a:sym typeface="Calibri"/>
              </a:rPr>
              <a:t>The National Action Plan on Food System Transformation (FST-NAP</a:t>
            </a:r>
            <a:r>
              <a:rPr lang="en-US" sz="1400" b="0" i="0" u="none" strike="noStrike" cap="none">
                <a:solidFill>
                  <a:schemeClr val="dk1"/>
                </a:solidFill>
                <a:latin typeface="Calibri"/>
                <a:ea typeface="Calibri"/>
                <a:cs typeface="Calibri"/>
                <a:sym typeface="Calibri"/>
              </a:rPr>
              <a:t>) towards transparency, accountability, and sustainability by 2030 has been approved (Decision 300/QD-TTg).</a:t>
            </a:r>
            <a:endParaRPr/>
          </a:p>
        </p:txBody>
      </p:sp>
      <p:sp>
        <p:nvSpPr>
          <p:cNvPr id="566" name="Google Shape;566;p15"/>
          <p:cNvSpPr txBox="1"/>
          <p:nvPr/>
        </p:nvSpPr>
        <p:spPr>
          <a:xfrm>
            <a:off x="4556226" y="3118647"/>
            <a:ext cx="7635773" cy="1508105"/>
          </a:xfrm>
          <a:prstGeom prst="rect">
            <a:avLst/>
          </a:prstGeom>
          <a:noFill/>
          <a:ln>
            <a:noFill/>
          </a:ln>
        </p:spPr>
        <p:txBody>
          <a:bodyPr spcFirstLastPara="1" wrap="square" lIns="0" tIns="0" rIns="0" bIns="0" anchor="t" anchorCtr="0">
            <a:spAutoFit/>
          </a:bodyPr>
          <a:lstStyle/>
          <a:p>
            <a:pPr marL="316230" marR="0" lvl="1" indent="-158115" algn="l" rtl="0">
              <a:spcBef>
                <a:spcPts val="0"/>
              </a:spcBef>
              <a:spcAft>
                <a:spcPts val="0"/>
              </a:spcAft>
              <a:buClr>
                <a:srgbClr val="000000"/>
              </a:buClr>
              <a:buSzPts val="1400"/>
              <a:buFont typeface="Arial"/>
              <a:buChar char="•"/>
            </a:pPr>
            <a:r>
              <a:rPr lang="en-US" sz="1400" b="1" i="0" u="none" strike="noStrike" cap="none">
                <a:solidFill>
                  <a:srgbClr val="000000"/>
                </a:solidFill>
                <a:latin typeface="Calibri"/>
                <a:ea typeface="Calibri"/>
                <a:cs typeface="Calibri"/>
                <a:sym typeface="Calibri"/>
              </a:rPr>
              <a:t>The Food System Transformation-Partnership Agreement (FST-P),</a:t>
            </a:r>
            <a:r>
              <a:rPr lang="en-US" sz="1400" b="0" i="0" u="none" strike="noStrike" cap="none">
                <a:solidFill>
                  <a:srgbClr val="000000"/>
                </a:solidFill>
                <a:latin typeface="Calibri"/>
                <a:ea typeface="Calibri"/>
                <a:cs typeface="Calibri"/>
                <a:sym typeface="Calibri"/>
              </a:rPr>
              <a:t> chaired by MAE, in coordination with the Ministry of Health, the Ministry of Industry and Trade, other ministries/agencies, and domestic and international partners, will be implemented.</a:t>
            </a:r>
            <a:endParaRPr/>
          </a:p>
          <a:p>
            <a:pPr marL="316230" marR="0" lvl="1" indent="-158115" algn="l" rtl="0">
              <a:spcBef>
                <a:spcPts val="0"/>
              </a:spcBef>
              <a:spcAft>
                <a:spcPts val="0"/>
              </a:spcAft>
              <a:buClr>
                <a:srgbClr val="000000"/>
              </a:buClr>
              <a:buSzPts val="1400"/>
              <a:buFont typeface="Arial"/>
              <a:buChar char="•"/>
            </a:pPr>
            <a:r>
              <a:rPr lang="en-US" sz="1400" b="1" i="0" u="none" strike="noStrike" cap="none">
                <a:solidFill>
                  <a:srgbClr val="000000"/>
                </a:solidFill>
                <a:latin typeface="Calibri"/>
                <a:ea typeface="Calibri"/>
                <a:cs typeface="Calibri"/>
                <a:sym typeface="Calibri"/>
              </a:rPr>
              <a:t>Five technical groups </a:t>
            </a:r>
            <a:r>
              <a:rPr lang="en-US" sz="1400" b="0" i="0" u="none" strike="noStrike" cap="none">
                <a:solidFill>
                  <a:srgbClr val="000000"/>
                </a:solidFill>
                <a:latin typeface="Calibri"/>
                <a:ea typeface="Calibri"/>
                <a:cs typeface="Calibri"/>
                <a:sym typeface="Calibri"/>
              </a:rPr>
              <a:t>(Policy Institutions, Agriculture and Rural Development, Nutrition, Food Safety and Welfare, Distribution and Consumption).</a:t>
            </a:r>
            <a:endParaRPr/>
          </a:p>
          <a:p>
            <a:pPr marL="316230" marR="0" lvl="1" indent="-158115" algn="l" rtl="0">
              <a:spcBef>
                <a:spcPts val="0"/>
              </a:spcBef>
              <a:spcAft>
                <a:spcPts val="0"/>
              </a:spcAft>
              <a:buClr>
                <a:srgbClr val="000000"/>
              </a:buClr>
              <a:buSzPts val="1400"/>
              <a:buFont typeface="Arial"/>
              <a:buChar char="•"/>
            </a:pPr>
            <a:r>
              <a:rPr lang="en-US" sz="1400" b="1" i="0" u="none" strike="noStrike" cap="none">
                <a:solidFill>
                  <a:srgbClr val="000000"/>
                </a:solidFill>
                <a:latin typeface="Calibri"/>
                <a:ea typeface="Calibri"/>
                <a:cs typeface="Calibri"/>
                <a:sym typeface="Calibri"/>
              </a:rPr>
              <a:t>Pilot projects </a:t>
            </a:r>
            <a:r>
              <a:rPr lang="en-US" sz="1400" b="0" i="0" u="none" strike="noStrike" cap="none">
                <a:solidFill>
                  <a:srgbClr val="000000"/>
                </a:solidFill>
                <a:latin typeface="Calibri"/>
                <a:ea typeface="Calibri"/>
                <a:cs typeface="Calibri"/>
                <a:sym typeface="Calibri"/>
              </a:rPr>
              <a:t>will be implemented to develop provincial-level FST-NAPs (Son La and Dong Thap); a set of M&amp;E indicators will be developed.</a:t>
            </a:r>
            <a:endParaRPr/>
          </a:p>
        </p:txBody>
      </p:sp>
      <p:sp>
        <p:nvSpPr>
          <p:cNvPr id="567" name="Google Shape;567;p15"/>
          <p:cNvSpPr/>
          <p:nvPr/>
        </p:nvSpPr>
        <p:spPr>
          <a:xfrm flipH="1">
            <a:off x="1735603" y="5383224"/>
            <a:ext cx="132919" cy="105579"/>
          </a:xfrm>
          <a:prstGeom prst="ellipse">
            <a:avLst/>
          </a:prstGeom>
          <a:solidFill>
            <a:schemeClr val="accen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8" name="Google Shape;568;p15"/>
          <p:cNvSpPr/>
          <p:nvPr/>
        </p:nvSpPr>
        <p:spPr>
          <a:xfrm>
            <a:off x="2664213" y="4194435"/>
            <a:ext cx="274320" cy="274320"/>
          </a:xfrm>
          <a:prstGeom prst="ellipse">
            <a:avLst/>
          </a:prstGeom>
          <a:solidFill>
            <a:schemeClr val="accen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9" name="Google Shape;569;p15"/>
          <p:cNvSpPr/>
          <p:nvPr/>
        </p:nvSpPr>
        <p:spPr>
          <a:xfrm>
            <a:off x="4240671" y="2918456"/>
            <a:ext cx="457200" cy="457200"/>
          </a:xfrm>
          <a:prstGeom prst="ellipse">
            <a:avLst/>
          </a:prstGeom>
          <a:solidFill>
            <a:schemeClr val="accen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0" name="Google Shape;570;p15"/>
          <p:cNvSpPr txBox="1"/>
          <p:nvPr/>
        </p:nvSpPr>
        <p:spPr>
          <a:xfrm>
            <a:off x="4628065" y="2836379"/>
            <a:ext cx="9606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2024</a:t>
            </a:r>
            <a:endParaRPr sz="1800">
              <a:solidFill>
                <a:schemeClr val="dk1"/>
              </a:solidFill>
              <a:latin typeface="Arial"/>
              <a:ea typeface="Arial"/>
              <a:cs typeface="Arial"/>
              <a:sym typeface="Arial"/>
            </a:endParaRPr>
          </a:p>
        </p:txBody>
      </p:sp>
      <p:sp>
        <p:nvSpPr>
          <p:cNvPr id="571" name="Google Shape;571;p15"/>
          <p:cNvSpPr txBox="1"/>
          <p:nvPr/>
        </p:nvSpPr>
        <p:spPr>
          <a:xfrm>
            <a:off x="7303769" y="1503327"/>
            <a:ext cx="9606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2025</a:t>
            </a:r>
            <a:endParaRPr sz="1800">
              <a:solidFill>
                <a:schemeClr val="dk1"/>
              </a:solidFill>
              <a:latin typeface="Calibri"/>
              <a:ea typeface="Calibri"/>
              <a:cs typeface="Calibri"/>
              <a:sym typeface="Calibri"/>
            </a:endParaRPr>
          </a:p>
        </p:txBody>
      </p:sp>
      <p:sp>
        <p:nvSpPr>
          <p:cNvPr id="572" name="Google Shape;572;p15"/>
          <p:cNvSpPr txBox="1"/>
          <p:nvPr/>
        </p:nvSpPr>
        <p:spPr>
          <a:xfrm>
            <a:off x="7052441" y="1794081"/>
            <a:ext cx="4729656" cy="738623"/>
          </a:xfrm>
          <a:prstGeom prst="rect">
            <a:avLst/>
          </a:prstGeom>
          <a:noFill/>
          <a:ln>
            <a:noFill/>
          </a:ln>
        </p:spPr>
        <p:txBody>
          <a:bodyPr spcFirstLastPara="1" wrap="square" lIns="91425" tIns="45700" rIns="91425" bIns="45700" anchor="t" anchorCtr="0">
            <a:spAutoFit/>
          </a:bodyPr>
          <a:lstStyle/>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Implementing FST-NAP, reviewing task assignments in the new situation</a:t>
            </a:r>
            <a:endParaRPr/>
          </a:p>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Developing a draft detailed implementation plan (FST-PIP)</a:t>
            </a:r>
            <a:endParaRPr/>
          </a:p>
        </p:txBody>
      </p:sp>
      <p:sp>
        <p:nvSpPr>
          <p:cNvPr id="573" name="Google Shape;573;p15"/>
          <p:cNvSpPr txBox="1"/>
          <p:nvPr/>
        </p:nvSpPr>
        <p:spPr>
          <a:xfrm>
            <a:off x="1696089" y="924647"/>
            <a:ext cx="79486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2026</a:t>
            </a:r>
            <a:endParaRPr sz="1800">
              <a:solidFill>
                <a:schemeClr val="dk1"/>
              </a:solidFill>
              <a:latin typeface="Calibri"/>
              <a:ea typeface="Calibri"/>
              <a:cs typeface="Calibri"/>
              <a:sym typeface="Calibri"/>
            </a:endParaRPr>
          </a:p>
        </p:txBody>
      </p:sp>
      <p:sp>
        <p:nvSpPr>
          <p:cNvPr id="574" name="Google Shape;574;p15"/>
          <p:cNvSpPr/>
          <p:nvPr/>
        </p:nvSpPr>
        <p:spPr>
          <a:xfrm>
            <a:off x="8642580" y="1222866"/>
            <a:ext cx="630836" cy="549467"/>
          </a:xfrm>
          <a:prstGeom prst="ellipse">
            <a:avLst/>
          </a:prstGeom>
          <a:solidFill>
            <a:schemeClr val="accen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5" name="Google Shape;575;p15"/>
          <p:cNvSpPr txBox="1"/>
          <p:nvPr/>
        </p:nvSpPr>
        <p:spPr>
          <a:xfrm>
            <a:off x="9172520" y="1112680"/>
            <a:ext cx="9606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2026</a:t>
            </a:r>
            <a:endParaRPr sz="1800">
              <a:solidFill>
                <a:schemeClr val="dk1"/>
              </a:solidFill>
              <a:latin typeface="Calibri"/>
              <a:ea typeface="Calibri"/>
              <a:cs typeface="Calibri"/>
              <a:sym typeface="Calibri"/>
            </a:endParaRPr>
          </a:p>
        </p:txBody>
      </p:sp>
      <p:sp>
        <p:nvSpPr>
          <p:cNvPr id="576" name="Google Shape;576;p15"/>
          <p:cNvSpPr txBox="1"/>
          <p:nvPr/>
        </p:nvSpPr>
        <p:spPr>
          <a:xfrm>
            <a:off x="270871" y="1232344"/>
            <a:ext cx="5272132" cy="1815841"/>
          </a:xfrm>
          <a:prstGeom prst="rect">
            <a:avLst/>
          </a:prstGeom>
          <a:noFill/>
          <a:ln>
            <a:noFill/>
          </a:ln>
        </p:spPr>
        <p:txBody>
          <a:bodyPr spcFirstLastPara="1" wrap="square" lIns="91425" tIns="45700" rIns="91425" bIns="45700" anchor="t" anchorCtr="0">
            <a:spAutoFit/>
          </a:bodyPr>
          <a:lstStyle/>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Strengthening capacity at the central and local levels (training, M&amp;E)</a:t>
            </a:r>
            <a:endParaRPr/>
          </a:p>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Supporting two pilot provinces in implementation (Son La - ADB, Dong Thap - VN Adapt)</a:t>
            </a:r>
            <a:endParaRPr/>
          </a:p>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Mobilizing resources to support the implementation of the Action Plan</a:t>
            </a:r>
            <a:endParaRPr/>
          </a:p>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Stocktaking activities of the FS Partners</a:t>
            </a:r>
            <a:endParaRPr/>
          </a:p>
          <a:p>
            <a:pPr marL="316230" marR="0" lvl="1" indent="-158115" algn="l" rtl="0">
              <a:spcBef>
                <a:spcPts val="0"/>
              </a:spcBef>
              <a:spcAft>
                <a:spcPts val="0"/>
              </a:spcAft>
              <a:buClr>
                <a:srgbClr val="000000"/>
              </a:buClr>
              <a:buSzPts val="1400"/>
              <a:buFont typeface="Arial"/>
              <a:buChar char="•"/>
            </a:pPr>
            <a:r>
              <a:rPr lang="en-US" sz="1400" b="0" i="0" u="none" strike="noStrike" cap="none">
                <a:solidFill>
                  <a:srgbClr val="000000"/>
                </a:solidFill>
                <a:latin typeface="Calibri"/>
                <a:ea typeface="Calibri"/>
                <a:cs typeface="Calibri"/>
                <a:sym typeface="Calibri"/>
              </a:rPr>
              <a:t>Developing an implementation program</a:t>
            </a:r>
            <a:endParaRPr/>
          </a:p>
        </p:txBody>
      </p:sp>
      <p:sp>
        <p:nvSpPr>
          <p:cNvPr id="577" name="Google Shape;577;p15"/>
          <p:cNvSpPr txBox="1"/>
          <p:nvPr/>
        </p:nvSpPr>
        <p:spPr>
          <a:xfrm>
            <a:off x="592085" y="-3280"/>
            <a:ext cx="11355272" cy="530017"/>
          </a:xfrm>
          <a:prstGeom prst="rect">
            <a:avLst/>
          </a:prstGeom>
          <a:noFill/>
          <a:ln>
            <a:noFill/>
          </a:ln>
        </p:spPr>
        <p:txBody>
          <a:bodyPr spcFirstLastPara="1" wrap="square" lIns="0" tIns="0" rIns="0" bIns="0" anchor="t" anchorCtr="0">
            <a:spAutoFit/>
          </a:bodyPr>
          <a:lstStyle/>
          <a:p>
            <a:pPr marL="403225" marR="0" lvl="0" indent="-403225" algn="l" rtl="0">
              <a:lnSpc>
                <a:spcPct val="123428"/>
              </a:lnSpc>
              <a:spcBef>
                <a:spcPts val="0"/>
              </a:spcBef>
              <a:spcAft>
                <a:spcPts val="0"/>
              </a:spcAft>
              <a:buNone/>
            </a:pPr>
            <a:r>
              <a:rPr lang="en-US" sz="2800" b="1">
                <a:solidFill>
                  <a:srgbClr val="000000"/>
                </a:solidFill>
                <a:latin typeface="Calibri"/>
                <a:ea typeface="Calibri"/>
                <a:cs typeface="Calibri"/>
                <a:sym typeface="Calibri"/>
              </a:rPr>
              <a:t>Implemented activities for Action Plan of food system transformation</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What is food system resilience?</a:t>
            </a:r>
          </a:p>
        </p:txBody>
      </p:sp>
      <p:sp>
        <p:nvSpPr>
          <p:cNvPr id="3" name="Definition card"/>
          <p:cNvSpPr/>
          <p:nvPr/>
        </p:nvSpPr>
        <p:spPr>
          <a:xfrm>
            <a:off x="548640" y="1371600"/>
            <a:ext cx="5486400" cy="42062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645920"/>
            <a:ext cx="4846320" cy="365760"/>
          </a:xfrm>
          <a:prstGeom prst="rect">
            <a:avLst/>
          </a:prstGeom>
          <a:noFill/>
        </p:spPr>
        <p:txBody>
          <a:bodyPr wrap="square" lIns="0" rIns="0" tIns="0" bIns="0" anchor="t">
            <a:spAutoFit/>
          </a:bodyPr>
          <a:lstStyle/>
          <a:p>
            <a:pPr algn="l"/>
            <a:r>
              <a:rPr sz="1400" b="1" i="0">
                <a:solidFill>
                  <a:srgbClr val="15607A"/>
                </a:solidFill>
                <a:latin typeface="Calibri"/>
              </a:rPr>
              <a:t>FOOD SYSTEM RESILIENCE</a:t>
            </a:r>
          </a:p>
        </p:txBody>
      </p:sp>
      <p:sp>
        <p:nvSpPr>
          <p:cNvPr id="5" name="Definition"/>
          <p:cNvSpPr txBox="1"/>
          <p:nvPr/>
        </p:nvSpPr>
        <p:spPr>
          <a:xfrm>
            <a:off x="868680" y="2103120"/>
            <a:ext cx="4846320" cy="2560320"/>
          </a:xfrm>
          <a:prstGeom prst="rect">
            <a:avLst/>
          </a:prstGeom>
          <a:noFill/>
        </p:spPr>
        <p:txBody>
          <a:bodyPr wrap="square" lIns="0" rIns="0" tIns="0" bIns="0" anchor="t">
            <a:spAutoFit/>
          </a:bodyPr>
          <a:lstStyle/>
          <a:p>
            <a:pPr algn="l"/>
            <a:r>
              <a:rPr sz="2200" b="0" i="1">
                <a:solidFill>
                  <a:srgbClr val="222B33"/>
                </a:solidFill>
                <a:latin typeface="Calibri"/>
              </a:rPr>
              <a:t>The capacity over time of a food system and its actors to keep providing sufficient, appropriate and accessible food to all, in the face of shocks and stresses</a:t>
            </a:r>
          </a:p>
        </p:txBody>
      </p:sp>
      <p:sp>
        <p:nvSpPr>
          <p:cNvPr id="6" name="TextBox 5"/>
          <p:cNvSpPr txBox="1"/>
          <p:nvPr/>
        </p:nvSpPr>
        <p:spPr>
          <a:xfrm>
            <a:off x="868680" y="3977639"/>
            <a:ext cx="4846320" cy="914400"/>
          </a:xfrm>
          <a:prstGeom prst="rect">
            <a:avLst/>
          </a:prstGeom>
          <a:noFill/>
        </p:spPr>
        <p:txBody>
          <a:bodyPr wrap="square" lIns="0" rIns="0" tIns="0" bIns="0" anchor="t">
            <a:spAutoFit/>
          </a:bodyPr>
          <a:lstStyle/>
          <a:p>
            <a:pPr algn="l"/>
            <a:r>
              <a:rPr sz="1500" b="1" i="0">
                <a:solidFill>
                  <a:srgbClr val="15607A"/>
                </a:solidFill>
                <a:latin typeface="Calibri"/>
              </a:rPr>
              <a:t>Actor view: </a:t>
            </a:r>
            <a:r>
              <a:rPr sz="1500" b="0" i="0">
                <a:solidFill>
                  <a:srgbClr val="222B33"/>
                </a:solidFill>
                <a:latin typeface="Calibri"/>
              </a:rPr>
              <a:t>the ability of food system actors to maintain, protect or recover its key functions despite shocks</a:t>
            </a:r>
          </a:p>
        </p:txBody>
      </p:sp>
      <p:sp>
        <p:nvSpPr>
          <p:cNvPr id="7" name="TextBox 6"/>
          <p:cNvSpPr txBox="1"/>
          <p:nvPr/>
        </p:nvSpPr>
        <p:spPr>
          <a:xfrm>
            <a:off x="868680" y="5074920"/>
            <a:ext cx="4846320" cy="365760"/>
          </a:xfrm>
          <a:prstGeom prst="rect">
            <a:avLst/>
          </a:prstGeom>
          <a:noFill/>
        </p:spPr>
        <p:txBody>
          <a:bodyPr wrap="square" lIns="0" rIns="0" tIns="0" bIns="0" anchor="t">
            <a:spAutoFit/>
          </a:bodyPr>
          <a:lstStyle/>
          <a:p>
            <a:pPr algn="l"/>
            <a:r>
              <a:rPr sz="1200" b="0" i="0">
                <a:solidFill>
                  <a:srgbClr val="6B757D"/>
                </a:solidFill>
                <a:latin typeface="Calibri"/>
              </a:rPr>
              <a:t>Tendall et al. (2015); FAO (2021); Béné et al. (2023)</a:t>
            </a:r>
          </a:p>
        </p:txBody>
      </p:sp>
      <p:sp>
        <p:nvSpPr>
          <p:cNvPr id="8" name="TextBox 7"/>
          <p:cNvSpPr txBox="1"/>
          <p:nvPr/>
        </p:nvSpPr>
        <p:spPr>
          <a:xfrm>
            <a:off x="6492240" y="1371600"/>
            <a:ext cx="5120640" cy="457200"/>
          </a:xfrm>
          <a:prstGeom prst="rect">
            <a:avLst/>
          </a:prstGeom>
          <a:noFill/>
        </p:spPr>
        <p:txBody>
          <a:bodyPr wrap="square" lIns="0" rIns="0" tIns="0" bIns="0" anchor="t">
            <a:spAutoFit/>
          </a:bodyPr>
          <a:lstStyle/>
          <a:p>
            <a:pPr algn="l"/>
            <a:r>
              <a:rPr sz="2000" b="1" i="0">
                <a:solidFill>
                  <a:srgbClr val="222B33"/>
                </a:solidFill>
                <a:latin typeface="Calibri"/>
              </a:rPr>
              <a:t>A resilient food system can…</a:t>
            </a:r>
          </a:p>
        </p:txBody>
      </p:sp>
      <p:sp>
        <p:nvSpPr>
          <p:cNvPr id="9" name="TextBox 8"/>
          <p:cNvSpPr txBox="1"/>
          <p:nvPr/>
        </p:nvSpPr>
        <p:spPr>
          <a:xfrm>
            <a:off x="6492240" y="5623560"/>
            <a:ext cx="5120640" cy="548640"/>
          </a:xfrm>
          <a:prstGeom prst="rect">
            <a:avLst/>
          </a:prstGeom>
          <a:noFill/>
        </p:spPr>
        <p:txBody>
          <a:bodyPr wrap="square" lIns="0" rIns="0" tIns="0" bIns="0" anchor="t">
            <a:spAutoFit/>
          </a:bodyPr>
          <a:lstStyle/>
          <a:p>
            <a:pPr algn="l"/>
            <a:r>
              <a:rPr sz="1400" b="0" i="1">
                <a:solidFill>
                  <a:srgbClr val="15607A"/>
                </a:solidFill>
                <a:latin typeface="Calibri"/>
              </a:rPr>
              <a:t>Overlapping but distinct: sustainability is about lasting, adaptation about adjusting, resilience about coping with shocks</a:t>
            </a:r>
          </a:p>
        </p:txBody>
      </p:sp>
      <p:sp>
        <p:nvSpPr>
          <p:cNvPr id="10" name="Capacity 1"/>
          <p:cNvSpPr/>
          <p:nvPr/>
        </p:nvSpPr>
        <p:spPr>
          <a:xfrm>
            <a:off x="6492240" y="2057400"/>
            <a:ext cx="777240" cy="7772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1</a:t>
            </a:r>
          </a:p>
        </p:txBody>
      </p:sp>
      <p:sp>
        <p:nvSpPr>
          <p:cNvPr id="11" name="TextBox 10"/>
          <p:cNvSpPr txBox="1"/>
          <p:nvPr/>
        </p:nvSpPr>
        <p:spPr>
          <a:xfrm>
            <a:off x="7498079" y="2075688"/>
            <a:ext cx="4114800" cy="411480"/>
          </a:xfrm>
          <a:prstGeom prst="rect">
            <a:avLst/>
          </a:prstGeom>
          <a:noFill/>
        </p:spPr>
        <p:txBody>
          <a:bodyPr wrap="square" lIns="0" rIns="0" tIns="0" bIns="0" anchor="t">
            <a:spAutoFit/>
          </a:bodyPr>
          <a:lstStyle/>
          <a:p>
            <a:pPr algn="l"/>
            <a:r>
              <a:rPr sz="2000" b="1" i="0">
                <a:solidFill>
                  <a:srgbClr val="15607A"/>
                </a:solidFill>
                <a:latin typeface="Calibri"/>
              </a:rPr>
              <a:t>Resist and absorb</a:t>
            </a:r>
          </a:p>
        </p:txBody>
      </p:sp>
      <p:sp>
        <p:nvSpPr>
          <p:cNvPr id="12" name="TextBox 11"/>
          <p:cNvSpPr txBox="1"/>
          <p:nvPr/>
        </p:nvSpPr>
        <p:spPr>
          <a:xfrm>
            <a:off x="7498079" y="2487168"/>
            <a:ext cx="4114800" cy="685800"/>
          </a:xfrm>
          <a:prstGeom prst="rect">
            <a:avLst/>
          </a:prstGeom>
          <a:noFill/>
        </p:spPr>
        <p:txBody>
          <a:bodyPr wrap="square" lIns="0" rIns="0" tIns="0" bIns="0" anchor="t">
            <a:spAutoFit/>
          </a:bodyPr>
          <a:lstStyle/>
          <a:p>
            <a:pPr algn="l"/>
            <a:r>
              <a:rPr sz="1500" b="0" i="0">
                <a:solidFill>
                  <a:srgbClr val="6B757D"/>
                </a:solidFill>
                <a:latin typeface="Calibri"/>
              </a:rPr>
              <a:t>Withstand shocks through buffers, stocks, diversity and redundancy</a:t>
            </a:r>
          </a:p>
        </p:txBody>
      </p:sp>
      <p:sp>
        <p:nvSpPr>
          <p:cNvPr id="13" name="Capacity 2"/>
          <p:cNvSpPr/>
          <p:nvPr/>
        </p:nvSpPr>
        <p:spPr>
          <a:xfrm>
            <a:off x="6492240" y="3246120"/>
            <a:ext cx="777240" cy="7772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2</a:t>
            </a:r>
          </a:p>
        </p:txBody>
      </p:sp>
      <p:sp>
        <p:nvSpPr>
          <p:cNvPr id="14" name="TextBox 13"/>
          <p:cNvSpPr txBox="1"/>
          <p:nvPr/>
        </p:nvSpPr>
        <p:spPr>
          <a:xfrm>
            <a:off x="7498079" y="3264408"/>
            <a:ext cx="4114800" cy="411480"/>
          </a:xfrm>
          <a:prstGeom prst="rect">
            <a:avLst/>
          </a:prstGeom>
          <a:noFill/>
        </p:spPr>
        <p:txBody>
          <a:bodyPr wrap="square" lIns="0" rIns="0" tIns="0" bIns="0" anchor="t">
            <a:spAutoFit/>
          </a:bodyPr>
          <a:lstStyle/>
          <a:p>
            <a:pPr algn="l"/>
            <a:r>
              <a:rPr sz="2000" b="1" i="0">
                <a:solidFill>
                  <a:srgbClr val="4E8F3A"/>
                </a:solidFill>
                <a:latin typeface="Calibri"/>
              </a:rPr>
              <a:t>Adapt and recover</a:t>
            </a:r>
          </a:p>
        </p:txBody>
      </p:sp>
      <p:sp>
        <p:nvSpPr>
          <p:cNvPr id="15" name="TextBox 14"/>
          <p:cNvSpPr txBox="1"/>
          <p:nvPr/>
        </p:nvSpPr>
        <p:spPr>
          <a:xfrm>
            <a:off x="7498079" y="3675887"/>
            <a:ext cx="4114800" cy="685800"/>
          </a:xfrm>
          <a:prstGeom prst="rect">
            <a:avLst/>
          </a:prstGeom>
          <a:noFill/>
        </p:spPr>
        <p:txBody>
          <a:bodyPr wrap="square" lIns="0" rIns="0" tIns="0" bIns="0" anchor="t">
            <a:spAutoFit/>
          </a:bodyPr>
          <a:lstStyle/>
          <a:p>
            <a:pPr algn="l"/>
            <a:r>
              <a:rPr sz="1500" b="0" i="0">
                <a:solidFill>
                  <a:srgbClr val="6B757D"/>
                </a:solidFill>
                <a:latin typeface="Calibri"/>
              </a:rPr>
              <a:t>Adjust practices, markets and policies, and bounce back</a:t>
            </a:r>
          </a:p>
        </p:txBody>
      </p:sp>
      <p:sp>
        <p:nvSpPr>
          <p:cNvPr id="16" name="Capacity 3"/>
          <p:cNvSpPr/>
          <p:nvPr/>
        </p:nvSpPr>
        <p:spPr>
          <a:xfrm>
            <a:off x="6492240" y="4434840"/>
            <a:ext cx="777240" cy="7772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3</a:t>
            </a:r>
          </a:p>
        </p:txBody>
      </p:sp>
      <p:sp>
        <p:nvSpPr>
          <p:cNvPr id="17" name="TextBox 16"/>
          <p:cNvSpPr txBox="1"/>
          <p:nvPr/>
        </p:nvSpPr>
        <p:spPr>
          <a:xfrm>
            <a:off x="7498079" y="4453127"/>
            <a:ext cx="4114800" cy="411480"/>
          </a:xfrm>
          <a:prstGeom prst="rect">
            <a:avLst/>
          </a:prstGeom>
          <a:noFill/>
        </p:spPr>
        <p:txBody>
          <a:bodyPr wrap="square" lIns="0" rIns="0" tIns="0" bIns="0" anchor="t">
            <a:spAutoFit/>
          </a:bodyPr>
          <a:lstStyle/>
          <a:p>
            <a:pPr algn="l"/>
            <a:r>
              <a:rPr sz="2000" b="1" i="0">
                <a:solidFill>
                  <a:srgbClr val="E26E24"/>
                </a:solidFill>
                <a:latin typeface="Calibri"/>
              </a:rPr>
              <a:t>Transform</a:t>
            </a:r>
          </a:p>
        </p:txBody>
      </p:sp>
      <p:sp>
        <p:nvSpPr>
          <p:cNvPr id="18" name="TextBox 17"/>
          <p:cNvSpPr txBox="1"/>
          <p:nvPr/>
        </p:nvSpPr>
        <p:spPr>
          <a:xfrm>
            <a:off x="7498079" y="4864607"/>
            <a:ext cx="4114800" cy="685800"/>
          </a:xfrm>
          <a:prstGeom prst="rect">
            <a:avLst/>
          </a:prstGeom>
          <a:noFill/>
        </p:spPr>
        <p:txBody>
          <a:bodyPr wrap="square" lIns="0" rIns="0" tIns="0" bIns="0" anchor="t">
            <a:spAutoFit/>
          </a:bodyPr>
          <a:lstStyle/>
          <a:p>
            <a:pPr algn="l"/>
            <a:r>
              <a:rPr sz="1500" b="0" i="0">
                <a:solidFill>
                  <a:srgbClr val="6B757D"/>
                </a:solidFill>
                <a:latin typeface="Calibri"/>
              </a:rPr>
              <a:t>Change the system when it is untenable: bounce forward, more fairly</a:t>
            </a:r>
          </a:p>
        </p:txBody>
      </p:sp>
      <p:sp>
        <p:nvSpPr>
          <p:cNvPr id="19"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Tendall et al. (2015); FAO (2021); Béné et al. (2023); HLPE (2025)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Unpacking resilience in Viet Nam</a:t>
            </a:r>
          </a:p>
        </p:txBody>
      </p:sp>
      <p:sp>
        <p:nvSpPr>
          <p:cNvPr id="3" name="Column 1"/>
          <p:cNvSpPr/>
          <p:nvPr/>
        </p:nvSpPr>
        <p:spPr>
          <a:xfrm>
            <a:off x="548640" y="1280160"/>
            <a:ext cx="3474720" cy="274320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1444752"/>
            <a:ext cx="2926080" cy="457200"/>
          </a:xfrm>
          <a:prstGeom prst="rect">
            <a:avLst/>
          </a:prstGeom>
          <a:noFill/>
        </p:spPr>
        <p:txBody>
          <a:bodyPr wrap="square" lIns="0" rIns="0" tIns="0" bIns="0" anchor="t">
            <a:spAutoFit/>
          </a:bodyPr>
          <a:lstStyle/>
          <a:p>
            <a:pPr algn="l"/>
            <a:r>
              <a:rPr sz="2000" b="1" i="0">
                <a:solidFill>
                  <a:srgbClr val="15607A"/>
                </a:solidFill>
                <a:latin typeface="Calibri"/>
              </a:rPr>
              <a:t>Resilience of what?</a:t>
            </a:r>
          </a:p>
        </p:txBody>
      </p:sp>
      <p:sp>
        <p:nvSpPr>
          <p:cNvPr id="5" name="TextBox 4"/>
          <p:cNvSpPr txBox="1"/>
          <p:nvPr/>
        </p:nvSpPr>
        <p:spPr>
          <a:xfrm>
            <a:off x="822959" y="2011680"/>
            <a:ext cx="3017520" cy="1920240"/>
          </a:xfrm>
          <a:prstGeom prst="rect">
            <a:avLst/>
          </a:prstGeom>
          <a:noFill/>
        </p:spPr>
        <p:txBody>
          <a:bodyPr wrap="square" lIns="0" rIns="0" tIns="0" bIns="0" anchor="t">
            <a:spAutoFit/>
          </a:bodyPr>
          <a:lstStyle/>
          <a:p>
            <a:pPr algn="l"/>
            <a:r>
              <a:rPr sz="1500" b="0" i="0">
                <a:solidFill>
                  <a:srgbClr val="222B33"/>
                </a:solidFill>
                <a:latin typeface="Calibri"/>
              </a:rPr>
              <a:t>Rice-based food security and exports</a:t>
            </a:r>
          </a:p>
          <a:p>
            <a:pPr algn="l">
              <a:spcBef>
                <a:spcPts val="600"/>
              </a:spcBef>
            </a:pPr>
            <a:r>
              <a:rPr sz="1500" b="0" i="0">
                <a:solidFill>
                  <a:srgbClr val="222B33"/>
                </a:solidFill>
                <a:latin typeface="Calibri"/>
              </a:rPr>
              <a:t>Smallholder livelihoods</a:t>
            </a:r>
          </a:p>
          <a:p>
            <a:pPr algn="l">
              <a:spcBef>
                <a:spcPts val="600"/>
              </a:spcBef>
            </a:pPr>
            <a:r>
              <a:rPr sz="1500" b="0" i="0">
                <a:solidFill>
                  <a:srgbClr val="222B33"/>
                </a:solidFill>
                <a:latin typeface="Calibri"/>
              </a:rPr>
              <a:t>Diets and nutrition</a:t>
            </a:r>
          </a:p>
          <a:p>
            <a:pPr algn="l">
              <a:spcBef>
                <a:spcPts val="600"/>
              </a:spcBef>
            </a:pPr>
            <a:r>
              <a:rPr sz="1500" b="0" i="0">
                <a:solidFill>
                  <a:srgbClr val="222B33"/>
                </a:solidFill>
                <a:latin typeface="Calibri"/>
              </a:rPr>
              <a:t>Territorial food systems</a:t>
            </a:r>
          </a:p>
        </p:txBody>
      </p:sp>
      <p:sp>
        <p:nvSpPr>
          <p:cNvPr id="6" name="Photo area"/>
          <p:cNvSpPr/>
          <p:nvPr/>
        </p:nvSpPr>
        <p:spPr>
          <a:xfrm>
            <a:off x="548640" y="4160520"/>
            <a:ext cx="3474720" cy="141732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7" name="Column 2"/>
          <p:cNvSpPr/>
          <p:nvPr/>
        </p:nvSpPr>
        <p:spPr>
          <a:xfrm>
            <a:off x="4297679" y="1280160"/>
            <a:ext cx="3474720" cy="274320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1999" y="1444752"/>
            <a:ext cx="2926080" cy="457200"/>
          </a:xfrm>
          <a:prstGeom prst="rect">
            <a:avLst/>
          </a:prstGeom>
          <a:noFill/>
        </p:spPr>
        <p:txBody>
          <a:bodyPr wrap="square" lIns="0" rIns="0" tIns="0" bIns="0" anchor="t">
            <a:spAutoFit/>
          </a:bodyPr>
          <a:lstStyle/>
          <a:p>
            <a:pPr algn="l"/>
            <a:r>
              <a:rPr sz="2000" b="1" i="0">
                <a:solidFill>
                  <a:srgbClr val="E26E24"/>
                </a:solidFill>
                <a:latin typeface="Calibri"/>
              </a:rPr>
              <a:t>Resilience to what?</a:t>
            </a:r>
          </a:p>
        </p:txBody>
      </p:sp>
      <p:sp>
        <p:nvSpPr>
          <p:cNvPr id="9" name="TextBox 8"/>
          <p:cNvSpPr txBox="1"/>
          <p:nvPr/>
        </p:nvSpPr>
        <p:spPr>
          <a:xfrm>
            <a:off x="4571999" y="2011680"/>
            <a:ext cx="3017520" cy="1920240"/>
          </a:xfrm>
          <a:prstGeom prst="rect">
            <a:avLst/>
          </a:prstGeom>
          <a:noFill/>
        </p:spPr>
        <p:txBody>
          <a:bodyPr wrap="square" lIns="0" rIns="0" tIns="0" bIns="0" anchor="t">
            <a:spAutoFit/>
          </a:bodyPr>
          <a:lstStyle/>
          <a:p>
            <a:pPr algn="l"/>
            <a:r>
              <a:rPr sz="1500" b="0" i="0">
                <a:solidFill>
                  <a:srgbClr val="222B33"/>
                </a:solidFill>
                <a:latin typeface="Calibri"/>
              </a:rPr>
              <a:t>Typhoons (Yagi, 2024), floods, drought</a:t>
            </a:r>
          </a:p>
          <a:p>
            <a:pPr algn="l">
              <a:spcBef>
                <a:spcPts val="600"/>
              </a:spcBef>
            </a:pPr>
            <a:r>
              <a:rPr sz="1500" b="0" i="0">
                <a:solidFill>
                  <a:srgbClr val="222B33"/>
                </a:solidFill>
                <a:latin typeface="Calibri"/>
              </a:rPr>
              <a:t>Salinity in the Mekong Delta</a:t>
            </a:r>
          </a:p>
          <a:p>
            <a:pPr algn="l">
              <a:spcBef>
                <a:spcPts val="600"/>
              </a:spcBef>
            </a:pPr>
            <a:r>
              <a:rPr sz="1500" b="0" i="0">
                <a:solidFill>
                  <a:srgbClr val="222B33"/>
                </a:solidFill>
                <a:latin typeface="Calibri"/>
              </a:rPr>
              <a:t>Price shocks (rice, 2007–08)</a:t>
            </a:r>
          </a:p>
          <a:p>
            <a:pPr algn="l">
              <a:spcBef>
                <a:spcPts val="600"/>
              </a:spcBef>
            </a:pPr>
            <a:r>
              <a:rPr sz="1500" b="0" i="0">
                <a:solidFill>
                  <a:srgbClr val="222B33"/>
                </a:solidFill>
                <a:latin typeface="Calibri"/>
              </a:rPr>
              <a:t>COVID-19 (2020–21)</a:t>
            </a:r>
          </a:p>
        </p:txBody>
      </p:sp>
      <p:sp>
        <p:nvSpPr>
          <p:cNvPr id="10" name="Photo area"/>
          <p:cNvSpPr/>
          <p:nvPr/>
        </p:nvSpPr>
        <p:spPr>
          <a:xfrm>
            <a:off x="4297679" y="4160520"/>
            <a:ext cx="3474720" cy="141732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1" name="Column 3"/>
          <p:cNvSpPr/>
          <p:nvPr/>
        </p:nvSpPr>
        <p:spPr>
          <a:xfrm>
            <a:off x="8046719" y="1280160"/>
            <a:ext cx="3474720" cy="274320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1040" y="1444752"/>
            <a:ext cx="2926080" cy="457200"/>
          </a:xfrm>
          <a:prstGeom prst="rect">
            <a:avLst/>
          </a:prstGeom>
          <a:noFill/>
        </p:spPr>
        <p:txBody>
          <a:bodyPr wrap="square" lIns="0" rIns="0" tIns="0" bIns="0" anchor="t">
            <a:spAutoFit/>
          </a:bodyPr>
          <a:lstStyle/>
          <a:p>
            <a:pPr algn="l"/>
            <a:r>
              <a:rPr sz="2000" b="1" i="0">
                <a:solidFill>
                  <a:srgbClr val="4E8F3A"/>
                </a:solidFill>
                <a:latin typeface="Calibri"/>
              </a:rPr>
              <a:t>Resilience for whom?</a:t>
            </a:r>
          </a:p>
        </p:txBody>
      </p:sp>
      <p:sp>
        <p:nvSpPr>
          <p:cNvPr id="13" name="TextBox 12"/>
          <p:cNvSpPr txBox="1"/>
          <p:nvPr/>
        </p:nvSpPr>
        <p:spPr>
          <a:xfrm>
            <a:off x="8321040" y="2011680"/>
            <a:ext cx="3017520" cy="1920240"/>
          </a:xfrm>
          <a:prstGeom prst="rect">
            <a:avLst/>
          </a:prstGeom>
          <a:noFill/>
        </p:spPr>
        <p:txBody>
          <a:bodyPr wrap="square" lIns="0" rIns="0" tIns="0" bIns="0" anchor="t">
            <a:spAutoFit/>
          </a:bodyPr>
          <a:lstStyle/>
          <a:p>
            <a:pPr algn="l"/>
            <a:r>
              <a:rPr sz="1500" b="0" i="0">
                <a:solidFill>
                  <a:srgbClr val="222B33"/>
                </a:solidFill>
                <a:latin typeface="Calibri"/>
              </a:rPr>
              <a:t>Smallholders</a:t>
            </a:r>
          </a:p>
          <a:p>
            <a:pPr algn="l">
              <a:spcBef>
                <a:spcPts val="600"/>
              </a:spcBef>
            </a:pPr>
            <a:r>
              <a:rPr sz="1500" b="0" i="0">
                <a:solidFill>
                  <a:srgbClr val="222B33"/>
                </a:solidFill>
                <a:latin typeface="Calibri"/>
              </a:rPr>
              <a:t>Ethnic minority and mountain areas</a:t>
            </a:r>
          </a:p>
          <a:p>
            <a:pPr algn="l">
              <a:spcBef>
                <a:spcPts val="600"/>
              </a:spcBef>
            </a:pPr>
            <a:r>
              <a:rPr sz="1500" b="0" i="0">
                <a:solidFill>
                  <a:srgbClr val="222B33"/>
                </a:solidFill>
                <a:latin typeface="Calibri"/>
              </a:rPr>
              <a:t>Low-income urban households</a:t>
            </a:r>
          </a:p>
          <a:p>
            <a:pPr algn="l">
              <a:spcBef>
                <a:spcPts val="600"/>
              </a:spcBef>
            </a:pPr>
            <a:r>
              <a:rPr sz="1500" b="0" i="0">
                <a:solidFill>
                  <a:srgbClr val="222B33"/>
                </a:solidFill>
                <a:latin typeface="Calibri"/>
              </a:rPr>
              <a:t>Women and value chain workers</a:t>
            </a:r>
          </a:p>
        </p:txBody>
      </p:sp>
      <p:sp>
        <p:nvSpPr>
          <p:cNvPr id="14" name="Photo area"/>
          <p:cNvSpPr/>
          <p:nvPr/>
        </p:nvSpPr>
        <p:spPr>
          <a:xfrm>
            <a:off x="8046719" y="4160520"/>
            <a:ext cx="3474720" cy="141732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5" name="TextBox 14"/>
          <p:cNvSpPr txBox="1"/>
          <p:nvPr/>
        </p:nvSpPr>
        <p:spPr>
          <a:xfrm>
            <a:off x="548640" y="5715000"/>
            <a:ext cx="11064240" cy="502920"/>
          </a:xfrm>
          <a:prstGeom prst="rect">
            <a:avLst/>
          </a:prstGeom>
          <a:noFill/>
        </p:spPr>
        <p:txBody>
          <a:bodyPr wrap="square" lIns="0" rIns="0" tIns="0" bIns="0" anchor="t">
            <a:spAutoFit/>
          </a:bodyPr>
          <a:lstStyle/>
          <a:p>
            <a:pPr algn="l"/>
            <a:r>
              <a:rPr sz="1500" b="1" i="0">
                <a:solidFill>
                  <a:srgbClr val="15607A"/>
                </a:solidFill>
                <a:latin typeface="Calibri"/>
              </a:rPr>
              <a:t>Evidence from Viet Nam: </a:t>
            </a:r>
            <a:r>
              <a:rPr sz="1500" b="0" i="0">
                <a:solidFill>
                  <a:srgbClr val="222B33"/>
                </a:solidFill>
                <a:latin typeface="Calibri"/>
              </a:rPr>
              <a:t>diversity, finance and sound policy decide who copes; most studies are household- or farm-level, with no national assessment yet</a:t>
            </a:r>
          </a:p>
        </p:txBody>
      </p:sp>
      <p:sp>
        <p:nvSpPr>
          <p:cNvPr id="16"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Hoang (2018); Nguyen et al. (2019); Bruckert &amp; Nguyen (2024); Dawe &amp; Slayton (2011)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NAP-FST principles and resilience</a:t>
            </a:r>
          </a:p>
        </p:txBody>
      </p:sp>
      <p:sp>
        <p:nvSpPr>
          <p:cNvPr id="3" name="Principle 1"/>
          <p:cNvSpPr/>
          <p:nvPr/>
        </p:nvSpPr>
        <p:spPr>
          <a:xfrm>
            <a:off x="548640" y="1371600"/>
            <a:ext cx="3474720" cy="292608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1600200"/>
            <a:ext cx="2926080" cy="502920"/>
          </a:xfrm>
          <a:prstGeom prst="rect">
            <a:avLst/>
          </a:prstGeom>
          <a:noFill/>
        </p:spPr>
        <p:txBody>
          <a:bodyPr wrap="square" lIns="0" rIns="0" tIns="0" bIns="0" anchor="t">
            <a:spAutoFit/>
          </a:bodyPr>
          <a:lstStyle/>
          <a:p>
            <a:pPr algn="l"/>
            <a:r>
              <a:rPr sz="2400" b="1" i="0">
                <a:solidFill>
                  <a:srgbClr val="15607A"/>
                </a:solidFill>
                <a:latin typeface="Calibri"/>
              </a:rPr>
              <a:t>Transparency</a:t>
            </a:r>
          </a:p>
        </p:txBody>
      </p:sp>
      <p:sp>
        <p:nvSpPr>
          <p:cNvPr id="5" name="TextBox 4"/>
          <p:cNvSpPr txBox="1"/>
          <p:nvPr/>
        </p:nvSpPr>
        <p:spPr>
          <a:xfrm>
            <a:off x="822959" y="2194560"/>
            <a:ext cx="2971800" cy="1188720"/>
          </a:xfrm>
          <a:prstGeom prst="rect">
            <a:avLst/>
          </a:prstGeom>
          <a:noFill/>
        </p:spPr>
        <p:txBody>
          <a:bodyPr wrap="square" lIns="0" rIns="0" tIns="0" bIns="0" anchor="t">
            <a:spAutoFit/>
          </a:bodyPr>
          <a:lstStyle/>
          <a:p>
            <a:pPr algn="l"/>
            <a:r>
              <a:rPr sz="1700" b="0" i="0">
                <a:solidFill>
                  <a:srgbClr val="222B33"/>
                </a:solidFill>
                <a:latin typeface="Calibri"/>
              </a:rPr>
              <a:t>Information for early warning and fast, fair responses to shocks</a:t>
            </a:r>
          </a:p>
        </p:txBody>
      </p:sp>
      <p:sp>
        <p:nvSpPr>
          <p:cNvPr id="6" name="TextBox 5"/>
          <p:cNvSpPr txBox="1"/>
          <p:nvPr/>
        </p:nvSpPr>
        <p:spPr>
          <a:xfrm>
            <a:off x="822959" y="3429000"/>
            <a:ext cx="2971800" cy="731520"/>
          </a:xfrm>
          <a:prstGeom prst="rect">
            <a:avLst/>
          </a:prstGeom>
          <a:noFill/>
        </p:spPr>
        <p:txBody>
          <a:bodyPr wrap="square" lIns="0" rIns="0" tIns="0" bIns="0" anchor="t">
            <a:spAutoFit/>
          </a:bodyPr>
          <a:lstStyle/>
          <a:p>
            <a:pPr algn="l"/>
            <a:r>
              <a:rPr sz="1300" b="0" i="0">
                <a:solidFill>
                  <a:srgbClr val="6B757D"/>
                </a:solidFill>
                <a:latin typeface="Calibri"/>
              </a:rPr>
              <a:t>Traceability · area codes · labelling · food balance sheets · data</a:t>
            </a:r>
          </a:p>
        </p:txBody>
      </p:sp>
      <p:sp>
        <p:nvSpPr>
          <p:cNvPr id="7" name="Principle 2"/>
          <p:cNvSpPr/>
          <p:nvPr/>
        </p:nvSpPr>
        <p:spPr>
          <a:xfrm>
            <a:off x="4297679" y="1371600"/>
            <a:ext cx="3474720" cy="292608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1999" y="1600200"/>
            <a:ext cx="2926080" cy="502920"/>
          </a:xfrm>
          <a:prstGeom prst="rect">
            <a:avLst/>
          </a:prstGeom>
          <a:noFill/>
        </p:spPr>
        <p:txBody>
          <a:bodyPr wrap="square" lIns="0" rIns="0" tIns="0" bIns="0" anchor="t">
            <a:spAutoFit/>
          </a:bodyPr>
          <a:lstStyle/>
          <a:p>
            <a:pPr algn="l"/>
            <a:r>
              <a:rPr sz="2400" b="1" i="0">
                <a:solidFill>
                  <a:srgbClr val="E26E24"/>
                </a:solidFill>
                <a:latin typeface="Calibri"/>
              </a:rPr>
              <a:t>Responsibility</a:t>
            </a:r>
          </a:p>
        </p:txBody>
      </p:sp>
      <p:sp>
        <p:nvSpPr>
          <p:cNvPr id="9" name="TextBox 8"/>
          <p:cNvSpPr txBox="1"/>
          <p:nvPr/>
        </p:nvSpPr>
        <p:spPr>
          <a:xfrm>
            <a:off x="4571999" y="2194560"/>
            <a:ext cx="2971800" cy="1188720"/>
          </a:xfrm>
          <a:prstGeom prst="rect">
            <a:avLst/>
          </a:prstGeom>
          <a:noFill/>
        </p:spPr>
        <p:txBody>
          <a:bodyPr wrap="square" lIns="0" rIns="0" tIns="0" bIns="0" anchor="t">
            <a:spAutoFit/>
          </a:bodyPr>
          <a:lstStyle/>
          <a:p>
            <a:pPr algn="l"/>
            <a:r>
              <a:rPr sz="1700" b="0" i="0">
                <a:solidFill>
                  <a:srgbClr val="222B33"/>
                </a:solidFill>
                <a:latin typeface="Calibri"/>
              </a:rPr>
              <a:t>Shared roles spread risk and protect the most vulnerable</a:t>
            </a:r>
          </a:p>
        </p:txBody>
      </p:sp>
      <p:sp>
        <p:nvSpPr>
          <p:cNvPr id="10" name="TextBox 9"/>
          <p:cNvSpPr txBox="1"/>
          <p:nvPr/>
        </p:nvSpPr>
        <p:spPr>
          <a:xfrm>
            <a:off x="4571999" y="3429000"/>
            <a:ext cx="2971800" cy="731520"/>
          </a:xfrm>
          <a:prstGeom prst="rect">
            <a:avLst/>
          </a:prstGeom>
          <a:noFill/>
        </p:spPr>
        <p:txBody>
          <a:bodyPr wrap="square" lIns="0" rIns="0" tIns="0" bIns="0" anchor="t">
            <a:spAutoFit/>
          </a:bodyPr>
          <a:lstStyle/>
          <a:p>
            <a:pPr algn="l"/>
            <a:r>
              <a:rPr sz="1300" b="0" i="0">
                <a:solidFill>
                  <a:srgbClr val="6B757D"/>
                </a:solidFill>
                <a:latin typeface="Calibri"/>
              </a:rPr>
              <a:t>Input suppliers, farmers, processors, traders, consumers and the state</a:t>
            </a:r>
          </a:p>
        </p:txBody>
      </p:sp>
      <p:sp>
        <p:nvSpPr>
          <p:cNvPr id="11" name="Principle 3"/>
          <p:cNvSpPr/>
          <p:nvPr/>
        </p:nvSpPr>
        <p:spPr>
          <a:xfrm>
            <a:off x="8046719" y="1371600"/>
            <a:ext cx="3474720" cy="292608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1040" y="1600200"/>
            <a:ext cx="2926080" cy="502920"/>
          </a:xfrm>
          <a:prstGeom prst="rect">
            <a:avLst/>
          </a:prstGeom>
          <a:noFill/>
        </p:spPr>
        <p:txBody>
          <a:bodyPr wrap="square" lIns="0" rIns="0" tIns="0" bIns="0" anchor="t">
            <a:spAutoFit/>
          </a:bodyPr>
          <a:lstStyle/>
          <a:p>
            <a:pPr algn="l"/>
            <a:r>
              <a:rPr sz="2400" b="1" i="0">
                <a:solidFill>
                  <a:srgbClr val="4E8F3A"/>
                </a:solidFill>
                <a:latin typeface="Calibri"/>
              </a:rPr>
              <a:t>Sustainability</a:t>
            </a:r>
          </a:p>
        </p:txBody>
      </p:sp>
      <p:sp>
        <p:nvSpPr>
          <p:cNvPr id="13" name="TextBox 12"/>
          <p:cNvSpPr txBox="1"/>
          <p:nvPr/>
        </p:nvSpPr>
        <p:spPr>
          <a:xfrm>
            <a:off x="8321040" y="2194560"/>
            <a:ext cx="2971800" cy="1188720"/>
          </a:xfrm>
          <a:prstGeom prst="rect">
            <a:avLst/>
          </a:prstGeom>
          <a:noFill/>
        </p:spPr>
        <p:txBody>
          <a:bodyPr wrap="square" lIns="0" rIns="0" tIns="0" bIns="0" anchor="t">
            <a:spAutoFit/>
          </a:bodyPr>
          <a:lstStyle/>
          <a:p>
            <a:pPr algn="l"/>
            <a:r>
              <a:rPr sz="1700" b="0" i="0">
                <a:solidFill>
                  <a:srgbClr val="222B33"/>
                </a:solidFill>
                <a:latin typeface="Calibri"/>
              </a:rPr>
              <a:t>A healthy resource base lowers long-term stress and widens adaptation options</a:t>
            </a:r>
          </a:p>
        </p:txBody>
      </p:sp>
      <p:sp>
        <p:nvSpPr>
          <p:cNvPr id="14" name="TextBox 13"/>
          <p:cNvSpPr txBox="1"/>
          <p:nvPr/>
        </p:nvSpPr>
        <p:spPr>
          <a:xfrm>
            <a:off x="8321040" y="3429000"/>
            <a:ext cx="2971800" cy="731520"/>
          </a:xfrm>
          <a:prstGeom prst="rect">
            <a:avLst/>
          </a:prstGeom>
          <a:noFill/>
        </p:spPr>
        <p:txBody>
          <a:bodyPr wrap="square" lIns="0" rIns="0" tIns="0" bIns="0" anchor="t">
            <a:spAutoFit/>
          </a:bodyPr>
          <a:lstStyle/>
          <a:p>
            <a:pPr algn="l"/>
            <a:r>
              <a:rPr sz="1300" b="0" i="0">
                <a:solidFill>
                  <a:srgbClr val="6B757D"/>
                </a:solidFill>
                <a:latin typeface="Calibri"/>
              </a:rPr>
              <a:t>Agroecology · low emissions · water and land use · less loss and waste</a:t>
            </a:r>
          </a:p>
        </p:txBody>
      </p:sp>
      <p:sp>
        <p:nvSpPr>
          <p:cNvPr id="15" name="Viewpoint callout"/>
          <p:cNvSpPr/>
          <p:nvPr/>
        </p:nvSpPr>
        <p:spPr>
          <a:xfrm>
            <a:off x="548640" y="4526280"/>
            <a:ext cx="11064240" cy="1600200"/>
          </a:xfrm>
          <a:prstGeom prst="roundRect">
            <a:avLst>
              <a:gd name="adj" fmla="val 8000"/>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Viewpoint"/>
          <p:cNvSpPr txBox="1"/>
          <p:nvPr/>
        </p:nvSpPr>
        <p:spPr>
          <a:xfrm>
            <a:off x="914400" y="4617720"/>
            <a:ext cx="10332720" cy="1417320"/>
          </a:xfrm>
          <a:prstGeom prst="rect">
            <a:avLst/>
          </a:prstGeom>
          <a:noFill/>
        </p:spPr>
        <p:txBody>
          <a:bodyPr wrap="square" lIns="0" rIns="0" tIns="0" bIns="0" anchor="ctr">
            <a:spAutoFit/>
          </a:bodyPr>
          <a:lstStyle/>
          <a:p>
            <a:pPr algn="l"/>
            <a:r>
              <a:rPr sz="2000" b="1" i="0">
                <a:solidFill>
                  <a:srgbClr val="FFFFFF"/>
                </a:solidFill>
                <a:latin typeface="Calibri"/>
              </a:rPr>
              <a:t>NAP-FST viewpoint: </a:t>
            </a:r>
            <a:r>
              <a:rPr sz="2000" b="0" i="0">
                <a:solidFill>
                  <a:srgbClr val="FFFFFF"/>
                </a:solidFill>
                <a:latin typeface="Calibri"/>
              </a:rPr>
              <a:t>food system transformation is linked to </a:t>
            </a:r>
            <a:r>
              <a:rPr sz="2000" b="1" i="1">
                <a:solidFill>
                  <a:srgbClr val="FFFFFF"/>
                </a:solidFill>
                <a:latin typeface="Calibri"/>
              </a:rPr>
              <a:t>“resilience to shocks”</a:t>
            </a:r>
            <a:r>
              <a:rPr sz="1400" b="0" i="0">
                <a:solidFill>
                  <a:srgbClr val="FFFFFF"/>
                </a:solidFill>
                <a:latin typeface="Calibri"/>
              </a:rPr>
              <a:t> (Decision 300/QĐ-TTg, 2023)</a:t>
            </a:r>
          </a:p>
          <a:p>
            <a:pPr algn="l">
              <a:spcBef>
                <a:spcPts val="600"/>
              </a:spcBef>
            </a:pPr>
            <a:r>
              <a:rPr sz="1500" b="0" i="0">
                <a:solidFill>
                  <a:srgbClr val="FFFFFF"/>
                </a:solidFill>
                <a:latin typeface="Calibri"/>
              </a:rPr>
              <a:t>Objective by 2030: food and nutrition security, incomes, disaster and epidemic prevention, climate adaptation and the SDGs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How NAP-FST implementation builds resilience</a:t>
            </a:r>
          </a:p>
        </p:txBody>
      </p:sp>
      <p:sp>
        <p:nvSpPr>
          <p:cNvPr id="3" name="Task 1"/>
          <p:cNvSpPr/>
          <p:nvPr/>
        </p:nvSpPr>
        <p:spPr>
          <a:xfrm>
            <a:off x="548640" y="1371600"/>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85800" y="1481328"/>
            <a:ext cx="512064" cy="512064"/>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 name="TextBox 4"/>
          <p:cNvSpPr txBox="1"/>
          <p:nvPr/>
        </p:nvSpPr>
        <p:spPr>
          <a:xfrm>
            <a:off x="1371600" y="1417320"/>
            <a:ext cx="2103120" cy="640080"/>
          </a:xfrm>
          <a:prstGeom prst="rect">
            <a:avLst/>
          </a:prstGeom>
          <a:noFill/>
        </p:spPr>
        <p:txBody>
          <a:bodyPr wrap="square" lIns="0" rIns="0" tIns="0" bIns="0" anchor="ctr">
            <a:spAutoFit/>
          </a:bodyPr>
          <a:lstStyle/>
          <a:p>
            <a:pPr algn="l"/>
            <a:r>
              <a:rPr sz="1600" b="1" i="0">
                <a:solidFill>
                  <a:srgbClr val="222B33"/>
                </a:solidFill>
                <a:latin typeface="Calibri"/>
              </a:rPr>
              <a:t>Policies and standards</a:t>
            </a:r>
          </a:p>
        </p:txBody>
      </p:sp>
      <p:sp>
        <p:nvSpPr>
          <p:cNvPr id="6" name="TextBox 5"/>
          <p:cNvSpPr txBox="1"/>
          <p:nvPr/>
        </p:nvSpPr>
        <p:spPr>
          <a:xfrm>
            <a:off x="3520440" y="1417320"/>
            <a:ext cx="2697480" cy="640080"/>
          </a:xfrm>
          <a:prstGeom prst="rect">
            <a:avLst/>
          </a:prstGeom>
          <a:noFill/>
        </p:spPr>
        <p:txBody>
          <a:bodyPr wrap="square" lIns="0" rIns="0" tIns="0" bIns="0" anchor="ctr">
            <a:spAutoFit/>
          </a:bodyPr>
          <a:lstStyle/>
          <a:p>
            <a:pPr algn="l"/>
            <a:r>
              <a:rPr sz="1200" b="0" i="0">
                <a:solidFill>
                  <a:srgbClr val="6B757D"/>
                </a:solidFill>
                <a:latin typeface="Calibri"/>
              </a:rPr>
              <a:t>Agroecology policy, zoning, PPP logistics, M&amp;E</a:t>
            </a:r>
          </a:p>
        </p:txBody>
      </p:sp>
      <p:sp>
        <p:nvSpPr>
          <p:cNvPr id="7" name="Task 2"/>
          <p:cNvSpPr/>
          <p:nvPr/>
        </p:nvSpPr>
        <p:spPr>
          <a:xfrm>
            <a:off x="548640" y="2267712"/>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85800" y="2377440"/>
            <a:ext cx="512064" cy="512064"/>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2313432"/>
            <a:ext cx="2103120" cy="640080"/>
          </a:xfrm>
          <a:prstGeom prst="rect">
            <a:avLst/>
          </a:prstGeom>
          <a:noFill/>
        </p:spPr>
        <p:txBody>
          <a:bodyPr wrap="square" lIns="0" rIns="0" tIns="0" bIns="0" anchor="ctr">
            <a:spAutoFit/>
          </a:bodyPr>
          <a:lstStyle/>
          <a:p>
            <a:pPr algn="l"/>
            <a:r>
              <a:rPr sz="1600" b="1" i="0">
                <a:solidFill>
                  <a:srgbClr val="222B33"/>
                </a:solidFill>
                <a:latin typeface="Calibri"/>
              </a:rPr>
              <a:t>Input supply</a:t>
            </a:r>
          </a:p>
        </p:txBody>
      </p:sp>
      <p:sp>
        <p:nvSpPr>
          <p:cNvPr id="10" name="TextBox 9"/>
          <p:cNvSpPr txBox="1"/>
          <p:nvPr/>
        </p:nvSpPr>
        <p:spPr>
          <a:xfrm>
            <a:off x="3520440" y="2313432"/>
            <a:ext cx="2697480" cy="640080"/>
          </a:xfrm>
          <a:prstGeom prst="rect">
            <a:avLst/>
          </a:prstGeom>
          <a:noFill/>
        </p:spPr>
        <p:txBody>
          <a:bodyPr wrap="square" lIns="0" rIns="0" tIns="0" bIns="0" anchor="ctr">
            <a:spAutoFit/>
          </a:bodyPr>
          <a:lstStyle/>
          <a:p>
            <a:pPr algn="l"/>
            <a:r>
              <a:rPr sz="1200" b="0" i="0">
                <a:solidFill>
                  <a:srgbClr val="6B757D"/>
                </a:solidFill>
                <a:latin typeface="Calibri"/>
              </a:rPr>
              <a:t>Climate-tolerant varieties, bio-inputs, wholesale hubs</a:t>
            </a:r>
          </a:p>
        </p:txBody>
      </p:sp>
      <p:sp>
        <p:nvSpPr>
          <p:cNvPr id="11" name="Task 3"/>
          <p:cNvSpPr/>
          <p:nvPr/>
        </p:nvSpPr>
        <p:spPr>
          <a:xfrm>
            <a:off x="548640" y="3163824"/>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85800" y="3273552"/>
            <a:ext cx="512064" cy="512064"/>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3" name="TextBox 12"/>
          <p:cNvSpPr txBox="1"/>
          <p:nvPr/>
        </p:nvSpPr>
        <p:spPr>
          <a:xfrm>
            <a:off x="1371600" y="3209544"/>
            <a:ext cx="2103120" cy="640080"/>
          </a:xfrm>
          <a:prstGeom prst="rect">
            <a:avLst/>
          </a:prstGeom>
          <a:noFill/>
        </p:spPr>
        <p:txBody>
          <a:bodyPr wrap="square" lIns="0" rIns="0" tIns="0" bIns="0" anchor="ctr">
            <a:spAutoFit/>
          </a:bodyPr>
          <a:lstStyle/>
          <a:p>
            <a:pPr algn="l"/>
            <a:r>
              <a:rPr sz="1600" b="1" i="0">
                <a:solidFill>
                  <a:srgbClr val="222B33"/>
                </a:solidFill>
                <a:latin typeface="Calibri"/>
              </a:rPr>
              <a:t>Production</a:t>
            </a:r>
          </a:p>
        </p:txBody>
      </p:sp>
      <p:sp>
        <p:nvSpPr>
          <p:cNvPr id="14" name="TextBox 13"/>
          <p:cNvSpPr txBox="1"/>
          <p:nvPr/>
        </p:nvSpPr>
        <p:spPr>
          <a:xfrm>
            <a:off x="3520440" y="3209544"/>
            <a:ext cx="2697480" cy="640080"/>
          </a:xfrm>
          <a:prstGeom prst="rect">
            <a:avLst/>
          </a:prstGeom>
          <a:noFill/>
        </p:spPr>
        <p:txBody>
          <a:bodyPr wrap="square" lIns="0" rIns="0" tIns="0" bIns="0" anchor="ctr">
            <a:spAutoFit/>
          </a:bodyPr>
          <a:lstStyle/>
          <a:p>
            <a:pPr algn="l"/>
            <a:r>
              <a:rPr sz="1200" b="0" i="0">
                <a:solidFill>
                  <a:srgbClr val="6B757D"/>
                </a:solidFill>
                <a:latin typeface="Calibri"/>
              </a:rPr>
              <a:t>Early warning to commune level, insurance, One Health</a:t>
            </a:r>
          </a:p>
        </p:txBody>
      </p:sp>
      <p:sp>
        <p:nvSpPr>
          <p:cNvPr id="15" name="Task 4"/>
          <p:cNvSpPr/>
          <p:nvPr/>
        </p:nvSpPr>
        <p:spPr>
          <a:xfrm>
            <a:off x="548640" y="4059935"/>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85800" y="4169663"/>
            <a:ext cx="512064" cy="512064"/>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7" name="TextBox 16"/>
          <p:cNvSpPr txBox="1"/>
          <p:nvPr/>
        </p:nvSpPr>
        <p:spPr>
          <a:xfrm>
            <a:off x="1371600" y="4105655"/>
            <a:ext cx="2103120" cy="640080"/>
          </a:xfrm>
          <a:prstGeom prst="rect">
            <a:avLst/>
          </a:prstGeom>
          <a:noFill/>
        </p:spPr>
        <p:txBody>
          <a:bodyPr wrap="square" lIns="0" rIns="0" tIns="0" bIns="0" anchor="ctr">
            <a:spAutoFit/>
          </a:bodyPr>
          <a:lstStyle/>
          <a:p>
            <a:pPr algn="l"/>
            <a:r>
              <a:rPr sz="1600" b="1" i="0">
                <a:solidFill>
                  <a:srgbClr val="222B33"/>
                </a:solidFill>
                <a:latin typeface="Calibri"/>
              </a:rPr>
              <a:t>Processing and distribution</a:t>
            </a:r>
          </a:p>
        </p:txBody>
      </p:sp>
      <p:sp>
        <p:nvSpPr>
          <p:cNvPr id="18" name="TextBox 17"/>
          <p:cNvSpPr txBox="1"/>
          <p:nvPr/>
        </p:nvSpPr>
        <p:spPr>
          <a:xfrm>
            <a:off x="3520440" y="4105655"/>
            <a:ext cx="2697480" cy="640080"/>
          </a:xfrm>
          <a:prstGeom prst="rect">
            <a:avLst/>
          </a:prstGeom>
          <a:noFill/>
        </p:spPr>
        <p:txBody>
          <a:bodyPr wrap="square" lIns="0" rIns="0" tIns="0" bIns="0" anchor="ctr">
            <a:spAutoFit/>
          </a:bodyPr>
          <a:lstStyle/>
          <a:p>
            <a:pPr algn="l"/>
            <a:r>
              <a:rPr sz="1200" b="0" i="0">
                <a:solidFill>
                  <a:srgbClr val="6B757D"/>
                </a:solidFill>
                <a:latin typeface="Calibri"/>
              </a:rPr>
              <a:t>Storage for disruptions, stable chains, less loss</a:t>
            </a:r>
          </a:p>
        </p:txBody>
      </p:sp>
      <p:sp>
        <p:nvSpPr>
          <p:cNvPr id="19" name="Task 5"/>
          <p:cNvSpPr/>
          <p:nvPr/>
        </p:nvSpPr>
        <p:spPr>
          <a:xfrm>
            <a:off x="548640" y="4956048"/>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85800" y="5065776"/>
            <a:ext cx="512064" cy="512064"/>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1" name="TextBox 20"/>
          <p:cNvSpPr txBox="1"/>
          <p:nvPr/>
        </p:nvSpPr>
        <p:spPr>
          <a:xfrm>
            <a:off x="1371600" y="5001768"/>
            <a:ext cx="2103120" cy="640080"/>
          </a:xfrm>
          <a:prstGeom prst="rect">
            <a:avLst/>
          </a:prstGeom>
          <a:noFill/>
        </p:spPr>
        <p:txBody>
          <a:bodyPr wrap="square" lIns="0" rIns="0" tIns="0" bIns="0" anchor="ctr">
            <a:spAutoFit/>
          </a:bodyPr>
          <a:lstStyle/>
          <a:p>
            <a:pPr algn="l"/>
            <a:r>
              <a:rPr sz="1600" b="1" i="0">
                <a:solidFill>
                  <a:srgbClr val="222B33"/>
                </a:solidFill>
                <a:latin typeface="Calibri"/>
              </a:rPr>
              <a:t>Consumption</a:t>
            </a:r>
          </a:p>
        </p:txBody>
      </p:sp>
      <p:sp>
        <p:nvSpPr>
          <p:cNvPr id="22" name="TextBox 21"/>
          <p:cNvSpPr txBox="1"/>
          <p:nvPr/>
        </p:nvSpPr>
        <p:spPr>
          <a:xfrm>
            <a:off x="3520440" y="5001768"/>
            <a:ext cx="2697480" cy="640080"/>
          </a:xfrm>
          <a:prstGeom prst="rect">
            <a:avLst/>
          </a:prstGeom>
          <a:noFill/>
        </p:spPr>
        <p:txBody>
          <a:bodyPr wrap="square" lIns="0" rIns="0" tIns="0" bIns="0" anchor="ctr">
            <a:spAutoFit/>
          </a:bodyPr>
          <a:lstStyle/>
          <a:p>
            <a:pPr algn="l"/>
            <a:r>
              <a:rPr sz="1200" b="0" i="0">
                <a:solidFill>
                  <a:srgbClr val="6B757D"/>
                </a:solidFill>
                <a:latin typeface="Calibri"/>
              </a:rPr>
              <a:t>Food balance sheets, pilot food bank, healthy diets</a:t>
            </a:r>
          </a:p>
        </p:txBody>
      </p:sp>
      <p:sp>
        <p:nvSpPr>
          <p:cNvPr id="23" name="TextBox 22"/>
          <p:cNvSpPr txBox="1"/>
          <p:nvPr/>
        </p:nvSpPr>
        <p:spPr>
          <a:xfrm>
            <a:off x="6858000" y="1325880"/>
            <a:ext cx="4754880" cy="365760"/>
          </a:xfrm>
          <a:prstGeom prst="rect">
            <a:avLst/>
          </a:prstGeom>
          <a:noFill/>
        </p:spPr>
        <p:txBody>
          <a:bodyPr wrap="square" lIns="0" rIns="0" tIns="0" bIns="0" anchor="t">
            <a:spAutoFit/>
          </a:bodyPr>
          <a:lstStyle/>
          <a:p>
            <a:pPr algn="l"/>
            <a:r>
              <a:rPr sz="1800" b="1" i="0">
                <a:solidFill>
                  <a:srgbClr val="222B33"/>
                </a:solidFill>
                <a:latin typeface="Calibri"/>
              </a:rPr>
              <a:t>2030 targets</a:t>
            </a:r>
          </a:p>
        </p:txBody>
      </p:sp>
      <p:sp>
        <p:nvSpPr>
          <p:cNvPr id="24" name="Target 1"/>
          <p:cNvSpPr/>
          <p:nvPr/>
        </p:nvSpPr>
        <p:spPr>
          <a:xfrm>
            <a:off x="6858000" y="1828800"/>
            <a:ext cx="475488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32320" y="1965960"/>
            <a:ext cx="1828800" cy="960120"/>
          </a:xfrm>
          <a:prstGeom prst="rect">
            <a:avLst/>
          </a:prstGeom>
          <a:noFill/>
        </p:spPr>
        <p:txBody>
          <a:bodyPr wrap="square" lIns="0" rIns="0" tIns="0" bIns="0" anchor="ctr">
            <a:spAutoFit/>
          </a:bodyPr>
          <a:lstStyle/>
          <a:p>
            <a:pPr algn="l"/>
            <a:r>
              <a:rPr sz="4000" b="1" i="0">
                <a:solidFill>
                  <a:srgbClr val="15607A"/>
                </a:solidFill>
                <a:latin typeface="Calibri"/>
              </a:rPr>
              <a:t>&lt;5%</a:t>
            </a:r>
          </a:p>
        </p:txBody>
      </p:sp>
      <p:sp>
        <p:nvSpPr>
          <p:cNvPr id="26" name="TextBox 25"/>
          <p:cNvSpPr txBox="1"/>
          <p:nvPr/>
        </p:nvSpPr>
        <p:spPr>
          <a:xfrm>
            <a:off x="9052560" y="1965960"/>
            <a:ext cx="2377440" cy="960120"/>
          </a:xfrm>
          <a:prstGeom prst="rect">
            <a:avLst/>
          </a:prstGeom>
          <a:noFill/>
        </p:spPr>
        <p:txBody>
          <a:bodyPr wrap="square" lIns="0" rIns="0" tIns="0" bIns="0" anchor="ctr">
            <a:spAutoFit/>
          </a:bodyPr>
          <a:lstStyle/>
          <a:p>
            <a:pPr algn="l"/>
            <a:r>
              <a:rPr sz="1600" b="0" i="0">
                <a:solidFill>
                  <a:srgbClr val="222B33"/>
                </a:solidFill>
                <a:latin typeface="Calibri"/>
              </a:rPr>
              <a:t>households with moderate or severe food insecurity</a:t>
            </a:r>
          </a:p>
        </p:txBody>
      </p:sp>
      <p:sp>
        <p:nvSpPr>
          <p:cNvPr id="27" name="Target 2"/>
          <p:cNvSpPr/>
          <p:nvPr/>
        </p:nvSpPr>
        <p:spPr>
          <a:xfrm>
            <a:off x="6858000" y="3246120"/>
            <a:ext cx="475488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32320" y="3383279"/>
            <a:ext cx="1828800" cy="960120"/>
          </a:xfrm>
          <a:prstGeom prst="rect">
            <a:avLst/>
          </a:prstGeom>
          <a:noFill/>
        </p:spPr>
        <p:txBody>
          <a:bodyPr wrap="square" lIns="0" rIns="0" tIns="0" bIns="0" anchor="ctr">
            <a:spAutoFit/>
          </a:bodyPr>
          <a:lstStyle/>
          <a:p>
            <a:pPr algn="l"/>
            <a:r>
              <a:rPr sz="4000" b="1" i="0">
                <a:solidFill>
                  <a:srgbClr val="15607A"/>
                </a:solidFill>
                <a:latin typeface="Calibri"/>
              </a:rPr>
              <a:t>&lt;15%</a:t>
            </a:r>
          </a:p>
        </p:txBody>
      </p:sp>
      <p:sp>
        <p:nvSpPr>
          <p:cNvPr id="29" name="TextBox 28"/>
          <p:cNvSpPr txBox="1"/>
          <p:nvPr/>
        </p:nvSpPr>
        <p:spPr>
          <a:xfrm>
            <a:off x="9052560" y="3383279"/>
            <a:ext cx="2377440" cy="960120"/>
          </a:xfrm>
          <a:prstGeom prst="rect">
            <a:avLst/>
          </a:prstGeom>
          <a:noFill/>
        </p:spPr>
        <p:txBody>
          <a:bodyPr wrap="square" lIns="0" rIns="0" tIns="0" bIns="0" anchor="ctr">
            <a:spAutoFit/>
          </a:bodyPr>
          <a:lstStyle/>
          <a:p>
            <a:pPr algn="l"/>
            <a:r>
              <a:rPr sz="1600" b="0" i="0">
                <a:solidFill>
                  <a:srgbClr val="222B33"/>
                </a:solidFill>
                <a:latin typeface="Calibri"/>
              </a:rPr>
              <a:t>stunting in children under 5</a:t>
            </a:r>
          </a:p>
        </p:txBody>
      </p:sp>
      <p:sp>
        <p:nvSpPr>
          <p:cNvPr id="30" name="Target 3"/>
          <p:cNvSpPr/>
          <p:nvPr/>
        </p:nvSpPr>
        <p:spPr>
          <a:xfrm>
            <a:off x="6858000" y="4663440"/>
            <a:ext cx="475488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32320" y="4800600"/>
            <a:ext cx="1828800" cy="960120"/>
          </a:xfrm>
          <a:prstGeom prst="rect">
            <a:avLst/>
          </a:prstGeom>
          <a:noFill/>
        </p:spPr>
        <p:txBody>
          <a:bodyPr wrap="square" lIns="0" rIns="0" tIns="0" bIns="0" anchor="ctr">
            <a:spAutoFit/>
          </a:bodyPr>
          <a:lstStyle/>
          <a:p>
            <a:pPr algn="l"/>
            <a:r>
              <a:rPr sz="4000" b="1" i="0">
                <a:solidFill>
                  <a:srgbClr val="15607A"/>
                </a:solidFill>
                <a:latin typeface="Calibri"/>
              </a:rPr>
              <a:t>−10%</a:t>
            </a:r>
          </a:p>
        </p:txBody>
      </p:sp>
      <p:sp>
        <p:nvSpPr>
          <p:cNvPr id="32" name="TextBox 31"/>
          <p:cNvSpPr txBox="1"/>
          <p:nvPr/>
        </p:nvSpPr>
        <p:spPr>
          <a:xfrm>
            <a:off x="9052560" y="4800600"/>
            <a:ext cx="2377440" cy="960120"/>
          </a:xfrm>
          <a:prstGeom prst="rect">
            <a:avLst/>
          </a:prstGeom>
          <a:noFill/>
        </p:spPr>
        <p:txBody>
          <a:bodyPr wrap="square" lIns="0" rIns="0" tIns="0" bIns="0" anchor="ctr">
            <a:spAutoFit/>
          </a:bodyPr>
          <a:lstStyle/>
          <a:p>
            <a:pPr algn="l"/>
            <a:r>
              <a:rPr sz="1600" b="0" i="0">
                <a:solidFill>
                  <a:srgbClr val="222B33"/>
                </a:solidFill>
                <a:latin typeface="Calibri"/>
              </a:rPr>
              <a:t>food system greenhouse gas emissions vs 2020</a:t>
            </a:r>
          </a:p>
        </p:txBody>
      </p:sp>
      <p:sp>
        <p:nvSpPr>
          <p:cNvPr id="33"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 Decision 300/QĐ-TTg (2023), Section III and Appendix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From national plan to provincial action</a:t>
            </a:r>
          </a:p>
        </p:txBody>
      </p:sp>
      <p:sp>
        <p:nvSpPr>
          <p:cNvPr id="3" name="Step 1"/>
          <p:cNvSpPr/>
          <p:nvPr/>
        </p:nvSpPr>
        <p:spPr>
          <a:xfrm>
            <a:off x="548640" y="1463040"/>
            <a:ext cx="685800" cy="68580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4" name="Arrow 1"/>
          <p:cNvSpPr/>
          <p:nvPr/>
        </p:nvSpPr>
        <p:spPr>
          <a:xfrm>
            <a:off x="1417319" y="1673352"/>
            <a:ext cx="173736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2560320" cy="411480"/>
          </a:xfrm>
          <a:prstGeom prst="rect">
            <a:avLst/>
          </a:prstGeom>
          <a:noFill/>
        </p:spPr>
        <p:txBody>
          <a:bodyPr wrap="square" lIns="0" rIns="0" tIns="0" bIns="0" anchor="t">
            <a:spAutoFit/>
          </a:bodyPr>
          <a:lstStyle/>
          <a:p>
            <a:pPr algn="l"/>
            <a:r>
              <a:rPr sz="1800" b="1" i="0">
                <a:solidFill>
                  <a:srgbClr val="15607A"/>
                </a:solidFill>
                <a:latin typeface="Calibri"/>
              </a:rPr>
              <a:t>Working groups</a:t>
            </a:r>
          </a:p>
        </p:txBody>
      </p:sp>
      <p:sp>
        <p:nvSpPr>
          <p:cNvPr id="6" name="TextBox 5"/>
          <p:cNvSpPr txBox="1"/>
          <p:nvPr/>
        </p:nvSpPr>
        <p:spPr>
          <a:xfrm>
            <a:off x="548640" y="2697480"/>
            <a:ext cx="2468880" cy="685800"/>
          </a:xfrm>
          <a:prstGeom prst="rect">
            <a:avLst/>
          </a:prstGeom>
          <a:noFill/>
        </p:spPr>
        <p:txBody>
          <a:bodyPr wrap="square" lIns="0" rIns="0" tIns="0" bIns="0" anchor="t">
            <a:spAutoFit/>
          </a:bodyPr>
          <a:lstStyle/>
          <a:p>
            <a:pPr algn="l"/>
            <a:r>
              <a:rPr sz="1400" b="0" i="0">
                <a:solidFill>
                  <a:srgbClr val="6B757D"/>
                </a:solidFill>
                <a:latin typeface="Calibri"/>
              </a:rPr>
              <a:t>Agriculture, health, trade and communities (2024)</a:t>
            </a:r>
          </a:p>
        </p:txBody>
      </p:sp>
      <p:sp>
        <p:nvSpPr>
          <p:cNvPr id="7" name="Step 2"/>
          <p:cNvSpPr/>
          <p:nvPr/>
        </p:nvSpPr>
        <p:spPr>
          <a:xfrm>
            <a:off x="3383280" y="1463040"/>
            <a:ext cx="685800" cy="68580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Arrow 2"/>
          <p:cNvSpPr/>
          <p:nvPr/>
        </p:nvSpPr>
        <p:spPr>
          <a:xfrm>
            <a:off x="4251960" y="1673352"/>
            <a:ext cx="173736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2286000"/>
            <a:ext cx="2560320" cy="411480"/>
          </a:xfrm>
          <a:prstGeom prst="rect">
            <a:avLst/>
          </a:prstGeom>
          <a:noFill/>
        </p:spPr>
        <p:txBody>
          <a:bodyPr wrap="square" lIns="0" rIns="0" tIns="0" bIns="0" anchor="t">
            <a:spAutoFit/>
          </a:bodyPr>
          <a:lstStyle/>
          <a:p>
            <a:pPr algn="l"/>
            <a:r>
              <a:rPr sz="1800" b="1" i="0">
                <a:solidFill>
                  <a:srgbClr val="15607A"/>
                </a:solidFill>
                <a:latin typeface="Calibri"/>
              </a:rPr>
              <a:t>Food system profile</a:t>
            </a:r>
          </a:p>
        </p:txBody>
      </p:sp>
      <p:sp>
        <p:nvSpPr>
          <p:cNvPr id="10" name="TextBox 9"/>
          <p:cNvSpPr txBox="1"/>
          <p:nvPr/>
        </p:nvSpPr>
        <p:spPr>
          <a:xfrm>
            <a:off x="3383280" y="2697480"/>
            <a:ext cx="2468880" cy="685800"/>
          </a:xfrm>
          <a:prstGeom prst="rect">
            <a:avLst/>
          </a:prstGeom>
          <a:noFill/>
        </p:spPr>
        <p:txBody>
          <a:bodyPr wrap="square" lIns="0" rIns="0" tIns="0" bIns="0" anchor="t">
            <a:spAutoFit/>
          </a:bodyPr>
          <a:lstStyle/>
          <a:p>
            <a:pPr algn="l"/>
            <a:r>
              <a:rPr sz="1400" b="0" i="0">
                <a:solidFill>
                  <a:srgbClr val="6B757D"/>
                </a:solidFill>
                <a:latin typeface="Calibri"/>
              </a:rPr>
              <a:t>Shared diagnosis of challenges and options</a:t>
            </a:r>
          </a:p>
        </p:txBody>
      </p:sp>
      <p:sp>
        <p:nvSpPr>
          <p:cNvPr id="11" name="Step 3"/>
          <p:cNvSpPr/>
          <p:nvPr/>
        </p:nvSpPr>
        <p:spPr>
          <a:xfrm>
            <a:off x="6217920" y="1463040"/>
            <a:ext cx="685800" cy="6858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Arrow 3"/>
          <p:cNvSpPr/>
          <p:nvPr/>
        </p:nvSpPr>
        <p:spPr>
          <a:xfrm>
            <a:off x="7086600" y="1673352"/>
            <a:ext cx="173736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286000"/>
            <a:ext cx="2560320" cy="411480"/>
          </a:xfrm>
          <a:prstGeom prst="rect">
            <a:avLst/>
          </a:prstGeom>
          <a:noFill/>
        </p:spPr>
        <p:txBody>
          <a:bodyPr wrap="square" lIns="0" rIns="0" tIns="0" bIns="0" anchor="t">
            <a:spAutoFit/>
          </a:bodyPr>
          <a:lstStyle/>
          <a:p>
            <a:pPr algn="l"/>
            <a:r>
              <a:rPr sz="1800" b="1" i="0">
                <a:solidFill>
                  <a:srgbClr val="4E8F3A"/>
                </a:solidFill>
                <a:latin typeface="Calibri"/>
              </a:rPr>
              <a:t>Priorities</a:t>
            </a:r>
          </a:p>
        </p:txBody>
      </p:sp>
      <p:sp>
        <p:nvSpPr>
          <p:cNvPr id="14" name="TextBox 13"/>
          <p:cNvSpPr txBox="1"/>
          <p:nvPr/>
        </p:nvSpPr>
        <p:spPr>
          <a:xfrm>
            <a:off x="6217920" y="2697480"/>
            <a:ext cx="2468880" cy="685800"/>
          </a:xfrm>
          <a:prstGeom prst="rect">
            <a:avLst/>
          </a:prstGeom>
          <a:noFill/>
        </p:spPr>
        <p:txBody>
          <a:bodyPr wrap="square" lIns="0" rIns="0" tIns="0" bIns="0" anchor="t">
            <a:spAutoFit/>
          </a:bodyPr>
          <a:lstStyle/>
          <a:p>
            <a:pPr algn="l"/>
            <a:r>
              <a:rPr sz="1400" b="0" i="0">
                <a:solidFill>
                  <a:srgbClr val="6B757D"/>
                </a:solidFill>
                <a:latin typeface="Calibri"/>
              </a:rPr>
              <a:t>3–4 interventions per province</a:t>
            </a:r>
          </a:p>
        </p:txBody>
      </p:sp>
      <p:sp>
        <p:nvSpPr>
          <p:cNvPr id="15" name="Step 4"/>
          <p:cNvSpPr/>
          <p:nvPr/>
        </p:nvSpPr>
        <p:spPr>
          <a:xfrm>
            <a:off x="9052560" y="1463040"/>
            <a:ext cx="685800" cy="6858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6" name="TextBox 15"/>
          <p:cNvSpPr txBox="1"/>
          <p:nvPr/>
        </p:nvSpPr>
        <p:spPr>
          <a:xfrm>
            <a:off x="9052560" y="2286000"/>
            <a:ext cx="2560320" cy="411480"/>
          </a:xfrm>
          <a:prstGeom prst="rect">
            <a:avLst/>
          </a:prstGeom>
          <a:noFill/>
        </p:spPr>
        <p:txBody>
          <a:bodyPr wrap="square" lIns="0" rIns="0" tIns="0" bIns="0" anchor="t">
            <a:spAutoFit/>
          </a:bodyPr>
          <a:lstStyle/>
          <a:p>
            <a:pPr algn="l"/>
            <a:r>
              <a:rPr sz="1800" b="1" i="0">
                <a:solidFill>
                  <a:srgbClr val="E26E24"/>
                </a:solidFill>
                <a:latin typeface="Calibri"/>
              </a:rPr>
              <a:t>Provincial plan</a:t>
            </a:r>
          </a:p>
        </p:txBody>
      </p:sp>
      <p:sp>
        <p:nvSpPr>
          <p:cNvPr id="17" name="TextBox 16"/>
          <p:cNvSpPr txBox="1"/>
          <p:nvPr/>
        </p:nvSpPr>
        <p:spPr>
          <a:xfrm>
            <a:off x="9052560" y="2697480"/>
            <a:ext cx="2468880" cy="685800"/>
          </a:xfrm>
          <a:prstGeom prst="rect">
            <a:avLst/>
          </a:prstGeom>
          <a:noFill/>
        </p:spPr>
        <p:txBody>
          <a:bodyPr wrap="square" lIns="0" rIns="0" tIns="0" bIns="0" anchor="t">
            <a:spAutoFit/>
          </a:bodyPr>
          <a:lstStyle/>
          <a:p>
            <a:pPr algn="l"/>
            <a:r>
              <a:rPr sz="1400" b="0" i="0">
                <a:solidFill>
                  <a:srgbClr val="6B757D"/>
                </a:solidFill>
                <a:latin typeface="Calibri"/>
              </a:rPr>
              <a:t>Son La 161/KH-UBND (July 2025)</a:t>
            </a:r>
          </a:p>
        </p:txBody>
      </p:sp>
      <p:sp>
        <p:nvSpPr>
          <p:cNvPr id="18" name="TextBox 17"/>
          <p:cNvSpPr txBox="1"/>
          <p:nvPr/>
        </p:nvSpPr>
        <p:spPr>
          <a:xfrm>
            <a:off x="548640" y="3474720"/>
            <a:ext cx="11064240" cy="365760"/>
          </a:xfrm>
          <a:prstGeom prst="rect">
            <a:avLst/>
          </a:prstGeom>
          <a:noFill/>
        </p:spPr>
        <p:txBody>
          <a:bodyPr wrap="square" lIns="0" rIns="0" tIns="0" bIns="0" anchor="t">
            <a:spAutoFit/>
          </a:bodyPr>
          <a:lstStyle/>
          <a:p>
            <a:pPr algn="l"/>
            <a:r>
              <a:rPr sz="1600" b="1" i="0">
                <a:solidFill>
                  <a:srgbClr val="222B33"/>
                </a:solidFill>
                <a:latin typeface="Calibri"/>
              </a:rPr>
              <a:t>Pioneer provinces: </a:t>
            </a:r>
            <a:r>
              <a:rPr sz="1600" b="0" i="0">
                <a:solidFill>
                  <a:srgbClr val="6B757D"/>
                </a:solidFill>
                <a:latin typeface="Calibri"/>
              </a:rPr>
              <a:t>plans build on existing poverty reduction and socio-economic programmes</a:t>
            </a:r>
          </a:p>
        </p:txBody>
      </p:sp>
      <p:sp>
        <p:nvSpPr>
          <p:cNvPr id="19" name="Photo area"/>
          <p:cNvSpPr/>
          <p:nvPr/>
        </p:nvSpPr>
        <p:spPr>
          <a:xfrm>
            <a:off x="548640" y="3931920"/>
            <a:ext cx="5440680" cy="21488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Sơn La: Agroecology and tourism</a:t>
            </a:r>
          </a:p>
        </p:txBody>
      </p:sp>
      <p:sp>
        <p:nvSpPr>
          <p:cNvPr id="20" name="Photo area"/>
          <p:cNvSpPr/>
          <p:nvPr/>
        </p:nvSpPr>
        <p:spPr>
          <a:xfrm>
            <a:off x="6172200" y="3931920"/>
            <a:ext cx="5440680" cy="21488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Đồng Tháp: Rice–fish value chain</a:t>
            </a:r>
          </a:p>
        </p:txBody>
      </p:sp>
      <p:sp>
        <p:nvSpPr>
          <p:cNvPr id="21"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Lundy et al. (2026); MAE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Capacity, evidence and gaps</a:t>
            </a:r>
          </a:p>
        </p:txBody>
      </p:sp>
      <p:sp>
        <p:nvSpPr>
          <p:cNvPr id="3" name="Progress card"/>
          <p:cNvSpPr/>
          <p:nvPr/>
        </p:nvSpPr>
        <p:spPr>
          <a:xfrm>
            <a:off x="548640" y="1371600"/>
            <a:ext cx="3566160" cy="475488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600200"/>
            <a:ext cx="2926080" cy="502920"/>
          </a:xfrm>
          <a:prstGeom prst="rect">
            <a:avLst/>
          </a:prstGeom>
          <a:noFill/>
        </p:spPr>
        <p:txBody>
          <a:bodyPr wrap="square" lIns="0" rIns="0" tIns="0" bIns="0" anchor="t">
            <a:spAutoFit/>
          </a:bodyPr>
          <a:lstStyle/>
          <a:p>
            <a:pPr algn="l"/>
            <a:r>
              <a:rPr sz="2400" b="1" i="0">
                <a:solidFill>
                  <a:srgbClr val="4E8F3A"/>
                </a:solidFill>
                <a:latin typeface="Calibri"/>
              </a:rPr>
              <a:t>Progress</a:t>
            </a:r>
          </a:p>
        </p:txBody>
      </p:sp>
      <p:sp>
        <p:nvSpPr>
          <p:cNvPr id="5" name="Oval 4"/>
          <p:cNvSpPr/>
          <p:nvPr/>
        </p:nvSpPr>
        <p:spPr>
          <a:xfrm>
            <a:off x="868680" y="2395728"/>
            <a:ext cx="164592" cy="164592"/>
          </a:xfrm>
          <a:prstGeom prst="ellipse">
            <a:avLst/>
          </a:prstGeom>
          <a:solidFill>
            <a:srgbClr val="4E8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19" y="2286000"/>
            <a:ext cx="2697480" cy="822960"/>
          </a:xfrm>
          <a:prstGeom prst="rect">
            <a:avLst/>
          </a:prstGeom>
          <a:noFill/>
        </p:spPr>
        <p:txBody>
          <a:bodyPr wrap="square" lIns="0" rIns="0" tIns="0" bIns="0" anchor="t">
            <a:spAutoFit/>
          </a:bodyPr>
          <a:lstStyle/>
          <a:p>
            <a:pPr algn="l"/>
            <a:r>
              <a:rPr sz="1600" b="0" i="0">
                <a:solidFill>
                  <a:srgbClr val="222B33"/>
                </a:solidFill>
                <a:latin typeface="Calibri"/>
              </a:rPr>
              <a:t>Training for officials, researchers and students</a:t>
            </a:r>
          </a:p>
        </p:txBody>
      </p:sp>
      <p:sp>
        <p:nvSpPr>
          <p:cNvPr id="7" name="Oval 6"/>
          <p:cNvSpPr/>
          <p:nvPr/>
        </p:nvSpPr>
        <p:spPr>
          <a:xfrm>
            <a:off x="868680" y="3310128"/>
            <a:ext cx="164592" cy="164592"/>
          </a:xfrm>
          <a:prstGeom prst="ellipse">
            <a:avLst/>
          </a:prstGeom>
          <a:solidFill>
            <a:srgbClr val="4E8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19" y="3200400"/>
            <a:ext cx="2697480" cy="822960"/>
          </a:xfrm>
          <a:prstGeom prst="rect">
            <a:avLst/>
          </a:prstGeom>
          <a:noFill/>
        </p:spPr>
        <p:txBody>
          <a:bodyPr wrap="square" lIns="0" rIns="0" tIns="0" bIns="0" anchor="t">
            <a:spAutoFit/>
          </a:bodyPr>
          <a:lstStyle/>
          <a:p>
            <a:pPr algn="l"/>
            <a:r>
              <a:rPr sz="1600" b="0" i="0">
                <a:solidFill>
                  <a:srgbClr val="222B33"/>
                </a:solidFill>
                <a:latin typeface="Calibri"/>
              </a:rPr>
              <a:t>Provincial food system profiles as a baseline</a:t>
            </a:r>
          </a:p>
        </p:txBody>
      </p:sp>
      <p:sp>
        <p:nvSpPr>
          <p:cNvPr id="9" name="Oval 8"/>
          <p:cNvSpPr/>
          <p:nvPr/>
        </p:nvSpPr>
        <p:spPr>
          <a:xfrm>
            <a:off x="868680" y="4224528"/>
            <a:ext cx="164592" cy="164592"/>
          </a:xfrm>
          <a:prstGeom prst="ellipse">
            <a:avLst/>
          </a:prstGeom>
          <a:solidFill>
            <a:srgbClr val="4E8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4114800"/>
            <a:ext cx="2697480" cy="822960"/>
          </a:xfrm>
          <a:prstGeom prst="rect">
            <a:avLst/>
          </a:prstGeom>
          <a:noFill/>
        </p:spPr>
        <p:txBody>
          <a:bodyPr wrap="square" lIns="0" rIns="0" tIns="0" bIns="0" anchor="t">
            <a:spAutoFit/>
          </a:bodyPr>
          <a:lstStyle/>
          <a:p>
            <a:pPr algn="l"/>
            <a:r>
              <a:rPr sz="1600" b="0" i="0">
                <a:solidFill>
                  <a:srgbClr val="222B33"/>
                </a:solidFill>
                <a:latin typeface="Calibri"/>
              </a:rPr>
              <a:t>Review of 304 legal documents for policy coherence</a:t>
            </a:r>
          </a:p>
        </p:txBody>
      </p:sp>
      <p:sp>
        <p:nvSpPr>
          <p:cNvPr id="11" name="Gaps card"/>
          <p:cNvSpPr/>
          <p:nvPr/>
        </p:nvSpPr>
        <p:spPr>
          <a:xfrm>
            <a:off x="4343400" y="1371600"/>
            <a:ext cx="3566160" cy="475488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63440" y="1600200"/>
            <a:ext cx="2926080" cy="502920"/>
          </a:xfrm>
          <a:prstGeom prst="rect">
            <a:avLst/>
          </a:prstGeom>
          <a:noFill/>
        </p:spPr>
        <p:txBody>
          <a:bodyPr wrap="square" lIns="0" rIns="0" tIns="0" bIns="0" anchor="t">
            <a:spAutoFit/>
          </a:bodyPr>
          <a:lstStyle/>
          <a:p>
            <a:pPr algn="l"/>
            <a:r>
              <a:rPr sz="2400" b="1" i="0">
                <a:solidFill>
                  <a:srgbClr val="E26E24"/>
                </a:solidFill>
                <a:latin typeface="Calibri"/>
              </a:rPr>
              <a:t>Gaps</a:t>
            </a:r>
          </a:p>
        </p:txBody>
      </p:sp>
      <p:sp>
        <p:nvSpPr>
          <p:cNvPr id="13" name="Oval 12"/>
          <p:cNvSpPr/>
          <p:nvPr/>
        </p:nvSpPr>
        <p:spPr>
          <a:xfrm>
            <a:off x="4663440" y="2395728"/>
            <a:ext cx="164592" cy="164592"/>
          </a:xfrm>
          <a:prstGeom prst="ellipse">
            <a:avLst/>
          </a:prstGeom>
          <a:solidFill>
            <a:srgbClr val="E26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0" y="2286000"/>
            <a:ext cx="2697480" cy="822960"/>
          </a:xfrm>
          <a:prstGeom prst="rect">
            <a:avLst/>
          </a:prstGeom>
          <a:noFill/>
        </p:spPr>
        <p:txBody>
          <a:bodyPr wrap="square" lIns="0" rIns="0" tIns="0" bIns="0" anchor="t">
            <a:spAutoFit/>
          </a:bodyPr>
          <a:lstStyle/>
          <a:p>
            <a:pPr algn="l"/>
            <a:r>
              <a:rPr sz="1600" b="0" i="0">
                <a:solidFill>
                  <a:srgbClr val="222B33"/>
                </a:solidFill>
                <a:latin typeface="Calibri"/>
              </a:rPr>
              <a:t>Little local funding and staff for M&amp;E</a:t>
            </a:r>
          </a:p>
        </p:txBody>
      </p:sp>
      <p:sp>
        <p:nvSpPr>
          <p:cNvPr id="15" name="Oval 14"/>
          <p:cNvSpPr/>
          <p:nvPr/>
        </p:nvSpPr>
        <p:spPr>
          <a:xfrm>
            <a:off x="4663440" y="3310128"/>
            <a:ext cx="164592" cy="164592"/>
          </a:xfrm>
          <a:prstGeom prst="ellipse">
            <a:avLst/>
          </a:prstGeom>
          <a:solidFill>
            <a:srgbClr val="E26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3200400"/>
            <a:ext cx="2697480" cy="822960"/>
          </a:xfrm>
          <a:prstGeom prst="rect">
            <a:avLst/>
          </a:prstGeom>
          <a:noFill/>
        </p:spPr>
        <p:txBody>
          <a:bodyPr wrap="square" lIns="0" rIns="0" tIns="0" bIns="0" anchor="t">
            <a:spAutoFit/>
          </a:bodyPr>
          <a:lstStyle/>
          <a:p>
            <a:pPr algn="l"/>
            <a:r>
              <a:rPr sz="1600" b="0" i="0">
                <a:solidFill>
                  <a:srgbClr val="222B33"/>
                </a:solidFill>
                <a:latin typeface="Calibri"/>
              </a:rPr>
              <a:t>No resilience indicators or assessment yet</a:t>
            </a:r>
          </a:p>
        </p:txBody>
      </p:sp>
      <p:sp>
        <p:nvSpPr>
          <p:cNvPr id="17" name="Oval 16"/>
          <p:cNvSpPr/>
          <p:nvPr/>
        </p:nvSpPr>
        <p:spPr>
          <a:xfrm>
            <a:off x="4663440" y="4224528"/>
            <a:ext cx="164592" cy="164592"/>
          </a:xfrm>
          <a:prstGeom prst="ellipse">
            <a:avLst/>
          </a:prstGeom>
          <a:solidFill>
            <a:srgbClr val="E26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3480" y="4114800"/>
            <a:ext cx="2697480" cy="822960"/>
          </a:xfrm>
          <a:prstGeom prst="rect">
            <a:avLst/>
          </a:prstGeom>
          <a:noFill/>
        </p:spPr>
        <p:txBody>
          <a:bodyPr wrap="square" lIns="0" rIns="0" tIns="0" bIns="0" anchor="t">
            <a:spAutoFit/>
          </a:bodyPr>
          <a:lstStyle/>
          <a:p>
            <a:pPr algn="l"/>
            <a:r>
              <a:rPr sz="1600" b="0" i="0">
                <a:solidFill>
                  <a:srgbClr val="222B33"/>
                </a:solidFill>
                <a:latin typeface="Calibri"/>
              </a:rPr>
              <a:t>Weak evidence on traders and processors</a:t>
            </a:r>
          </a:p>
        </p:txBody>
      </p:sp>
      <p:sp>
        <p:nvSpPr>
          <p:cNvPr id="19" name="Oval 18"/>
          <p:cNvSpPr/>
          <p:nvPr/>
        </p:nvSpPr>
        <p:spPr>
          <a:xfrm>
            <a:off x="4663440" y="5138928"/>
            <a:ext cx="164592" cy="164592"/>
          </a:xfrm>
          <a:prstGeom prst="ellipse">
            <a:avLst/>
          </a:prstGeom>
          <a:solidFill>
            <a:srgbClr val="E26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5029200"/>
            <a:ext cx="2697480" cy="822960"/>
          </a:xfrm>
          <a:prstGeom prst="rect">
            <a:avLst/>
          </a:prstGeom>
          <a:noFill/>
        </p:spPr>
        <p:txBody>
          <a:bodyPr wrap="square" lIns="0" rIns="0" tIns="0" bIns="0" anchor="t">
            <a:spAutoFit/>
          </a:bodyPr>
          <a:lstStyle/>
          <a:p>
            <a:pPr algn="l"/>
            <a:r>
              <a:rPr sz="1600" b="0" i="0">
                <a:solidFill>
                  <a:srgbClr val="222B33"/>
                </a:solidFill>
                <a:latin typeface="Calibri"/>
              </a:rPr>
              <a:t>Climate and private finance not mobilised</a:t>
            </a:r>
          </a:p>
        </p:txBody>
      </p:sp>
      <p:sp>
        <p:nvSpPr>
          <p:cNvPr id="21" name="Photo area"/>
          <p:cNvSpPr/>
          <p:nvPr/>
        </p:nvSpPr>
        <p:spPr>
          <a:xfrm>
            <a:off x="8138160" y="1371600"/>
            <a:ext cx="3474720" cy="47548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22"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Lundy et al. (2026); FAO (2024); MAE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Platforms for multi-stakeholder action</a:t>
            </a:r>
          </a:p>
        </p:txBody>
      </p:sp>
      <p:sp>
        <p:nvSpPr>
          <p:cNvPr id="3" name="FST-Partnership card"/>
          <p:cNvSpPr/>
          <p:nvPr/>
        </p:nvSpPr>
        <p:spPr>
          <a:xfrm>
            <a:off x="548640" y="1371600"/>
            <a:ext cx="5440680" cy="2194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554480"/>
            <a:ext cx="4846320" cy="457200"/>
          </a:xfrm>
          <a:prstGeom prst="rect">
            <a:avLst/>
          </a:prstGeom>
          <a:noFill/>
        </p:spPr>
        <p:txBody>
          <a:bodyPr wrap="square" lIns="0" rIns="0" tIns="0" bIns="0" anchor="t">
            <a:spAutoFit/>
          </a:bodyPr>
          <a:lstStyle/>
          <a:p>
            <a:pPr algn="l"/>
            <a:r>
              <a:rPr sz="2400" b="1" i="0">
                <a:solidFill>
                  <a:srgbClr val="15607A"/>
                </a:solidFill>
                <a:latin typeface="Calibri"/>
              </a:rPr>
              <a:t>FST-Partnership</a:t>
            </a:r>
          </a:p>
        </p:txBody>
      </p:sp>
      <p:sp>
        <p:nvSpPr>
          <p:cNvPr id="5" name="TextBox 4"/>
          <p:cNvSpPr txBox="1"/>
          <p:nvPr/>
        </p:nvSpPr>
        <p:spPr>
          <a:xfrm>
            <a:off x="868680" y="2103120"/>
            <a:ext cx="1737360" cy="822960"/>
          </a:xfrm>
          <a:prstGeom prst="rect">
            <a:avLst/>
          </a:prstGeom>
          <a:noFill/>
        </p:spPr>
        <p:txBody>
          <a:bodyPr wrap="square" lIns="0" rIns="0" tIns="0" bIns="0" anchor="ctr">
            <a:spAutoFit/>
          </a:bodyPr>
          <a:lstStyle/>
          <a:p>
            <a:pPr algn="l"/>
            <a:r>
              <a:rPr sz="4000" b="1" i="0">
                <a:solidFill>
                  <a:srgbClr val="15607A"/>
                </a:solidFill>
                <a:latin typeface="Calibri"/>
              </a:rPr>
              <a:t>49+</a:t>
            </a:r>
          </a:p>
        </p:txBody>
      </p:sp>
      <p:sp>
        <p:nvSpPr>
          <p:cNvPr id="6" name="TextBox 5"/>
          <p:cNvSpPr txBox="1"/>
          <p:nvPr/>
        </p:nvSpPr>
        <p:spPr>
          <a:xfrm>
            <a:off x="2651760" y="2103120"/>
            <a:ext cx="3017520" cy="822960"/>
          </a:xfrm>
          <a:prstGeom prst="rect">
            <a:avLst/>
          </a:prstGeom>
          <a:noFill/>
        </p:spPr>
        <p:txBody>
          <a:bodyPr wrap="square" lIns="0" rIns="0" tIns="0" bIns="0" anchor="ctr">
            <a:spAutoFit/>
          </a:bodyPr>
          <a:lstStyle/>
          <a:p>
            <a:pPr algn="l"/>
            <a:r>
              <a:rPr sz="1800" b="0" i="0">
                <a:solidFill>
                  <a:srgbClr val="222B33"/>
                </a:solidFill>
                <a:latin typeface="Calibri"/>
              </a:rPr>
              <a:t>partners</a:t>
            </a:r>
          </a:p>
        </p:txBody>
      </p:sp>
      <p:sp>
        <p:nvSpPr>
          <p:cNvPr id="7" name="TextBox 6"/>
          <p:cNvSpPr txBox="1"/>
          <p:nvPr/>
        </p:nvSpPr>
        <p:spPr>
          <a:xfrm>
            <a:off x="868680" y="2880360"/>
            <a:ext cx="4846320" cy="685800"/>
          </a:xfrm>
          <a:prstGeom prst="rect">
            <a:avLst/>
          </a:prstGeom>
          <a:noFill/>
        </p:spPr>
        <p:txBody>
          <a:bodyPr wrap="square" lIns="0" rIns="0" tIns="0" bIns="0" anchor="t">
            <a:spAutoFit/>
          </a:bodyPr>
          <a:lstStyle/>
          <a:p>
            <a:pPr algn="l"/>
            <a:r>
              <a:rPr sz="1400" b="0" i="0">
                <a:solidFill>
                  <a:srgbClr val="6B757D"/>
                </a:solidFill>
                <a:latin typeface="Calibri"/>
              </a:rPr>
              <a:t>Government-endorsed, chaired by MAE · 5 technical working groups · finance, knowledge and capacity</a:t>
            </a:r>
          </a:p>
        </p:txBody>
      </p:sp>
      <p:sp>
        <p:nvSpPr>
          <p:cNvPr id="8" name="Photo area"/>
          <p:cNvSpPr/>
          <p:nvPr/>
        </p:nvSpPr>
        <p:spPr>
          <a:xfrm>
            <a:off x="548640" y="3749039"/>
            <a:ext cx="5440680" cy="16916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9" name="ALiSEA card"/>
          <p:cNvSpPr/>
          <p:nvPr/>
        </p:nvSpPr>
        <p:spPr>
          <a:xfrm>
            <a:off x="6172200" y="1371600"/>
            <a:ext cx="5440680" cy="21945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1554480"/>
            <a:ext cx="4846320" cy="457200"/>
          </a:xfrm>
          <a:prstGeom prst="rect">
            <a:avLst/>
          </a:prstGeom>
          <a:noFill/>
        </p:spPr>
        <p:txBody>
          <a:bodyPr wrap="square" lIns="0" rIns="0" tIns="0" bIns="0" anchor="t">
            <a:spAutoFit/>
          </a:bodyPr>
          <a:lstStyle/>
          <a:p>
            <a:pPr algn="l"/>
            <a:r>
              <a:rPr sz="2400" b="1" i="0">
                <a:solidFill>
                  <a:srgbClr val="4E8F3A"/>
                </a:solidFill>
                <a:latin typeface="Calibri"/>
              </a:rPr>
              <a:t>ALiSEA</a:t>
            </a:r>
          </a:p>
        </p:txBody>
      </p:sp>
      <p:sp>
        <p:nvSpPr>
          <p:cNvPr id="11" name="TextBox 10"/>
          <p:cNvSpPr txBox="1"/>
          <p:nvPr/>
        </p:nvSpPr>
        <p:spPr>
          <a:xfrm>
            <a:off x="6492240" y="2103120"/>
            <a:ext cx="1737360" cy="822960"/>
          </a:xfrm>
          <a:prstGeom prst="rect">
            <a:avLst/>
          </a:prstGeom>
          <a:noFill/>
        </p:spPr>
        <p:txBody>
          <a:bodyPr wrap="square" lIns="0" rIns="0" tIns="0" bIns="0" anchor="ctr">
            <a:spAutoFit/>
          </a:bodyPr>
          <a:lstStyle/>
          <a:p>
            <a:pPr algn="l"/>
            <a:r>
              <a:rPr sz="4000" b="1" i="0">
                <a:solidFill>
                  <a:srgbClr val="4E8F3A"/>
                </a:solidFill>
                <a:latin typeface="Calibri"/>
              </a:rPr>
              <a:t>~200</a:t>
            </a:r>
          </a:p>
        </p:txBody>
      </p:sp>
      <p:sp>
        <p:nvSpPr>
          <p:cNvPr id="12" name="TextBox 11"/>
          <p:cNvSpPr txBox="1"/>
          <p:nvPr/>
        </p:nvSpPr>
        <p:spPr>
          <a:xfrm>
            <a:off x="8275320" y="2103120"/>
            <a:ext cx="3017520" cy="822960"/>
          </a:xfrm>
          <a:prstGeom prst="rect">
            <a:avLst/>
          </a:prstGeom>
          <a:noFill/>
        </p:spPr>
        <p:txBody>
          <a:bodyPr wrap="square" lIns="0" rIns="0" tIns="0" bIns="0" anchor="ctr">
            <a:spAutoFit/>
          </a:bodyPr>
          <a:lstStyle/>
          <a:p>
            <a:pPr algn="l"/>
            <a:r>
              <a:rPr sz="1800" b="0" i="0">
                <a:solidFill>
                  <a:srgbClr val="222B33"/>
                </a:solidFill>
                <a:latin typeface="Calibri"/>
              </a:rPr>
              <a:t>members</a:t>
            </a:r>
          </a:p>
        </p:txBody>
      </p:sp>
      <p:sp>
        <p:nvSpPr>
          <p:cNvPr id="13" name="TextBox 12"/>
          <p:cNvSpPr txBox="1"/>
          <p:nvPr/>
        </p:nvSpPr>
        <p:spPr>
          <a:xfrm>
            <a:off x="6492240" y="2880360"/>
            <a:ext cx="4846320" cy="685800"/>
          </a:xfrm>
          <a:prstGeom prst="rect">
            <a:avLst/>
          </a:prstGeom>
          <a:noFill/>
        </p:spPr>
        <p:txBody>
          <a:bodyPr wrap="square" lIns="0" rIns="0" tIns="0" bIns="0" anchor="t">
            <a:spAutoFit/>
          </a:bodyPr>
          <a:lstStyle/>
          <a:p>
            <a:pPr algn="l"/>
            <a:r>
              <a:rPr sz="1400" b="0" i="0">
                <a:solidFill>
                  <a:srgbClr val="6B757D"/>
                </a:solidFill>
                <a:latin typeface="Calibri"/>
              </a:rPr>
              <a:t>Agroecology network in 5 Mekong countries · knowledge sharing, policy dialogue, small grants</a:t>
            </a:r>
          </a:p>
        </p:txBody>
      </p:sp>
      <p:sp>
        <p:nvSpPr>
          <p:cNvPr id="14" name="Photo area"/>
          <p:cNvSpPr/>
          <p:nvPr/>
        </p:nvSpPr>
        <p:spPr>
          <a:xfrm>
            <a:off x="6172200" y="3749039"/>
            <a:ext cx="5440680" cy="16916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5" name="TextBox 14"/>
          <p:cNvSpPr txBox="1"/>
          <p:nvPr/>
        </p:nvSpPr>
        <p:spPr>
          <a:xfrm>
            <a:off x="548640" y="5623560"/>
            <a:ext cx="11064240" cy="548640"/>
          </a:xfrm>
          <a:prstGeom prst="rect">
            <a:avLst/>
          </a:prstGeom>
          <a:noFill/>
        </p:spPr>
        <p:txBody>
          <a:bodyPr wrap="square" lIns="0" rIns="0" tIns="0" bIns="0" anchor="t">
            <a:spAutoFit/>
          </a:bodyPr>
          <a:lstStyle/>
          <a:p>
            <a:pPr algn="l"/>
            <a:r>
              <a:rPr sz="1500" b="1" i="0">
                <a:solidFill>
                  <a:srgbClr val="15607A"/>
                </a:solidFill>
                <a:latin typeface="Calibri"/>
              </a:rPr>
              <a:t>Why it matters: </a:t>
            </a:r>
            <a:r>
              <a:rPr sz="1500" b="0" i="0">
                <a:solidFill>
                  <a:srgbClr val="222B33"/>
                </a:solidFill>
                <a:latin typeface="Calibri"/>
              </a:rPr>
              <a:t>platforms connect agriculture, health, trade and environment, share early information and coordinate responses to shocks</a:t>
            </a:r>
          </a:p>
        </p:txBody>
      </p:sp>
      <p:sp>
        <p:nvSpPr>
          <p:cNvPr id="16"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Lundy et al. (2026); UNDP (2025); ALiSEA (ali-sea.org)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What should be done next?</a:t>
            </a:r>
          </a:p>
        </p:txBody>
      </p:sp>
      <p:sp>
        <p:nvSpPr>
          <p:cNvPr id="3" name="Action 1"/>
          <p:cNvSpPr/>
          <p:nvPr/>
        </p:nvSpPr>
        <p:spPr>
          <a:xfrm>
            <a:off x="548640" y="1325880"/>
            <a:ext cx="3474720" cy="21031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600200"/>
            <a:ext cx="640080" cy="64008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TextBox 4"/>
          <p:cNvSpPr txBox="1"/>
          <p:nvPr/>
        </p:nvSpPr>
        <p:spPr>
          <a:xfrm>
            <a:off x="1645919" y="1627632"/>
            <a:ext cx="2240280" cy="594360"/>
          </a:xfrm>
          <a:prstGeom prst="rect">
            <a:avLst/>
          </a:prstGeom>
          <a:noFill/>
        </p:spPr>
        <p:txBody>
          <a:bodyPr wrap="square" lIns="0" rIns="0" tIns="0" bIns="0" anchor="ctr">
            <a:spAutoFit/>
          </a:bodyPr>
          <a:lstStyle/>
          <a:p>
            <a:pPr algn="l"/>
            <a:r>
              <a:rPr sz="2200" b="1" i="0">
                <a:solidFill>
                  <a:srgbClr val="15607A"/>
                </a:solidFill>
                <a:latin typeface="Calibri"/>
              </a:rPr>
              <a:t>Measure</a:t>
            </a:r>
          </a:p>
        </p:txBody>
      </p:sp>
      <p:sp>
        <p:nvSpPr>
          <p:cNvPr id="6" name="TextBox 5"/>
          <p:cNvSpPr txBox="1"/>
          <p:nvPr/>
        </p:nvSpPr>
        <p:spPr>
          <a:xfrm>
            <a:off x="822959" y="2377439"/>
            <a:ext cx="2971800" cy="914400"/>
          </a:xfrm>
          <a:prstGeom prst="rect">
            <a:avLst/>
          </a:prstGeom>
          <a:noFill/>
        </p:spPr>
        <p:txBody>
          <a:bodyPr wrap="square" lIns="0" rIns="0" tIns="0" bIns="0" anchor="t">
            <a:spAutoFit/>
          </a:bodyPr>
          <a:lstStyle/>
          <a:p>
            <a:pPr algn="l"/>
            <a:r>
              <a:rPr sz="1500" b="0" i="0">
                <a:solidFill>
                  <a:srgbClr val="222B33"/>
                </a:solidFill>
                <a:latin typeface="Calibri"/>
              </a:rPr>
              <a:t>Add resilience indicators to NAP-FST M&amp;E and the 2026 mid-term review</a:t>
            </a:r>
          </a:p>
        </p:txBody>
      </p:sp>
      <p:sp>
        <p:nvSpPr>
          <p:cNvPr id="7" name="Action 2"/>
          <p:cNvSpPr/>
          <p:nvPr/>
        </p:nvSpPr>
        <p:spPr>
          <a:xfrm>
            <a:off x="4297679" y="1325880"/>
            <a:ext cx="3474720" cy="21031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71999" y="1600200"/>
            <a:ext cx="640080" cy="64008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9" name="TextBox 8"/>
          <p:cNvSpPr txBox="1"/>
          <p:nvPr/>
        </p:nvSpPr>
        <p:spPr>
          <a:xfrm>
            <a:off x="5394959" y="1627632"/>
            <a:ext cx="2240280" cy="594360"/>
          </a:xfrm>
          <a:prstGeom prst="rect">
            <a:avLst/>
          </a:prstGeom>
          <a:noFill/>
        </p:spPr>
        <p:txBody>
          <a:bodyPr wrap="square" lIns="0" rIns="0" tIns="0" bIns="0" anchor="ctr">
            <a:spAutoFit/>
          </a:bodyPr>
          <a:lstStyle/>
          <a:p>
            <a:pPr algn="l"/>
            <a:r>
              <a:rPr sz="2200" b="1" i="0">
                <a:solidFill>
                  <a:srgbClr val="15607A"/>
                </a:solidFill>
                <a:latin typeface="Calibri"/>
              </a:rPr>
              <a:t>Assess</a:t>
            </a:r>
          </a:p>
        </p:txBody>
      </p:sp>
      <p:sp>
        <p:nvSpPr>
          <p:cNvPr id="10" name="TextBox 9"/>
          <p:cNvSpPr txBox="1"/>
          <p:nvPr/>
        </p:nvSpPr>
        <p:spPr>
          <a:xfrm>
            <a:off x="4571999" y="2377439"/>
            <a:ext cx="2971800" cy="914400"/>
          </a:xfrm>
          <a:prstGeom prst="rect">
            <a:avLst/>
          </a:prstGeom>
          <a:noFill/>
        </p:spPr>
        <p:txBody>
          <a:bodyPr wrap="square" lIns="0" rIns="0" tIns="0" bIns="0" anchor="t">
            <a:spAutoFit/>
          </a:bodyPr>
          <a:lstStyle/>
          <a:p>
            <a:pPr algn="l"/>
            <a:r>
              <a:rPr sz="1500" b="0" i="0">
                <a:solidFill>
                  <a:srgbClr val="222B33"/>
                </a:solidFill>
                <a:latin typeface="Calibri"/>
              </a:rPr>
              <a:t>Map shocks, vulnerable groups and critical points nationally and by province</a:t>
            </a:r>
          </a:p>
        </p:txBody>
      </p:sp>
      <p:sp>
        <p:nvSpPr>
          <p:cNvPr id="11" name="Action 3"/>
          <p:cNvSpPr/>
          <p:nvPr/>
        </p:nvSpPr>
        <p:spPr>
          <a:xfrm>
            <a:off x="8046719" y="1325880"/>
            <a:ext cx="3474720" cy="21031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0" y="1600200"/>
            <a:ext cx="640080" cy="64008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3" name="TextBox 12"/>
          <p:cNvSpPr txBox="1"/>
          <p:nvPr/>
        </p:nvSpPr>
        <p:spPr>
          <a:xfrm>
            <a:off x="9143999" y="1627632"/>
            <a:ext cx="2240280" cy="594360"/>
          </a:xfrm>
          <a:prstGeom prst="rect">
            <a:avLst/>
          </a:prstGeom>
          <a:noFill/>
        </p:spPr>
        <p:txBody>
          <a:bodyPr wrap="square" lIns="0" rIns="0" tIns="0" bIns="0" anchor="ctr">
            <a:spAutoFit/>
          </a:bodyPr>
          <a:lstStyle/>
          <a:p>
            <a:pPr algn="l"/>
            <a:r>
              <a:rPr sz="2200" b="1" i="0">
                <a:solidFill>
                  <a:srgbClr val="4E8F3A"/>
                </a:solidFill>
                <a:latin typeface="Calibri"/>
              </a:rPr>
              <a:t>Diversify</a:t>
            </a:r>
          </a:p>
        </p:txBody>
      </p:sp>
      <p:sp>
        <p:nvSpPr>
          <p:cNvPr id="14" name="TextBox 13"/>
          <p:cNvSpPr txBox="1"/>
          <p:nvPr/>
        </p:nvSpPr>
        <p:spPr>
          <a:xfrm>
            <a:off x="8321040" y="2377439"/>
            <a:ext cx="2971800" cy="914400"/>
          </a:xfrm>
          <a:prstGeom prst="rect">
            <a:avLst/>
          </a:prstGeom>
          <a:noFill/>
        </p:spPr>
        <p:txBody>
          <a:bodyPr wrap="square" lIns="0" rIns="0" tIns="0" bIns="0" anchor="t">
            <a:spAutoFit/>
          </a:bodyPr>
          <a:lstStyle/>
          <a:p>
            <a:pPr algn="l"/>
            <a:r>
              <a:rPr sz="1500" b="0" i="0">
                <a:solidFill>
                  <a:srgbClr val="222B33"/>
                </a:solidFill>
                <a:latin typeface="Calibri"/>
              </a:rPr>
              <a:t>Crops, diets, markets and incomes; avoid single-commodity lock-in</a:t>
            </a:r>
          </a:p>
        </p:txBody>
      </p:sp>
      <p:sp>
        <p:nvSpPr>
          <p:cNvPr id="15" name="Action 4"/>
          <p:cNvSpPr/>
          <p:nvPr/>
        </p:nvSpPr>
        <p:spPr>
          <a:xfrm>
            <a:off x="548640" y="3566160"/>
            <a:ext cx="3474720" cy="21031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22959" y="3840480"/>
            <a:ext cx="640080" cy="64008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7" name="TextBox 16"/>
          <p:cNvSpPr txBox="1"/>
          <p:nvPr/>
        </p:nvSpPr>
        <p:spPr>
          <a:xfrm>
            <a:off x="1645919" y="3867912"/>
            <a:ext cx="2240280" cy="594360"/>
          </a:xfrm>
          <a:prstGeom prst="rect">
            <a:avLst/>
          </a:prstGeom>
          <a:noFill/>
        </p:spPr>
        <p:txBody>
          <a:bodyPr wrap="square" lIns="0" rIns="0" tIns="0" bIns="0" anchor="ctr">
            <a:spAutoFit/>
          </a:bodyPr>
          <a:lstStyle/>
          <a:p>
            <a:pPr algn="l"/>
            <a:r>
              <a:rPr sz="2200" b="1" i="0">
                <a:solidFill>
                  <a:srgbClr val="4E8F3A"/>
                </a:solidFill>
                <a:latin typeface="Calibri"/>
              </a:rPr>
              <a:t>Protect</a:t>
            </a:r>
          </a:p>
        </p:txBody>
      </p:sp>
      <p:sp>
        <p:nvSpPr>
          <p:cNvPr id="18" name="TextBox 17"/>
          <p:cNvSpPr txBox="1"/>
          <p:nvPr/>
        </p:nvSpPr>
        <p:spPr>
          <a:xfrm>
            <a:off x="822959" y="4617720"/>
            <a:ext cx="2971800" cy="914400"/>
          </a:xfrm>
          <a:prstGeom prst="rect">
            <a:avLst/>
          </a:prstGeom>
          <a:noFill/>
        </p:spPr>
        <p:txBody>
          <a:bodyPr wrap="square" lIns="0" rIns="0" tIns="0" bIns="0" anchor="t">
            <a:spAutoFit/>
          </a:bodyPr>
          <a:lstStyle/>
          <a:p>
            <a:pPr algn="l"/>
            <a:r>
              <a:rPr sz="1500" b="0" i="0">
                <a:solidFill>
                  <a:srgbClr val="222B33"/>
                </a:solidFill>
                <a:latin typeface="Calibri"/>
              </a:rPr>
              <a:t>Shock-responsive social protection, food reserves, nutrition programmes</a:t>
            </a:r>
          </a:p>
        </p:txBody>
      </p:sp>
      <p:sp>
        <p:nvSpPr>
          <p:cNvPr id="19" name="Action 5"/>
          <p:cNvSpPr/>
          <p:nvPr/>
        </p:nvSpPr>
        <p:spPr>
          <a:xfrm>
            <a:off x="4297679" y="3566160"/>
            <a:ext cx="3474720" cy="21031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71999" y="3840480"/>
            <a:ext cx="640080" cy="64008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1" name="TextBox 20"/>
          <p:cNvSpPr txBox="1"/>
          <p:nvPr/>
        </p:nvSpPr>
        <p:spPr>
          <a:xfrm>
            <a:off x="5394959" y="3867912"/>
            <a:ext cx="2240280" cy="594360"/>
          </a:xfrm>
          <a:prstGeom prst="rect">
            <a:avLst/>
          </a:prstGeom>
          <a:noFill/>
        </p:spPr>
        <p:txBody>
          <a:bodyPr wrap="square" lIns="0" rIns="0" tIns="0" bIns="0" anchor="ctr">
            <a:spAutoFit/>
          </a:bodyPr>
          <a:lstStyle/>
          <a:p>
            <a:pPr algn="l"/>
            <a:r>
              <a:rPr sz="2200" b="1" i="0">
                <a:solidFill>
                  <a:srgbClr val="E26E24"/>
                </a:solidFill>
                <a:latin typeface="Calibri"/>
              </a:rPr>
              <a:t>Strengthen</a:t>
            </a:r>
          </a:p>
        </p:txBody>
      </p:sp>
      <p:sp>
        <p:nvSpPr>
          <p:cNvPr id="22" name="TextBox 21"/>
          <p:cNvSpPr txBox="1"/>
          <p:nvPr/>
        </p:nvSpPr>
        <p:spPr>
          <a:xfrm>
            <a:off x="4571999" y="4617720"/>
            <a:ext cx="2971800" cy="914400"/>
          </a:xfrm>
          <a:prstGeom prst="rect">
            <a:avLst/>
          </a:prstGeom>
          <a:noFill/>
        </p:spPr>
        <p:txBody>
          <a:bodyPr wrap="square" lIns="0" rIns="0" tIns="0" bIns="0" anchor="t">
            <a:spAutoFit/>
          </a:bodyPr>
          <a:lstStyle/>
          <a:p>
            <a:pPr algn="l"/>
            <a:r>
              <a:rPr sz="1500" b="0" i="0">
                <a:solidFill>
                  <a:srgbClr val="222B33"/>
                </a:solidFill>
                <a:latin typeface="Calibri"/>
              </a:rPr>
              <a:t>Wholesale markets, storage, cold chains; include traders and processors</a:t>
            </a:r>
          </a:p>
        </p:txBody>
      </p:sp>
      <p:sp>
        <p:nvSpPr>
          <p:cNvPr id="23" name="Action 6"/>
          <p:cNvSpPr/>
          <p:nvPr/>
        </p:nvSpPr>
        <p:spPr>
          <a:xfrm>
            <a:off x="8046719" y="3566160"/>
            <a:ext cx="3474720" cy="21031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321040" y="3840480"/>
            <a:ext cx="640080" cy="64008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6</a:t>
            </a:r>
          </a:p>
        </p:txBody>
      </p:sp>
      <p:sp>
        <p:nvSpPr>
          <p:cNvPr id="25" name="TextBox 24"/>
          <p:cNvSpPr txBox="1"/>
          <p:nvPr/>
        </p:nvSpPr>
        <p:spPr>
          <a:xfrm>
            <a:off x="9143999" y="3867912"/>
            <a:ext cx="2240280" cy="594360"/>
          </a:xfrm>
          <a:prstGeom prst="rect">
            <a:avLst/>
          </a:prstGeom>
          <a:noFill/>
        </p:spPr>
        <p:txBody>
          <a:bodyPr wrap="square" lIns="0" rIns="0" tIns="0" bIns="0" anchor="ctr">
            <a:spAutoFit/>
          </a:bodyPr>
          <a:lstStyle/>
          <a:p>
            <a:pPr algn="l"/>
            <a:r>
              <a:rPr sz="2200" b="1" i="0">
                <a:solidFill>
                  <a:srgbClr val="E26E24"/>
                </a:solidFill>
                <a:latin typeface="Calibri"/>
              </a:rPr>
              <a:t>Fund and connect</a:t>
            </a:r>
          </a:p>
        </p:txBody>
      </p:sp>
      <p:sp>
        <p:nvSpPr>
          <p:cNvPr id="26" name="TextBox 25"/>
          <p:cNvSpPr txBox="1"/>
          <p:nvPr/>
        </p:nvSpPr>
        <p:spPr>
          <a:xfrm>
            <a:off x="8321040" y="4617720"/>
            <a:ext cx="2971800" cy="914400"/>
          </a:xfrm>
          <a:prstGeom prst="rect">
            <a:avLst/>
          </a:prstGeom>
          <a:noFill/>
        </p:spPr>
        <p:txBody>
          <a:bodyPr wrap="square" lIns="0" rIns="0" tIns="0" bIns="0" anchor="t">
            <a:spAutoFit/>
          </a:bodyPr>
          <a:lstStyle/>
          <a:p>
            <a:pPr algn="l"/>
            <a:r>
              <a:rPr sz="1500" b="0" i="0">
                <a:solidFill>
                  <a:srgbClr val="222B33"/>
                </a:solidFill>
                <a:latin typeface="Calibri"/>
              </a:rPr>
              <a:t>Local budgets, climate and private finance; use platforms in shocks</a:t>
            </a:r>
          </a:p>
        </p:txBody>
      </p:sp>
      <p:sp>
        <p:nvSpPr>
          <p:cNvPr id="27" name="TextBox 26"/>
          <p:cNvSpPr txBox="1"/>
          <p:nvPr/>
        </p:nvSpPr>
        <p:spPr>
          <a:xfrm>
            <a:off x="548640" y="5897880"/>
            <a:ext cx="11064240" cy="411480"/>
          </a:xfrm>
          <a:prstGeom prst="rect">
            <a:avLst/>
          </a:prstGeom>
          <a:noFill/>
        </p:spPr>
        <p:txBody>
          <a:bodyPr wrap="square" lIns="0" rIns="0" tIns="0" bIns="0" anchor="t">
            <a:spAutoFit/>
          </a:bodyPr>
          <a:lstStyle/>
          <a:p>
            <a:pPr algn="l"/>
            <a:r>
              <a:rPr sz="1500" b="0" i="1">
                <a:solidFill>
                  <a:srgbClr val="15607A"/>
                </a:solidFill>
                <a:latin typeface="Calibri"/>
              </a:rPr>
              <a:t>Aim to bounce forward: recovery should lead to fairer, greener food systems, not a return to the old ones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itle"/>
          <p:cNvSpPr txBox="1"/>
          <p:nvPr/>
        </p:nvSpPr>
        <p:spPr>
          <a:xfrm>
            <a:off x="731520" y="2377440"/>
            <a:ext cx="10698480" cy="1097280"/>
          </a:xfrm>
          <a:prstGeom prst="rect">
            <a:avLst/>
          </a:prstGeom>
          <a:noFill/>
        </p:spPr>
        <p:txBody>
          <a:bodyPr wrap="square" lIns="0" rIns="0" tIns="0" bIns="0" anchor="t">
            <a:spAutoFit/>
          </a:bodyPr>
          <a:lstStyle/>
          <a:p>
            <a:pPr algn="ctr"/>
            <a:r>
              <a:rPr sz="4800" b="1" i="0">
                <a:solidFill>
                  <a:srgbClr val="FFFFFF"/>
                </a:solidFill>
                <a:latin typeface="Calibri"/>
              </a:rPr>
              <a:t>Thank you</a:t>
            </a:r>
          </a:p>
        </p:txBody>
      </p:sp>
      <p:sp>
        <p:nvSpPr>
          <p:cNvPr id="4" name="Subtitle"/>
          <p:cNvSpPr txBox="1"/>
          <p:nvPr/>
        </p:nvSpPr>
        <p:spPr>
          <a:xfrm>
            <a:off x="731520" y="3566160"/>
            <a:ext cx="10698480" cy="548640"/>
          </a:xfrm>
          <a:prstGeom prst="rect">
            <a:avLst/>
          </a:prstGeom>
          <a:noFill/>
        </p:spPr>
        <p:txBody>
          <a:bodyPr wrap="square" lIns="0" rIns="0" tIns="0" bIns="0" anchor="t">
            <a:spAutoFit/>
          </a:bodyPr>
          <a:lstStyle/>
          <a:p>
            <a:pPr algn="ctr"/>
            <a:r>
              <a:rPr sz="2000" b="0" i="0">
                <a:solidFill>
                  <a:srgbClr val="D6E8EE"/>
                </a:solidFill>
                <a:latin typeface="Calibri"/>
              </a:rPr>
              <a:t>Acknowledgements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Principles for building resilient food systems</a:t>
            </a:r>
          </a:p>
        </p:txBody>
      </p:sp>
      <p:sp>
        <p:nvSpPr>
          <p:cNvPr id="3" name="TextBox 2"/>
          <p:cNvSpPr txBox="1"/>
          <p:nvPr/>
        </p:nvSpPr>
        <p:spPr>
          <a:xfrm>
            <a:off x="548640" y="1051560"/>
            <a:ext cx="11064240" cy="365760"/>
          </a:xfrm>
          <a:prstGeom prst="rect">
            <a:avLst/>
          </a:prstGeom>
          <a:noFill/>
        </p:spPr>
        <p:txBody>
          <a:bodyPr wrap="square" lIns="0" rIns="0" tIns="0" bIns="0" anchor="t">
            <a:spAutoFit/>
          </a:bodyPr>
          <a:lstStyle/>
          <a:p>
            <a:pPr algn="l"/>
            <a:r>
              <a:rPr sz="1500" b="0" i="1">
                <a:solidFill>
                  <a:srgbClr val="6B757D"/>
                </a:solidFill>
                <a:latin typeface="Calibri"/>
              </a:rPr>
              <a:t>Adapted from Biggs et al. (2012), with examples from Viet Nam  (+ what worked, – a warning)</a:t>
            </a:r>
          </a:p>
        </p:txBody>
      </p:sp>
      <p:sp>
        <p:nvSpPr>
          <p:cNvPr id="4" name="Principle card 1"/>
          <p:cNvSpPr/>
          <p:nvPr/>
        </p:nvSpPr>
        <p:spPr>
          <a:xfrm>
            <a:off x="548640" y="1600200"/>
            <a:ext cx="3474720" cy="20116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463040" y="1828800"/>
            <a:ext cx="2423160" cy="548640"/>
          </a:xfrm>
          <a:prstGeom prst="rect">
            <a:avLst/>
          </a:prstGeom>
          <a:noFill/>
        </p:spPr>
        <p:txBody>
          <a:bodyPr wrap="square" lIns="0" rIns="0" tIns="0" bIns="0" anchor="ctr">
            <a:spAutoFit/>
          </a:bodyPr>
          <a:lstStyle/>
          <a:p>
            <a:pPr algn="l"/>
            <a:r>
              <a:rPr sz="1700" b="1" i="0">
                <a:solidFill>
                  <a:srgbClr val="15607A"/>
                </a:solidFill>
                <a:latin typeface="Calibri"/>
              </a:rPr>
              <a:t>Keep diversity and redundancy</a:t>
            </a:r>
          </a:p>
        </p:txBody>
      </p:sp>
      <p:sp>
        <p:nvSpPr>
          <p:cNvPr id="7" name="Sign 1"/>
          <p:cNvSpPr/>
          <p:nvPr/>
        </p:nvSpPr>
        <p:spPr>
          <a:xfrm>
            <a:off x="777240" y="262432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8" name="TextBox 7"/>
          <p:cNvSpPr txBox="1"/>
          <p:nvPr/>
        </p:nvSpPr>
        <p:spPr>
          <a:xfrm>
            <a:off x="1280160" y="2514600"/>
            <a:ext cx="2606040" cy="1005840"/>
          </a:xfrm>
          <a:prstGeom prst="rect">
            <a:avLst/>
          </a:prstGeom>
          <a:noFill/>
        </p:spPr>
        <p:txBody>
          <a:bodyPr wrap="square" lIns="0" rIns="0" tIns="0" bIns="0" anchor="t">
            <a:spAutoFit/>
          </a:bodyPr>
          <a:lstStyle/>
          <a:p>
            <a:pPr algn="l"/>
            <a:r>
              <a:rPr sz="1400" b="0" i="0">
                <a:solidFill>
                  <a:srgbClr val="222B33"/>
                </a:solidFill>
                <a:latin typeface="Calibri"/>
              </a:rPr>
              <a:t>Moc Chau: diverse food sources and decentralised flows kept food moving during COVID-19</a:t>
            </a:r>
          </a:p>
        </p:txBody>
      </p:sp>
      <p:sp>
        <p:nvSpPr>
          <p:cNvPr id="9" name="Principle card 2"/>
          <p:cNvSpPr/>
          <p:nvPr/>
        </p:nvSpPr>
        <p:spPr>
          <a:xfrm>
            <a:off x="4297679" y="1600200"/>
            <a:ext cx="3474720" cy="20116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2627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Box 10"/>
          <p:cNvSpPr txBox="1"/>
          <p:nvPr/>
        </p:nvSpPr>
        <p:spPr>
          <a:xfrm>
            <a:off x="5212079" y="1828800"/>
            <a:ext cx="2423160" cy="548640"/>
          </a:xfrm>
          <a:prstGeom prst="rect">
            <a:avLst/>
          </a:prstGeom>
          <a:noFill/>
        </p:spPr>
        <p:txBody>
          <a:bodyPr wrap="square" lIns="0" rIns="0" tIns="0" bIns="0" anchor="ctr">
            <a:spAutoFit/>
          </a:bodyPr>
          <a:lstStyle/>
          <a:p>
            <a:pPr algn="l"/>
            <a:r>
              <a:rPr sz="1700" b="1" i="0">
                <a:solidFill>
                  <a:srgbClr val="15607A"/>
                </a:solidFill>
                <a:latin typeface="Calibri"/>
              </a:rPr>
              <a:t>Manage connectivity</a:t>
            </a:r>
          </a:p>
        </p:txBody>
      </p:sp>
      <p:sp>
        <p:nvSpPr>
          <p:cNvPr id="12" name="Sign 2"/>
          <p:cNvSpPr/>
          <p:nvPr/>
        </p:nvSpPr>
        <p:spPr>
          <a:xfrm>
            <a:off x="452627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3" name="TextBox 12"/>
          <p:cNvSpPr txBox="1"/>
          <p:nvPr/>
        </p:nvSpPr>
        <p:spPr>
          <a:xfrm>
            <a:off x="5029199" y="2514600"/>
            <a:ext cx="2606040" cy="1005840"/>
          </a:xfrm>
          <a:prstGeom prst="rect">
            <a:avLst/>
          </a:prstGeom>
          <a:noFill/>
        </p:spPr>
        <p:txBody>
          <a:bodyPr wrap="square" lIns="0" rIns="0" tIns="0" bIns="0" anchor="t">
            <a:spAutoFit/>
          </a:bodyPr>
          <a:lstStyle/>
          <a:p>
            <a:pPr algn="l"/>
            <a:r>
              <a:rPr sz="1400" b="0" i="0">
                <a:solidFill>
                  <a:srgbClr val="222B33"/>
                </a:solidFill>
                <a:latin typeface="Calibri"/>
              </a:rPr>
              <a:t>2007–08: rice export bans, Viet Nam's included, turned a well-supplied market into a price spike</a:t>
            </a:r>
          </a:p>
        </p:txBody>
      </p:sp>
      <p:sp>
        <p:nvSpPr>
          <p:cNvPr id="14" name="Principle card 3"/>
          <p:cNvSpPr/>
          <p:nvPr/>
        </p:nvSpPr>
        <p:spPr>
          <a:xfrm>
            <a:off x="8046719" y="1600200"/>
            <a:ext cx="3474720" cy="20116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7531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TextBox 15"/>
          <p:cNvSpPr txBox="1"/>
          <p:nvPr/>
        </p:nvSpPr>
        <p:spPr>
          <a:xfrm>
            <a:off x="8961119" y="1828800"/>
            <a:ext cx="2423160" cy="548640"/>
          </a:xfrm>
          <a:prstGeom prst="rect">
            <a:avLst/>
          </a:prstGeom>
          <a:noFill/>
        </p:spPr>
        <p:txBody>
          <a:bodyPr wrap="square" lIns="0" rIns="0" tIns="0" bIns="0" anchor="ctr">
            <a:spAutoFit/>
          </a:bodyPr>
          <a:lstStyle/>
          <a:p>
            <a:pPr algn="l"/>
            <a:r>
              <a:rPr sz="1700" b="1" i="0">
                <a:solidFill>
                  <a:srgbClr val="15607A"/>
                </a:solidFill>
                <a:latin typeface="Calibri"/>
              </a:rPr>
              <a:t>Watch slow variables</a:t>
            </a:r>
          </a:p>
        </p:txBody>
      </p:sp>
      <p:sp>
        <p:nvSpPr>
          <p:cNvPr id="17" name="Sign 3"/>
          <p:cNvSpPr/>
          <p:nvPr/>
        </p:nvSpPr>
        <p:spPr>
          <a:xfrm>
            <a:off x="827531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8" name="TextBox 17"/>
          <p:cNvSpPr txBox="1"/>
          <p:nvPr/>
        </p:nvSpPr>
        <p:spPr>
          <a:xfrm>
            <a:off x="8778240" y="2514600"/>
            <a:ext cx="2606040" cy="1005840"/>
          </a:xfrm>
          <a:prstGeom prst="rect">
            <a:avLst/>
          </a:prstGeom>
          <a:noFill/>
        </p:spPr>
        <p:txBody>
          <a:bodyPr wrap="square" lIns="0" rIns="0" tIns="0" bIns="0" anchor="t">
            <a:spAutoFit/>
          </a:bodyPr>
          <a:lstStyle/>
          <a:p>
            <a:pPr algn="l"/>
            <a:r>
              <a:rPr sz="1400" b="0" i="0">
                <a:solidFill>
                  <a:srgbClr val="222B33"/>
                </a:solidFill>
                <a:latin typeface="Calibri"/>
              </a:rPr>
              <a:t>Mekong Delta: rising salinity, while rice-oriented policy makes switching systems harder</a:t>
            </a:r>
          </a:p>
        </p:txBody>
      </p:sp>
      <p:sp>
        <p:nvSpPr>
          <p:cNvPr id="19" name="Principle card 4"/>
          <p:cNvSpPr/>
          <p:nvPr/>
        </p:nvSpPr>
        <p:spPr>
          <a:xfrm>
            <a:off x="548640" y="3840480"/>
            <a:ext cx="3474720" cy="20116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77240" y="40690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1" name="TextBox 20"/>
          <p:cNvSpPr txBox="1"/>
          <p:nvPr/>
        </p:nvSpPr>
        <p:spPr>
          <a:xfrm>
            <a:off x="1463040" y="4069080"/>
            <a:ext cx="2423160" cy="548640"/>
          </a:xfrm>
          <a:prstGeom prst="rect">
            <a:avLst/>
          </a:prstGeom>
          <a:noFill/>
        </p:spPr>
        <p:txBody>
          <a:bodyPr wrap="square" lIns="0" rIns="0" tIns="0" bIns="0" anchor="ctr">
            <a:spAutoFit/>
          </a:bodyPr>
          <a:lstStyle/>
          <a:p>
            <a:pPr algn="l"/>
            <a:r>
              <a:rPr sz="1700" b="1" i="0">
                <a:solidFill>
                  <a:srgbClr val="15607A"/>
                </a:solidFill>
                <a:latin typeface="Calibri"/>
              </a:rPr>
              <a:t>Learn and experiment</a:t>
            </a:r>
          </a:p>
        </p:txBody>
      </p:sp>
      <p:sp>
        <p:nvSpPr>
          <p:cNvPr id="22" name="Sign 4"/>
          <p:cNvSpPr/>
          <p:nvPr/>
        </p:nvSpPr>
        <p:spPr>
          <a:xfrm>
            <a:off x="777240" y="48646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23" name="TextBox 22"/>
          <p:cNvSpPr txBox="1"/>
          <p:nvPr/>
        </p:nvSpPr>
        <p:spPr>
          <a:xfrm>
            <a:off x="1280160" y="4754880"/>
            <a:ext cx="2606040" cy="1005840"/>
          </a:xfrm>
          <a:prstGeom prst="rect">
            <a:avLst/>
          </a:prstGeom>
          <a:noFill/>
        </p:spPr>
        <p:txBody>
          <a:bodyPr wrap="square" lIns="0" rIns="0" tIns="0" bIns="0" anchor="t">
            <a:spAutoFit/>
          </a:bodyPr>
          <a:lstStyle/>
          <a:p>
            <a:pPr algn="l"/>
            <a:r>
              <a:rPr sz="1400" b="0" i="0">
                <a:solidFill>
                  <a:srgbClr val="222B33"/>
                </a:solidFill>
                <a:latin typeface="Calibri"/>
              </a:rPr>
              <a:t>Son La and Dong Thap: food system profiles and pilots before a provincial plan</a:t>
            </a:r>
          </a:p>
        </p:txBody>
      </p:sp>
      <p:sp>
        <p:nvSpPr>
          <p:cNvPr id="24" name="Principle card 5"/>
          <p:cNvSpPr/>
          <p:nvPr/>
        </p:nvSpPr>
        <p:spPr>
          <a:xfrm>
            <a:off x="4297679" y="3840480"/>
            <a:ext cx="3474720" cy="20116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26279" y="40690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6" name="TextBox 25"/>
          <p:cNvSpPr txBox="1"/>
          <p:nvPr/>
        </p:nvSpPr>
        <p:spPr>
          <a:xfrm>
            <a:off x="5212079" y="4069080"/>
            <a:ext cx="2423160" cy="548640"/>
          </a:xfrm>
          <a:prstGeom prst="rect">
            <a:avLst/>
          </a:prstGeom>
          <a:noFill/>
        </p:spPr>
        <p:txBody>
          <a:bodyPr wrap="square" lIns="0" rIns="0" tIns="0" bIns="0" anchor="ctr">
            <a:spAutoFit/>
          </a:bodyPr>
          <a:lstStyle/>
          <a:p>
            <a:pPr algn="l"/>
            <a:r>
              <a:rPr sz="1700" b="1" i="0">
                <a:solidFill>
                  <a:srgbClr val="15607A"/>
                </a:solidFill>
                <a:latin typeface="Calibri"/>
              </a:rPr>
              <a:t>Broaden participation</a:t>
            </a:r>
          </a:p>
        </p:txBody>
      </p:sp>
      <p:sp>
        <p:nvSpPr>
          <p:cNvPr id="27" name="Sign 5"/>
          <p:cNvSpPr/>
          <p:nvPr/>
        </p:nvSpPr>
        <p:spPr>
          <a:xfrm>
            <a:off x="4526279" y="486460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28" name="TextBox 27"/>
          <p:cNvSpPr txBox="1"/>
          <p:nvPr/>
        </p:nvSpPr>
        <p:spPr>
          <a:xfrm>
            <a:off x="5029199" y="4754880"/>
            <a:ext cx="2606040" cy="1005840"/>
          </a:xfrm>
          <a:prstGeom prst="rect">
            <a:avLst/>
          </a:prstGeom>
          <a:noFill/>
        </p:spPr>
        <p:txBody>
          <a:bodyPr wrap="square" lIns="0" rIns="0" tIns="0" bIns="0" anchor="t">
            <a:spAutoFit/>
          </a:bodyPr>
          <a:lstStyle/>
          <a:p>
            <a:pPr algn="l"/>
            <a:r>
              <a:rPr sz="1400" b="0" i="0">
                <a:solidFill>
                  <a:srgbClr val="222B33"/>
                </a:solidFill>
                <a:latin typeface="Calibri"/>
              </a:rPr>
              <a:t>Ca Mau: resource policies built on control did not raise household resilience</a:t>
            </a:r>
          </a:p>
        </p:txBody>
      </p:sp>
      <p:sp>
        <p:nvSpPr>
          <p:cNvPr id="29" name="Principle card 6"/>
          <p:cNvSpPr/>
          <p:nvPr/>
        </p:nvSpPr>
        <p:spPr>
          <a:xfrm>
            <a:off x="8046719" y="3840480"/>
            <a:ext cx="3474720" cy="20116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75319" y="40690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31" name="TextBox 30"/>
          <p:cNvSpPr txBox="1"/>
          <p:nvPr/>
        </p:nvSpPr>
        <p:spPr>
          <a:xfrm>
            <a:off x="8961119" y="4069080"/>
            <a:ext cx="2423160" cy="548640"/>
          </a:xfrm>
          <a:prstGeom prst="rect">
            <a:avLst/>
          </a:prstGeom>
          <a:noFill/>
        </p:spPr>
        <p:txBody>
          <a:bodyPr wrap="square" lIns="0" rIns="0" tIns="0" bIns="0" anchor="ctr">
            <a:spAutoFit/>
          </a:bodyPr>
          <a:lstStyle/>
          <a:p>
            <a:pPr algn="l"/>
            <a:r>
              <a:rPr sz="1700" b="1" i="0">
                <a:solidFill>
                  <a:srgbClr val="15607A"/>
                </a:solidFill>
                <a:latin typeface="Calibri"/>
              </a:rPr>
              <a:t>Share governance</a:t>
            </a:r>
          </a:p>
        </p:txBody>
      </p:sp>
      <p:sp>
        <p:nvSpPr>
          <p:cNvPr id="32" name="Sign 6"/>
          <p:cNvSpPr/>
          <p:nvPr/>
        </p:nvSpPr>
        <p:spPr>
          <a:xfrm>
            <a:off x="8275319" y="48646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33" name="TextBox 32"/>
          <p:cNvSpPr txBox="1"/>
          <p:nvPr/>
        </p:nvSpPr>
        <p:spPr>
          <a:xfrm>
            <a:off x="8778240" y="4754880"/>
            <a:ext cx="2606040" cy="1005840"/>
          </a:xfrm>
          <a:prstGeom prst="rect">
            <a:avLst/>
          </a:prstGeom>
          <a:noFill/>
        </p:spPr>
        <p:txBody>
          <a:bodyPr wrap="square" lIns="0" rIns="0" tIns="0" bIns="0" anchor="t">
            <a:spAutoFit/>
          </a:bodyPr>
          <a:lstStyle/>
          <a:p>
            <a:pPr algn="l"/>
            <a:r>
              <a:rPr sz="1400" b="0" i="0">
                <a:solidFill>
                  <a:srgbClr val="222B33"/>
                </a:solidFill>
                <a:latin typeface="Calibri"/>
              </a:rPr>
              <a:t>NAP-FST links ministries, provinces and the FST-Partnership, but local funding is thin</a:t>
            </a:r>
          </a:p>
        </p:txBody>
      </p:sp>
      <p:sp>
        <p:nvSpPr>
          <p:cNvPr id="34"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Biggs et al. (2012); Bruckert &amp; Nguyen (2024); Dawe &amp; Slayton (2011); Nguyen et al. (2019); Lundy et al. (2026); Tran (2012); MAE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A587A0-109F-4328-A9BF-26E2396A50B8}">
  <we:reference id="WA200010725" version="1.0.0.1" store="Omex" storeType="OMEX"/>
  <we:alternateReferences>
    <we:reference id="WA200010725" version="1.0.0.1" store="WA200010725" storeType="OMEX"/>
  </we:alternateReferences>
  <we:properties>
    <we:property name="claude.fileId" value="&quot;4438f398-7f65-4fb1-a867-8c46332a8f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81</TotalTime>
  <Words>459</Words>
  <Application>Microsoft Office PowerPoint</Application>
  <PresentationFormat>Widescreen</PresentationFormat>
  <Paragraphs>44</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Calibri</vt:lpstr>
      <vt:lpstr>Times New Roman</vt:lpstr>
      <vt:lpstr>Wingdings</vt:lpstr>
      <vt:lpstr>Office Theme</vt:lpstr>
      <vt:lpstr>Enhancing resilience of food systems in Vietnam</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Quoc Minh (Alliance Bioversity-CIAT)</dc:creator>
  <cp:lastModifiedBy>Nguyen, Quoc Minh (Alliance Bioversity-CIAT)</cp:lastModifiedBy>
  <cp:revision>2</cp:revision>
  <dcterms:created xsi:type="dcterms:W3CDTF">2026-10-28T07:35:28Z</dcterms:created>
  <dcterms:modified xsi:type="dcterms:W3CDTF">2026-10-28T10:03:44Z</dcterms:modified>
</cp:coreProperties>
</file>